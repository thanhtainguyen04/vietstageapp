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một kiến trúc hoàn chỉnh = một mẫu cấu trúc + một hoặc nhiều mẫu giao tiếp. Ví dụ: Client/Server + Synchronous with reply; SOA + Discovery + Broker.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Đoạn biện luận này là mẫu: nêu lý do nghiệp vụ, nêu thuộc tính chất lượng được ưu tiên, và nêu rõ đánh đổi cùng hướng tiến hoá. Đó là cách trả lời của một kiến trúc sư.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366760" y="1051560"/>
            <a:ext cx="3291840" cy="4023360"/>
          </a:xfrm>
          <a:prstGeom prst="roundRect">
            <a:avLst>
              <a:gd name="adj" fmla="val 2778"/>
            </a:avLst>
          </a:prstGeom>
          <a:solidFill>
            <a:srgbClr val="13315C"/>
          </a:solidFill>
          <a:ln w="12700">
            <a:solidFill>
              <a:srgbClr val="1F4470"/>
            </a:solidFill>
            <a:prstDash val="solid"/>
          </a:ln>
        </p:spPr>
      </p:sp>
      <p:sp>
        <p:nvSpPr>
          <p:cNvPr id="3" name="Shape 1"/>
          <p:cNvSpPr/>
          <p:nvPr/>
        </p:nvSpPr>
        <p:spPr>
          <a:xfrm>
            <a:off x="8686800" y="1463040"/>
            <a:ext cx="2651760" cy="548640"/>
          </a:xfrm>
          <a:prstGeom prst="roundRect">
            <a:avLst>
              <a:gd name="adj" fmla="val 11667"/>
            </a:avLst>
          </a:prstGeom>
          <a:solidFill>
            <a:srgbClr val="E8A317"/>
          </a:solidFill>
          <a:ln w="15240">
            <a:solidFill>
              <a:srgbClr val="E8A317"/>
            </a:solidFill>
            <a:prstDash val="solid"/>
          </a:ln>
        </p:spPr>
      </p:sp>
      <p:sp>
        <p:nvSpPr>
          <p:cNvPr id="4" name="Text 2"/>
          <p:cNvSpPr/>
          <p:nvPr/>
        </p:nvSpPr>
        <p:spPr>
          <a:xfrm>
            <a:off x="8732520" y="1463040"/>
            <a:ext cx="2560320" cy="548640"/>
          </a:xfrm>
          <a:prstGeom prst="rect">
            <a:avLst/>
          </a:prstGeom>
          <a:noFill/>
          <a:ln/>
        </p:spPr>
        <p:txBody>
          <a:bodyPr wrap="square" lIns="0" tIns="0" rIns="0" bIns="0" rtlCol="0" anchor="ctr"/>
          <a:lstStyle/>
          <a:p>
            <a:pPr algn="ctr" indent="0" marL="0">
              <a:lnSpc>
                <a:spcPct val="95000"/>
              </a:lnSpc>
              <a:buNone/>
            </a:pPr>
            <a:r>
              <a:rPr lang="en-US" sz="1050" b="1" dirty="0">
                <a:solidFill>
                  <a:srgbClr val="0B2545"/>
                </a:solidFill>
                <a:latin typeface="Calibri" pitchFamily="34" charset="0"/>
                <a:ea typeface="Calibri" pitchFamily="34" charset="-122"/>
                <a:cs typeface="Calibri" pitchFamily="34" charset="-120"/>
              </a:rPr>
              <a:t>Presentation Layer</a:t>
            </a:r>
            <a:endParaRPr lang="en-US" sz="1050" dirty="0"/>
          </a:p>
        </p:txBody>
      </p:sp>
      <p:sp>
        <p:nvSpPr>
          <p:cNvPr id="5" name="Shape 3"/>
          <p:cNvSpPr/>
          <p:nvPr/>
        </p:nvSpPr>
        <p:spPr>
          <a:xfrm>
            <a:off x="10012680" y="2011680"/>
            <a:ext cx="0" cy="228600"/>
          </a:xfrm>
          <a:prstGeom prst="line">
            <a:avLst/>
          </a:prstGeom>
          <a:noFill/>
          <a:ln w="16510">
            <a:solidFill>
              <a:srgbClr val="8FA9C4"/>
            </a:solidFill>
            <a:prstDash val="solid"/>
            <a:tailEnd type="triangle"/>
          </a:ln>
        </p:spPr>
      </p:sp>
      <p:sp>
        <p:nvSpPr>
          <p:cNvPr id="6" name="Shape 4"/>
          <p:cNvSpPr/>
          <p:nvPr/>
        </p:nvSpPr>
        <p:spPr>
          <a:xfrm>
            <a:off x="8686800" y="2240280"/>
            <a:ext cx="2651760" cy="548640"/>
          </a:xfrm>
          <a:prstGeom prst="roundRect">
            <a:avLst>
              <a:gd name="adj" fmla="val 11667"/>
            </a:avLst>
          </a:prstGeom>
          <a:solidFill>
            <a:srgbClr val="1F4470"/>
          </a:solidFill>
          <a:ln w="15240">
            <a:solidFill>
              <a:srgbClr val="1F4470"/>
            </a:solidFill>
            <a:prstDash val="solid"/>
          </a:ln>
        </p:spPr>
      </p:sp>
      <p:sp>
        <p:nvSpPr>
          <p:cNvPr id="7" name="Text 5"/>
          <p:cNvSpPr/>
          <p:nvPr/>
        </p:nvSpPr>
        <p:spPr>
          <a:xfrm>
            <a:off x="8732520" y="2240280"/>
            <a:ext cx="2560320" cy="54864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Business Layer</a:t>
            </a:r>
            <a:endParaRPr lang="en-US" sz="1050" dirty="0"/>
          </a:p>
        </p:txBody>
      </p:sp>
      <p:sp>
        <p:nvSpPr>
          <p:cNvPr id="8" name="Shape 6"/>
          <p:cNvSpPr/>
          <p:nvPr/>
        </p:nvSpPr>
        <p:spPr>
          <a:xfrm>
            <a:off x="10012680" y="2788920"/>
            <a:ext cx="0" cy="228600"/>
          </a:xfrm>
          <a:prstGeom prst="line">
            <a:avLst/>
          </a:prstGeom>
          <a:noFill/>
          <a:ln w="16510">
            <a:solidFill>
              <a:srgbClr val="8FA9C4"/>
            </a:solidFill>
            <a:prstDash val="solid"/>
            <a:tailEnd type="triangle"/>
          </a:ln>
        </p:spPr>
      </p:sp>
      <p:sp>
        <p:nvSpPr>
          <p:cNvPr id="9" name="Shape 7"/>
          <p:cNvSpPr/>
          <p:nvPr/>
        </p:nvSpPr>
        <p:spPr>
          <a:xfrm>
            <a:off x="8686800" y="3017520"/>
            <a:ext cx="2651760" cy="548640"/>
          </a:xfrm>
          <a:prstGeom prst="roundRect">
            <a:avLst>
              <a:gd name="adj" fmla="val 11667"/>
            </a:avLst>
          </a:prstGeom>
          <a:solidFill>
            <a:srgbClr val="1F4470"/>
          </a:solidFill>
          <a:ln w="15240">
            <a:solidFill>
              <a:srgbClr val="1F4470"/>
            </a:solidFill>
            <a:prstDash val="solid"/>
          </a:ln>
        </p:spPr>
      </p:sp>
      <p:sp>
        <p:nvSpPr>
          <p:cNvPr id="10" name="Text 8"/>
          <p:cNvSpPr/>
          <p:nvPr/>
        </p:nvSpPr>
        <p:spPr>
          <a:xfrm>
            <a:off x="8732520" y="3017520"/>
            <a:ext cx="2560320" cy="54864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 Access Layer</a:t>
            </a:r>
            <a:endParaRPr lang="en-US" sz="1050" dirty="0"/>
          </a:p>
        </p:txBody>
      </p:sp>
      <p:sp>
        <p:nvSpPr>
          <p:cNvPr id="11" name="Shape 9"/>
          <p:cNvSpPr/>
          <p:nvPr/>
        </p:nvSpPr>
        <p:spPr>
          <a:xfrm>
            <a:off x="10012680" y="3566160"/>
            <a:ext cx="0" cy="228600"/>
          </a:xfrm>
          <a:prstGeom prst="line">
            <a:avLst/>
          </a:prstGeom>
          <a:noFill/>
          <a:ln w="16510">
            <a:solidFill>
              <a:srgbClr val="8FA9C4"/>
            </a:solidFill>
            <a:prstDash val="solid"/>
            <a:tailEnd type="triangle"/>
          </a:ln>
        </p:spPr>
      </p:sp>
      <p:sp>
        <p:nvSpPr>
          <p:cNvPr id="12" name="Shape 10"/>
          <p:cNvSpPr/>
          <p:nvPr/>
        </p:nvSpPr>
        <p:spPr>
          <a:xfrm>
            <a:off x="8686800" y="3794760"/>
            <a:ext cx="2651760" cy="548640"/>
          </a:xfrm>
          <a:prstGeom prst="roundRect">
            <a:avLst>
              <a:gd name="adj" fmla="val 11667"/>
            </a:avLst>
          </a:prstGeom>
          <a:solidFill>
            <a:srgbClr val="12726B"/>
          </a:solidFill>
          <a:ln w="15240">
            <a:solidFill>
              <a:srgbClr val="12726B"/>
            </a:solidFill>
            <a:prstDash val="solid"/>
          </a:ln>
        </p:spPr>
      </p:sp>
      <p:sp>
        <p:nvSpPr>
          <p:cNvPr id="13" name="Text 11"/>
          <p:cNvSpPr/>
          <p:nvPr/>
        </p:nvSpPr>
        <p:spPr>
          <a:xfrm>
            <a:off x="8732520" y="3794760"/>
            <a:ext cx="2560320" cy="54864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Database</a:t>
            </a:r>
            <a:endParaRPr lang="en-US" sz="1050" dirty="0"/>
          </a:p>
        </p:txBody>
      </p:sp>
      <p:sp>
        <p:nvSpPr>
          <p:cNvPr id="14" name="Text 12"/>
          <p:cNvSpPr/>
          <p:nvPr/>
        </p:nvSpPr>
        <p:spPr>
          <a:xfrm>
            <a:off x="8686800" y="4572000"/>
            <a:ext cx="2651760" cy="548640"/>
          </a:xfrm>
          <a:prstGeom prst="rect">
            <a:avLst/>
          </a:prstGeom>
          <a:noFill/>
          <a:ln/>
        </p:spPr>
        <p:txBody>
          <a:bodyPr wrap="square" lIns="0" tIns="0" rIns="0" bIns="0" rtlCol="0" anchor="ctr"/>
          <a:lstStyle/>
          <a:p>
            <a:pPr algn="ctr" indent="0" marL="0">
              <a:lnSpc>
                <a:spcPct val="110000"/>
              </a:lnSpc>
              <a:buNone/>
            </a:pPr>
            <a:r>
              <a:rPr lang="en-US" sz="1100" i="1" dirty="0">
                <a:solidFill>
                  <a:srgbClr val="AFC6DE"/>
                </a:solidFill>
                <a:latin typeface="Calibri" pitchFamily="34" charset="0"/>
                <a:ea typeface="Calibri" pitchFamily="34" charset="-122"/>
                <a:cs typeface="Calibri" pitchFamily="34" charset="-120"/>
              </a:rPr>
              <a:t>Kiến trúc là quyết định khó đảo ngược nhất.</a:t>
            </a:r>
            <a:endParaRPr lang="en-US" sz="1100" dirty="0"/>
          </a:p>
        </p:txBody>
      </p:sp>
      <p:sp>
        <p:nvSpPr>
          <p:cNvPr id="15" name="Text 13"/>
          <p:cNvSpPr/>
          <p:nvPr/>
        </p:nvSpPr>
        <p:spPr>
          <a:xfrm>
            <a:off x="731520" y="1143000"/>
            <a:ext cx="7406640" cy="274320"/>
          </a:xfrm>
          <a:prstGeom prst="rect">
            <a:avLst/>
          </a:prstGeom>
          <a:noFill/>
          <a:ln/>
        </p:spPr>
        <p:txBody>
          <a:bodyPr wrap="square" lIns="0" tIns="0" rIns="0" bIns="0" rtlCol="0" anchor="ctr"/>
          <a:lstStyle/>
          <a:p>
            <a:pPr indent="0" marL="0">
              <a:buNone/>
            </a:pPr>
            <a:r>
              <a:rPr lang="en-US" sz="1300" b="1" spc="200" kern="0" dirty="0">
                <a:solidFill>
                  <a:srgbClr val="E8A317"/>
                </a:solidFill>
                <a:latin typeface="Calibri" pitchFamily="34" charset="0"/>
                <a:ea typeface="Calibri" pitchFamily="34" charset="-122"/>
                <a:cs typeface="Calibri" pitchFamily="34" charset="-120"/>
              </a:rPr>
              <a:t>SWD392 – SOFTWARE ARCHITECTURE AND DESIGN</a:t>
            </a:r>
            <a:endParaRPr lang="en-US" sz="1300" dirty="0"/>
          </a:p>
        </p:txBody>
      </p:sp>
      <p:sp>
        <p:nvSpPr>
          <p:cNvPr id="16" name="Text 14"/>
          <p:cNvSpPr/>
          <p:nvPr/>
        </p:nvSpPr>
        <p:spPr>
          <a:xfrm>
            <a:off x="731520" y="1536192"/>
            <a:ext cx="7498080" cy="1280160"/>
          </a:xfrm>
          <a:prstGeom prst="rect">
            <a:avLst/>
          </a:prstGeom>
          <a:noFill/>
          <a:ln/>
        </p:spPr>
        <p:txBody>
          <a:bodyPr wrap="square" lIns="0" tIns="0" rIns="0" bIns="0" rtlCol="0" anchor="ctr"/>
          <a:lstStyle/>
          <a:p>
            <a:pPr indent="0" marL="0">
              <a:lnSpc>
                <a:spcPct val="90000"/>
              </a:lnSpc>
              <a:buNone/>
            </a:pPr>
            <a:r>
              <a:rPr lang="en-US" sz="4000" b="1" dirty="0">
                <a:solidFill>
                  <a:srgbClr val="FFFFFF"/>
                </a:solidFill>
                <a:latin typeface="Cambria" pitchFamily="34" charset="0"/>
                <a:ea typeface="Cambria" pitchFamily="34" charset="-122"/>
                <a:cs typeface="Cambria" pitchFamily="34" charset="-120"/>
              </a:rPr>
              <a:t>CÁC LOẠI KIẾN TRÚC PHẦN MỀM</a:t>
            </a:r>
            <a:endParaRPr lang="en-US" sz="4000" dirty="0"/>
          </a:p>
        </p:txBody>
      </p:sp>
      <p:sp>
        <p:nvSpPr>
          <p:cNvPr id="17" name="Text 15"/>
          <p:cNvSpPr/>
          <p:nvPr/>
        </p:nvSpPr>
        <p:spPr>
          <a:xfrm>
            <a:off x="731520" y="2697480"/>
            <a:ext cx="7498080" cy="41148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Từ Layers of Abstraction tới Microservices — chọn đúng, biện luận được</a:t>
            </a:r>
            <a:endParaRPr lang="en-US" sz="1700" dirty="0"/>
          </a:p>
        </p:txBody>
      </p:sp>
      <p:sp>
        <p:nvSpPr>
          <p:cNvPr id="18" name="Text 16"/>
          <p:cNvSpPr/>
          <p:nvPr/>
        </p:nvSpPr>
        <p:spPr>
          <a:xfrm>
            <a:off x="731520" y="3291840"/>
            <a:ext cx="7498080" cy="731520"/>
          </a:xfrm>
          <a:prstGeom prst="rect">
            <a:avLst/>
          </a:prstGeom>
          <a:noFill/>
          <a:ln/>
        </p:spPr>
        <p:txBody>
          <a:bodyPr wrap="square" lIns="0" tIns="0" rIns="0" bIns="0" rtlCol="0" anchor="ctr"/>
          <a:lstStyle/>
          <a:p>
            <a:pPr indent="0" marL="0">
              <a:lnSpc>
                <a:spcPct val="125000"/>
              </a:lnSpc>
              <a:buNone/>
            </a:pPr>
            <a:r>
              <a:rPr lang="en-US" sz="1350" b="1" dirty="0">
                <a:solidFill>
                  <a:srgbClr val="FFFFFF"/>
                </a:solidFill>
                <a:latin typeface="Calibri" pitchFamily="34" charset="0"/>
                <a:ea typeface="Calibri" pitchFamily="34" charset="-122"/>
                <a:cs typeface="Calibri" pitchFamily="34" charset="-120"/>
              </a:rPr>
              <a:t>Bám sát Chapter 12 – 18 và các case study Chapter 21 – 24 (Gomaa)</a:t>
            </a:r>
            <a:endParaRPr lang="en-US" sz="1350" dirty="0"/>
          </a:p>
          <a:p>
            <a:pPr indent="0" marL="0">
              <a:lnSpc>
                <a:spcPct val="125000"/>
              </a:lnSpc>
              <a:buNone/>
            </a:pPr>
            <a:r>
              <a:rPr lang="en-US" sz="1350" dirty="0">
                <a:solidFill>
                  <a:srgbClr val="AFC6DE"/>
                </a:solidFill>
                <a:latin typeface="Calibri" pitchFamily="34" charset="0"/>
                <a:ea typeface="Calibri" pitchFamily="34" charset="-122"/>
                <a:cs typeface="Calibri" pitchFamily="34" charset="-120"/>
              </a:rPr>
              <a:t>Đây là toàn bộ khối kiến thức CLO4 của môn học, trải dài từ session 26 tới session 53</a:t>
            </a:r>
            <a:endParaRPr lang="en-US" sz="1350" dirty="0"/>
          </a:p>
        </p:txBody>
      </p:sp>
      <p:sp>
        <p:nvSpPr>
          <p:cNvPr id="19" name="Shape 17"/>
          <p:cNvSpPr/>
          <p:nvPr/>
        </p:nvSpPr>
        <p:spPr>
          <a:xfrm>
            <a:off x="731520" y="4315968"/>
            <a:ext cx="2377440" cy="603504"/>
          </a:xfrm>
          <a:prstGeom prst="roundRect">
            <a:avLst>
              <a:gd name="adj" fmla="val 12121"/>
            </a:avLst>
          </a:prstGeom>
          <a:solidFill>
            <a:srgbClr val="13315C"/>
          </a:solidFill>
          <a:ln w="12700">
            <a:solidFill>
              <a:srgbClr val="27548A"/>
            </a:solidFill>
            <a:prstDash val="solid"/>
          </a:ln>
        </p:spPr>
      </p:sp>
      <p:sp>
        <p:nvSpPr>
          <p:cNvPr id="20" name="Text 18"/>
          <p:cNvSpPr/>
          <p:nvPr/>
        </p:nvSpPr>
        <p:spPr>
          <a:xfrm>
            <a:off x="786384" y="4315968"/>
            <a:ext cx="2267712" cy="603504"/>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Ch.12–13 Nền tảng</a:t>
            </a:r>
            <a:endParaRPr lang="en-US" sz="1050" dirty="0"/>
          </a:p>
        </p:txBody>
      </p:sp>
      <p:sp>
        <p:nvSpPr>
          <p:cNvPr id="21" name="Shape 19"/>
          <p:cNvSpPr/>
          <p:nvPr/>
        </p:nvSpPr>
        <p:spPr>
          <a:xfrm>
            <a:off x="3246120" y="4315968"/>
            <a:ext cx="2377440" cy="603504"/>
          </a:xfrm>
          <a:prstGeom prst="roundRect">
            <a:avLst>
              <a:gd name="adj" fmla="val 12121"/>
            </a:avLst>
          </a:prstGeom>
          <a:solidFill>
            <a:srgbClr val="13315C"/>
          </a:solidFill>
          <a:ln w="12700">
            <a:solidFill>
              <a:srgbClr val="27548A"/>
            </a:solidFill>
            <a:prstDash val="solid"/>
          </a:ln>
        </p:spPr>
      </p:sp>
      <p:sp>
        <p:nvSpPr>
          <p:cNvPr id="22" name="Text 20"/>
          <p:cNvSpPr/>
          <p:nvPr/>
        </p:nvSpPr>
        <p:spPr>
          <a:xfrm>
            <a:off x="3300984" y="4315968"/>
            <a:ext cx="2267712" cy="603504"/>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Ch.14 OO Architecture</a:t>
            </a:r>
            <a:endParaRPr lang="en-US" sz="1050" dirty="0"/>
          </a:p>
        </p:txBody>
      </p:sp>
      <p:sp>
        <p:nvSpPr>
          <p:cNvPr id="23" name="Shape 21"/>
          <p:cNvSpPr/>
          <p:nvPr/>
        </p:nvSpPr>
        <p:spPr>
          <a:xfrm>
            <a:off x="5760720" y="4315968"/>
            <a:ext cx="2377440" cy="603504"/>
          </a:xfrm>
          <a:prstGeom prst="roundRect">
            <a:avLst>
              <a:gd name="adj" fmla="val 12121"/>
            </a:avLst>
          </a:prstGeom>
          <a:solidFill>
            <a:srgbClr val="13315C"/>
          </a:solidFill>
          <a:ln w="12700">
            <a:solidFill>
              <a:srgbClr val="27548A"/>
            </a:solidFill>
            <a:prstDash val="solid"/>
          </a:ln>
        </p:spPr>
      </p:sp>
      <p:sp>
        <p:nvSpPr>
          <p:cNvPr id="24" name="Text 22"/>
          <p:cNvSpPr/>
          <p:nvPr/>
        </p:nvSpPr>
        <p:spPr>
          <a:xfrm>
            <a:off x="5815584" y="4315968"/>
            <a:ext cx="2267712" cy="603504"/>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Ch.15 Client/Server</a:t>
            </a:r>
            <a:endParaRPr lang="en-US" sz="1050" dirty="0"/>
          </a:p>
        </p:txBody>
      </p:sp>
      <p:sp>
        <p:nvSpPr>
          <p:cNvPr id="25" name="Shape 23"/>
          <p:cNvSpPr/>
          <p:nvPr/>
        </p:nvSpPr>
        <p:spPr>
          <a:xfrm>
            <a:off x="731520" y="5029200"/>
            <a:ext cx="2377440" cy="603504"/>
          </a:xfrm>
          <a:prstGeom prst="roundRect">
            <a:avLst>
              <a:gd name="adj" fmla="val 12121"/>
            </a:avLst>
          </a:prstGeom>
          <a:solidFill>
            <a:srgbClr val="13315C"/>
          </a:solidFill>
          <a:ln w="12700">
            <a:solidFill>
              <a:srgbClr val="27548A"/>
            </a:solidFill>
            <a:prstDash val="solid"/>
          </a:ln>
        </p:spPr>
      </p:sp>
      <p:sp>
        <p:nvSpPr>
          <p:cNvPr id="26" name="Text 24"/>
          <p:cNvSpPr/>
          <p:nvPr/>
        </p:nvSpPr>
        <p:spPr>
          <a:xfrm>
            <a:off x="786384" y="5029200"/>
            <a:ext cx="2267712" cy="603504"/>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Ch.16 SOA</a:t>
            </a:r>
            <a:endParaRPr lang="en-US" sz="1050" dirty="0"/>
          </a:p>
        </p:txBody>
      </p:sp>
      <p:sp>
        <p:nvSpPr>
          <p:cNvPr id="27" name="Shape 25"/>
          <p:cNvSpPr/>
          <p:nvPr/>
        </p:nvSpPr>
        <p:spPr>
          <a:xfrm>
            <a:off x="3246120" y="5029200"/>
            <a:ext cx="2377440" cy="603504"/>
          </a:xfrm>
          <a:prstGeom prst="roundRect">
            <a:avLst>
              <a:gd name="adj" fmla="val 12121"/>
            </a:avLst>
          </a:prstGeom>
          <a:solidFill>
            <a:srgbClr val="13315C"/>
          </a:solidFill>
          <a:ln w="12700">
            <a:solidFill>
              <a:srgbClr val="27548A"/>
            </a:solidFill>
            <a:prstDash val="solid"/>
          </a:ln>
        </p:spPr>
      </p:sp>
      <p:sp>
        <p:nvSpPr>
          <p:cNvPr id="28" name="Text 26"/>
          <p:cNvSpPr/>
          <p:nvPr/>
        </p:nvSpPr>
        <p:spPr>
          <a:xfrm>
            <a:off x="3300984" y="5029200"/>
            <a:ext cx="2267712" cy="603504"/>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Ch.17 Component</a:t>
            </a:r>
            <a:endParaRPr lang="en-US" sz="1050" dirty="0"/>
          </a:p>
        </p:txBody>
      </p:sp>
      <p:sp>
        <p:nvSpPr>
          <p:cNvPr id="29" name="Shape 27"/>
          <p:cNvSpPr/>
          <p:nvPr/>
        </p:nvSpPr>
        <p:spPr>
          <a:xfrm>
            <a:off x="5760720" y="5029200"/>
            <a:ext cx="2377440" cy="603504"/>
          </a:xfrm>
          <a:prstGeom prst="roundRect">
            <a:avLst>
              <a:gd name="adj" fmla="val 12121"/>
            </a:avLst>
          </a:prstGeom>
          <a:solidFill>
            <a:srgbClr val="13315C"/>
          </a:solidFill>
          <a:ln w="12700">
            <a:solidFill>
              <a:srgbClr val="27548A"/>
            </a:solidFill>
            <a:prstDash val="solid"/>
          </a:ln>
        </p:spPr>
      </p:sp>
      <p:sp>
        <p:nvSpPr>
          <p:cNvPr id="30" name="Text 28"/>
          <p:cNvSpPr/>
          <p:nvPr/>
        </p:nvSpPr>
        <p:spPr>
          <a:xfrm>
            <a:off x="5815584" y="5029200"/>
            <a:ext cx="2267712" cy="603504"/>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Ch.18 Real-time</a:t>
            </a:r>
            <a:endParaRPr lang="en-US" sz="1050" dirty="0"/>
          </a:p>
        </p:txBody>
      </p:sp>
      <p:sp>
        <p:nvSpPr>
          <p:cNvPr id="31" name="Text 29"/>
          <p:cNvSpPr/>
          <p:nvPr/>
        </p:nvSpPr>
        <p:spPr>
          <a:xfrm>
            <a:off x="731520" y="6035040"/>
            <a:ext cx="7498080" cy="274320"/>
          </a:xfrm>
          <a:prstGeom prst="rect">
            <a:avLst/>
          </a:prstGeom>
          <a:noFill/>
          <a:ln/>
        </p:spPr>
        <p:txBody>
          <a:bodyPr wrap="square" lIns="0" tIns="0" rIns="0" bIns="0" rtlCol="0" anchor="ctr"/>
          <a:lstStyle/>
          <a:p>
            <a:pPr indent="0" marL="0">
              <a:buNone/>
            </a:pPr>
            <a:r>
              <a:rPr lang="en-US" sz="1100" dirty="0">
                <a:solidFill>
                  <a:srgbClr val="6B7A8F"/>
                </a:solidFill>
                <a:latin typeface="Calibri" pitchFamily="34" charset="0"/>
                <a:ea typeface="Calibri" pitchFamily="34" charset="-122"/>
                <a:cs typeface="Calibri" pitchFamily="34" charset="-120"/>
              </a:rPr>
              <a:t>Tài liệu ôn tập &amp; giảng dạy · FPT University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1</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Kiến trúc nằm ở đâu trong SWD392?</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Nửa sau của môn học gần như dành trọn cho kiến trúc — và nó có mặt ở cả ba hình thức thi</a:t>
            </a:r>
            <a:endParaRPr lang="en-US" sz="1300" dirty="0"/>
          </a:p>
        </p:txBody>
      </p:sp>
      <p:sp>
        <p:nvSpPr>
          <p:cNvPr id="6" name="Shape 4"/>
          <p:cNvSpPr/>
          <p:nvPr/>
        </p:nvSpPr>
        <p:spPr>
          <a:xfrm>
            <a:off x="502920" y="1298448"/>
            <a:ext cx="8229600" cy="749808"/>
          </a:xfrm>
          <a:prstGeom prst="roundRect">
            <a:avLst>
              <a:gd name="adj" fmla="val 9756"/>
            </a:avLst>
          </a:prstGeom>
          <a:solidFill>
            <a:srgbClr val="F1F5F9"/>
          </a:solidFill>
          <a:ln w="12700">
            <a:solidFill>
              <a:srgbClr val="DCE4EC"/>
            </a:solidFill>
            <a:prstDash val="solid"/>
          </a:ln>
        </p:spPr>
      </p:sp>
      <p:sp>
        <p:nvSpPr>
          <p:cNvPr id="7" name="Text 5"/>
          <p:cNvSpPr/>
          <p:nvPr/>
        </p:nvSpPr>
        <p:spPr>
          <a:xfrm>
            <a:off x="713232" y="1298448"/>
            <a:ext cx="1371600" cy="749808"/>
          </a:xfrm>
          <a:prstGeom prst="rect">
            <a:avLst/>
          </a:prstGeom>
          <a:noFill/>
          <a:ln/>
        </p:spPr>
        <p:txBody>
          <a:bodyPr wrap="square" lIns="0" tIns="0" rIns="0" bIns="0" rtlCol="0" anchor="ctr"/>
          <a:lstStyle/>
          <a:p>
            <a:pPr indent="0" marL="0">
              <a:buNone/>
            </a:pPr>
            <a:r>
              <a:rPr lang="en-US" sz="1050" b="1" dirty="0">
                <a:solidFill>
                  <a:srgbClr val="3E5C76"/>
                </a:solidFill>
                <a:latin typeface="Calibri" pitchFamily="34" charset="0"/>
                <a:ea typeface="Calibri" pitchFamily="34" charset="-122"/>
                <a:cs typeface="Calibri" pitchFamily="34" charset="-120"/>
              </a:rPr>
              <a:t>Session 1–8</a:t>
            </a:r>
            <a:endParaRPr lang="en-US" sz="1050" dirty="0"/>
          </a:p>
        </p:txBody>
      </p:sp>
      <p:sp>
        <p:nvSpPr>
          <p:cNvPr id="8" name="Text 6"/>
          <p:cNvSpPr/>
          <p:nvPr/>
        </p:nvSpPr>
        <p:spPr>
          <a:xfrm>
            <a:off x="2148840" y="1371600"/>
            <a:ext cx="274320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Nền tảng thiết kế</a:t>
            </a:r>
            <a:endParaRPr lang="en-US" sz="1250" dirty="0"/>
          </a:p>
        </p:txBody>
      </p:sp>
      <p:sp>
        <p:nvSpPr>
          <p:cNvPr id="9" name="Text 7"/>
          <p:cNvSpPr/>
          <p:nvPr/>
        </p:nvSpPr>
        <p:spPr>
          <a:xfrm>
            <a:off x="2148840" y="1664208"/>
            <a:ext cx="5394960" cy="329184"/>
          </a:xfrm>
          <a:prstGeom prst="rect">
            <a:avLst/>
          </a:prstGeom>
          <a:noFill/>
          <a:ln/>
        </p:spPr>
        <p:txBody>
          <a:bodyPr wrap="square" lIns="0" tIns="0" rIns="0" bIns="0" rtlCol="0" anchor="t"/>
          <a:lstStyle/>
          <a:p>
            <a:pPr indent="0" marL="0">
              <a:buNone/>
            </a:pPr>
            <a:r>
              <a:rPr lang="en-US" sz="1000" dirty="0">
                <a:solidFill>
                  <a:srgbClr val="3E5C76"/>
                </a:solidFill>
                <a:latin typeface="Calibri" pitchFamily="34" charset="0"/>
                <a:ea typeface="Calibri" pitchFamily="34" charset="-122"/>
                <a:cs typeface="Calibri" pitchFamily="34" charset="-120"/>
              </a:rPr>
              <a:t>Chapter 1–4: khái niệm, ký pháp, phương pháp thiết kế phần mềm.</a:t>
            </a:r>
            <a:endParaRPr lang="en-US" sz="1000" dirty="0"/>
          </a:p>
        </p:txBody>
      </p:sp>
      <p:sp>
        <p:nvSpPr>
          <p:cNvPr id="10" name="Shape 8"/>
          <p:cNvSpPr/>
          <p:nvPr/>
        </p:nvSpPr>
        <p:spPr>
          <a:xfrm>
            <a:off x="7589520" y="1536192"/>
            <a:ext cx="960120" cy="274320"/>
          </a:xfrm>
          <a:prstGeom prst="roundRect">
            <a:avLst>
              <a:gd name="adj" fmla="val 23333"/>
            </a:avLst>
          </a:prstGeom>
          <a:solidFill>
            <a:srgbClr val="3E5C76"/>
          </a:solidFill>
          <a:ln w="12700">
            <a:solidFill>
              <a:srgbClr val="3E5C76"/>
            </a:solidFill>
            <a:prstDash val="solid"/>
          </a:ln>
        </p:spPr>
      </p:sp>
      <p:sp>
        <p:nvSpPr>
          <p:cNvPr id="11" name="Text 9"/>
          <p:cNvSpPr/>
          <p:nvPr/>
        </p:nvSpPr>
        <p:spPr>
          <a:xfrm>
            <a:off x="7589520" y="1536192"/>
            <a:ext cx="9601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CLO1</a:t>
            </a:r>
            <a:endParaRPr lang="en-US" sz="900" dirty="0"/>
          </a:p>
        </p:txBody>
      </p:sp>
      <p:sp>
        <p:nvSpPr>
          <p:cNvPr id="12" name="Shape 10"/>
          <p:cNvSpPr/>
          <p:nvPr/>
        </p:nvSpPr>
        <p:spPr>
          <a:xfrm>
            <a:off x="502920" y="2157984"/>
            <a:ext cx="8229600" cy="749808"/>
          </a:xfrm>
          <a:prstGeom prst="roundRect">
            <a:avLst>
              <a:gd name="adj" fmla="val 9756"/>
            </a:avLst>
          </a:prstGeom>
          <a:solidFill>
            <a:srgbClr val="FFFFFF"/>
          </a:solidFill>
          <a:ln w="12700">
            <a:solidFill>
              <a:srgbClr val="DCE4EC"/>
            </a:solidFill>
            <a:prstDash val="solid"/>
          </a:ln>
        </p:spPr>
      </p:sp>
      <p:sp>
        <p:nvSpPr>
          <p:cNvPr id="13" name="Text 11"/>
          <p:cNvSpPr/>
          <p:nvPr/>
        </p:nvSpPr>
        <p:spPr>
          <a:xfrm>
            <a:off x="713232" y="2157984"/>
            <a:ext cx="1371600" cy="749808"/>
          </a:xfrm>
          <a:prstGeom prst="rect">
            <a:avLst/>
          </a:prstGeom>
          <a:noFill/>
          <a:ln/>
        </p:spPr>
        <p:txBody>
          <a:bodyPr wrap="square" lIns="0" tIns="0" rIns="0" bIns="0" rtlCol="0" anchor="ctr"/>
          <a:lstStyle/>
          <a:p>
            <a:pPr indent="0" marL="0">
              <a:buNone/>
            </a:pPr>
            <a:r>
              <a:rPr lang="en-US" sz="1050" b="1" dirty="0">
                <a:solidFill>
                  <a:srgbClr val="12726B"/>
                </a:solidFill>
                <a:latin typeface="Calibri" pitchFamily="34" charset="0"/>
                <a:ea typeface="Calibri" pitchFamily="34" charset="-122"/>
                <a:cs typeface="Calibri" pitchFamily="34" charset="-120"/>
              </a:rPr>
              <a:t>Session 9–18</a:t>
            </a:r>
            <a:endParaRPr lang="en-US" sz="1050" dirty="0"/>
          </a:p>
        </p:txBody>
      </p:sp>
      <p:sp>
        <p:nvSpPr>
          <p:cNvPr id="14" name="Text 12"/>
          <p:cNvSpPr/>
          <p:nvPr/>
        </p:nvSpPr>
        <p:spPr>
          <a:xfrm>
            <a:off x="2148840" y="2231136"/>
            <a:ext cx="274320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Phân tích &amp; Mô hình hoá</a:t>
            </a:r>
            <a:endParaRPr lang="en-US" sz="1250" dirty="0"/>
          </a:p>
        </p:txBody>
      </p:sp>
      <p:sp>
        <p:nvSpPr>
          <p:cNvPr id="15" name="Text 13"/>
          <p:cNvSpPr/>
          <p:nvPr/>
        </p:nvSpPr>
        <p:spPr>
          <a:xfrm>
            <a:off x="2148840" y="2523744"/>
            <a:ext cx="5394960" cy="329184"/>
          </a:xfrm>
          <a:prstGeom prst="rect">
            <a:avLst/>
          </a:prstGeom>
          <a:noFill/>
          <a:ln/>
        </p:spPr>
        <p:txBody>
          <a:bodyPr wrap="square" lIns="0" tIns="0" rIns="0" bIns="0" rtlCol="0" anchor="t"/>
          <a:lstStyle/>
          <a:p>
            <a:pPr indent="0" marL="0">
              <a:buNone/>
            </a:pPr>
            <a:r>
              <a:rPr lang="en-US" sz="1000" dirty="0">
                <a:solidFill>
                  <a:srgbClr val="3E5C76"/>
                </a:solidFill>
                <a:latin typeface="Calibri" pitchFamily="34" charset="0"/>
                <a:ea typeface="Calibri" pitchFamily="34" charset="-122"/>
                <a:cs typeface="Calibri" pitchFamily="34" charset="-120"/>
              </a:rPr>
              <a:t>Chapter 5–11: use case, static modeling, dynamic modeling, statechart. Kèm Chapter 20 – Quality Attributes.</a:t>
            </a:r>
            <a:endParaRPr lang="en-US" sz="1000" dirty="0"/>
          </a:p>
        </p:txBody>
      </p:sp>
      <p:sp>
        <p:nvSpPr>
          <p:cNvPr id="16" name="Shape 14"/>
          <p:cNvSpPr/>
          <p:nvPr/>
        </p:nvSpPr>
        <p:spPr>
          <a:xfrm>
            <a:off x="7589520" y="2395728"/>
            <a:ext cx="960120" cy="274320"/>
          </a:xfrm>
          <a:prstGeom prst="roundRect">
            <a:avLst>
              <a:gd name="adj" fmla="val 23333"/>
            </a:avLst>
          </a:prstGeom>
          <a:solidFill>
            <a:srgbClr val="12726B"/>
          </a:solidFill>
          <a:ln w="12700">
            <a:solidFill>
              <a:srgbClr val="12726B"/>
            </a:solidFill>
            <a:prstDash val="solid"/>
          </a:ln>
        </p:spPr>
      </p:sp>
      <p:sp>
        <p:nvSpPr>
          <p:cNvPr id="17" name="Text 15"/>
          <p:cNvSpPr/>
          <p:nvPr/>
        </p:nvSpPr>
        <p:spPr>
          <a:xfrm>
            <a:off x="7589520" y="2395728"/>
            <a:ext cx="9601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CLO2, CLO3</a:t>
            </a:r>
            <a:endParaRPr lang="en-US" sz="900" dirty="0"/>
          </a:p>
        </p:txBody>
      </p:sp>
      <p:sp>
        <p:nvSpPr>
          <p:cNvPr id="18" name="Shape 16"/>
          <p:cNvSpPr/>
          <p:nvPr/>
        </p:nvSpPr>
        <p:spPr>
          <a:xfrm>
            <a:off x="502920" y="3017520"/>
            <a:ext cx="8229600" cy="749808"/>
          </a:xfrm>
          <a:prstGeom prst="roundRect">
            <a:avLst>
              <a:gd name="adj" fmla="val 9756"/>
            </a:avLst>
          </a:prstGeom>
          <a:solidFill>
            <a:srgbClr val="F1F5F9"/>
          </a:solidFill>
          <a:ln w="12700">
            <a:solidFill>
              <a:srgbClr val="DCE4EC"/>
            </a:solidFill>
            <a:prstDash val="solid"/>
          </a:ln>
        </p:spPr>
      </p:sp>
      <p:sp>
        <p:nvSpPr>
          <p:cNvPr id="19" name="Text 17"/>
          <p:cNvSpPr/>
          <p:nvPr/>
        </p:nvSpPr>
        <p:spPr>
          <a:xfrm>
            <a:off x="713232" y="3017520"/>
            <a:ext cx="1371600" cy="749808"/>
          </a:xfrm>
          <a:prstGeom prst="rect">
            <a:avLst/>
          </a:prstGeom>
          <a:noFill/>
          <a:ln/>
        </p:spPr>
        <p:txBody>
          <a:bodyPr wrap="square" lIns="0" tIns="0" rIns="0" bIns="0" rtlCol="0" anchor="ctr"/>
          <a:lstStyle/>
          <a:p>
            <a:pPr indent="0" marL="0">
              <a:buNone/>
            </a:pPr>
            <a:r>
              <a:rPr lang="en-US" sz="1050" b="1" dirty="0">
                <a:solidFill>
                  <a:srgbClr val="E8A317"/>
                </a:solidFill>
                <a:latin typeface="Calibri" pitchFamily="34" charset="0"/>
                <a:ea typeface="Calibri" pitchFamily="34" charset="-122"/>
                <a:cs typeface="Calibri" pitchFamily="34" charset="-120"/>
              </a:rPr>
              <a:t>Session 19–25</a:t>
            </a:r>
            <a:endParaRPr lang="en-US" sz="1050" dirty="0"/>
          </a:p>
        </p:txBody>
      </p:sp>
      <p:sp>
        <p:nvSpPr>
          <p:cNvPr id="20" name="Text 18"/>
          <p:cNvSpPr/>
          <p:nvPr/>
        </p:nvSpPr>
        <p:spPr>
          <a:xfrm>
            <a:off x="2148840" y="3090672"/>
            <a:ext cx="274320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Design Patterns &amp; Đồ án 1</a:t>
            </a:r>
            <a:endParaRPr lang="en-US" sz="1250" dirty="0"/>
          </a:p>
        </p:txBody>
      </p:sp>
      <p:sp>
        <p:nvSpPr>
          <p:cNvPr id="21" name="Text 19"/>
          <p:cNvSpPr/>
          <p:nvPr/>
        </p:nvSpPr>
        <p:spPr>
          <a:xfrm>
            <a:off x="2148840" y="3383280"/>
            <a:ext cx="5394960" cy="329184"/>
          </a:xfrm>
          <a:prstGeom prst="rect">
            <a:avLst/>
          </a:prstGeom>
          <a:noFill/>
          <a:ln/>
        </p:spPr>
        <p:txBody>
          <a:bodyPr wrap="square" lIns="0" tIns="0" rIns="0" bIns="0" rtlCol="0" anchor="t"/>
          <a:lstStyle/>
          <a:p>
            <a:pPr indent="0" marL="0">
              <a:buNone/>
            </a:pPr>
            <a:r>
              <a:rPr lang="en-US" sz="1000" dirty="0">
                <a:solidFill>
                  <a:srgbClr val="3E5C76"/>
                </a:solidFill>
                <a:latin typeface="Calibri" pitchFamily="34" charset="0"/>
                <a:ea typeface="Calibri" pitchFamily="34" charset="-122"/>
                <a:cs typeface="Calibri" pitchFamily="34" charset="-120"/>
              </a:rPr>
              <a:t>Creational, Structural, Behavioral patterns. Progress test 1.</a:t>
            </a:r>
            <a:endParaRPr lang="en-US" sz="1000" dirty="0"/>
          </a:p>
        </p:txBody>
      </p:sp>
      <p:sp>
        <p:nvSpPr>
          <p:cNvPr id="22" name="Shape 20"/>
          <p:cNvSpPr/>
          <p:nvPr/>
        </p:nvSpPr>
        <p:spPr>
          <a:xfrm>
            <a:off x="7589520" y="3255264"/>
            <a:ext cx="960120" cy="274320"/>
          </a:xfrm>
          <a:prstGeom prst="roundRect">
            <a:avLst>
              <a:gd name="adj" fmla="val 23333"/>
            </a:avLst>
          </a:prstGeom>
          <a:solidFill>
            <a:srgbClr val="E8A317"/>
          </a:solidFill>
          <a:ln w="12700">
            <a:solidFill>
              <a:srgbClr val="E8A317"/>
            </a:solidFill>
            <a:prstDash val="solid"/>
          </a:ln>
        </p:spPr>
      </p:sp>
      <p:sp>
        <p:nvSpPr>
          <p:cNvPr id="23" name="Text 21"/>
          <p:cNvSpPr/>
          <p:nvPr/>
        </p:nvSpPr>
        <p:spPr>
          <a:xfrm>
            <a:off x="7589520" y="3255264"/>
            <a:ext cx="9601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CLO6</a:t>
            </a:r>
            <a:endParaRPr lang="en-US" sz="900" dirty="0"/>
          </a:p>
        </p:txBody>
      </p:sp>
      <p:sp>
        <p:nvSpPr>
          <p:cNvPr id="24" name="Shape 22"/>
          <p:cNvSpPr/>
          <p:nvPr/>
        </p:nvSpPr>
        <p:spPr>
          <a:xfrm>
            <a:off x="502920" y="3877056"/>
            <a:ext cx="8229600" cy="749808"/>
          </a:xfrm>
          <a:prstGeom prst="roundRect">
            <a:avLst>
              <a:gd name="adj" fmla="val 9756"/>
            </a:avLst>
          </a:prstGeom>
          <a:solidFill>
            <a:srgbClr val="FDF2DA"/>
          </a:solidFill>
          <a:ln w="12700">
            <a:solidFill>
              <a:srgbClr val="E8A317"/>
            </a:solidFill>
            <a:prstDash val="solid"/>
          </a:ln>
        </p:spPr>
      </p:sp>
      <p:sp>
        <p:nvSpPr>
          <p:cNvPr id="25" name="Text 23"/>
          <p:cNvSpPr/>
          <p:nvPr/>
        </p:nvSpPr>
        <p:spPr>
          <a:xfrm>
            <a:off x="713232" y="3877056"/>
            <a:ext cx="1371600" cy="749808"/>
          </a:xfrm>
          <a:prstGeom prst="rect">
            <a:avLst/>
          </a:prstGeom>
          <a:noFill/>
          <a:ln/>
        </p:spPr>
        <p:txBody>
          <a:bodyPr wrap="square" lIns="0" tIns="0" rIns="0" bIns="0" rtlCol="0" anchor="ctr"/>
          <a:lstStyle/>
          <a:p>
            <a:pPr indent="0" marL="0">
              <a:buNone/>
            </a:pPr>
            <a:r>
              <a:rPr lang="en-US" sz="1050" b="1" dirty="0">
                <a:solidFill>
                  <a:srgbClr val="0B2545"/>
                </a:solidFill>
                <a:latin typeface="Calibri" pitchFamily="34" charset="0"/>
                <a:ea typeface="Calibri" pitchFamily="34" charset="-122"/>
                <a:cs typeface="Calibri" pitchFamily="34" charset="-120"/>
              </a:rPr>
              <a:t>Session 26–53</a:t>
            </a:r>
            <a:endParaRPr lang="en-US" sz="1050" dirty="0"/>
          </a:p>
        </p:txBody>
      </p:sp>
      <p:sp>
        <p:nvSpPr>
          <p:cNvPr id="26" name="Text 24"/>
          <p:cNvSpPr/>
          <p:nvPr/>
        </p:nvSpPr>
        <p:spPr>
          <a:xfrm>
            <a:off x="2148840" y="3950208"/>
            <a:ext cx="274320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KIẾN TRÚC PHẦN MỀM</a:t>
            </a:r>
            <a:endParaRPr lang="en-US" sz="1250" dirty="0"/>
          </a:p>
        </p:txBody>
      </p:sp>
      <p:sp>
        <p:nvSpPr>
          <p:cNvPr id="27" name="Text 25"/>
          <p:cNvSpPr/>
          <p:nvPr/>
        </p:nvSpPr>
        <p:spPr>
          <a:xfrm>
            <a:off x="2148840" y="4242816"/>
            <a:ext cx="5394960" cy="329184"/>
          </a:xfrm>
          <a:prstGeom prst="rect">
            <a:avLst/>
          </a:prstGeom>
          <a:noFill/>
          <a:ln/>
        </p:spPr>
        <p:txBody>
          <a:bodyPr wrap="square" lIns="0" tIns="0" rIns="0" bIns="0" rtlCol="0" anchor="t"/>
          <a:lstStyle/>
          <a:p>
            <a:pPr indent="0" marL="0">
              <a:buNone/>
            </a:pPr>
            <a:r>
              <a:rPr lang="en-US" sz="1000" dirty="0">
                <a:solidFill>
                  <a:srgbClr val="3E5C76"/>
                </a:solidFill>
                <a:latin typeface="Calibri" pitchFamily="34" charset="0"/>
                <a:ea typeface="Calibri" pitchFamily="34" charset="-122"/>
                <a:cs typeface="Calibri" pitchFamily="34" charset="-120"/>
              </a:rPr>
              <a:t>Chapter 12–18 và case study 21–24. Đây chính là nội dung của bộ slide này.</a:t>
            </a:r>
            <a:endParaRPr lang="en-US" sz="1000" dirty="0"/>
          </a:p>
        </p:txBody>
      </p:sp>
      <p:sp>
        <p:nvSpPr>
          <p:cNvPr id="28" name="Shape 26"/>
          <p:cNvSpPr/>
          <p:nvPr/>
        </p:nvSpPr>
        <p:spPr>
          <a:xfrm>
            <a:off x="7589520" y="4114800"/>
            <a:ext cx="960120" cy="274320"/>
          </a:xfrm>
          <a:prstGeom prst="roundRect">
            <a:avLst>
              <a:gd name="adj" fmla="val 23333"/>
            </a:avLst>
          </a:prstGeom>
          <a:solidFill>
            <a:srgbClr val="0B2545"/>
          </a:solidFill>
          <a:ln w="12700">
            <a:solidFill>
              <a:srgbClr val="0B2545"/>
            </a:solidFill>
            <a:prstDash val="solid"/>
          </a:ln>
        </p:spPr>
      </p:sp>
      <p:sp>
        <p:nvSpPr>
          <p:cNvPr id="29" name="Text 27"/>
          <p:cNvSpPr/>
          <p:nvPr/>
        </p:nvSpPr>
        <p:spPr>
          <a:xfrm>
            <a:off x="7589520" y="4114800"/>
            <a:ext cx="9601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CLO4</a:t>
            </a:r>
            <a:endParaRPr lang="en-US" sz="900" dirty="0"/>
          </a:p>
        </p:txBody>
      </p:sp>
      <p:sp>
        <p:nvSpPr>
          <p:cNvPr id="30" name="Shape 28"/>
          <p:cNvSpPr/>
          <p:nvPr/>
        </p:nvSpPr>
        <p:spPr>
          <a:xfrm>
            <a:off x="502920" y="4736592"/>
            <a:ext cx="8229600" cy="749808"/>
          </a:xfrm>
          <a:prstGeom prst="roundRect">
            <a:avLst>
              <a:gd name="adj" fmla="val 9756"/>
            </a:avLst>
          </a:prstGeom>
          <a:solidFill>
            <a:srgbClr val="F1F5F9"/>
          </a:solidFill>
          <a:ln w="12700">
            <a:solidFill>
              <a:srgbClr val="DCE4EC"/>
            </a:solidFill>
            <a:prstDash val="solid"/>
          </a:ln>
        </p:spPr>
      </p:sp>
      <p:sp>
        <p:nvSpPr>
          <p:cNvPr id="31" name="Text 29"/>
          <p:cNvSpPr/>
          <p:nvPr/>
        </p:nvSpPr>
        <p:spPr>
          <a:xfrm>
            <a:off x="713232" y="4736592"/>
            <a:ext cx="1371600" cy="749808"/>
          </a:xfrm>
          <a:prstGeom prst="rect">
            <a:avLst/>
          </a:prstGeom>
          <a:noFill/>
          <a:ln/>
        </p:spPr>
        <p:txBody>
          <a:bodyPr wrap="square" lIns="0" tIns="0" rIns="0" bIns="0" rtlCol="0" anchor="ctr"/>
          <a:lstStyle/>
          <a:p>
            <a:pPr indent="0" marL="0">
              <a:buNone/>
            </a:pPr>
            <a:r>
              <a:rPr lang="en-US" sz="1050" b="1" dirty="0">
                <a:solidFill>
                  <a:srgbClr val="6B7A8F"/>
                </a:solidFill>
                <a:latin typeface="Calibri" pitchFamily="34" charset="0"/>
                <a:ea typeface="Calibri" pitchFamily="34" charset="-122"/>
                <a:cs typeface="Calibri" pitchFamily="34" charset="-120"/>
              </a:rPr>
              <a:t>Session 54–60</a:t>
            </a:r>
            <a:endParaRPr lang="en-US" sz="1050" dirty="0"/>
          </a:p>
        </p:txBody>
      </p:sp>
      <p:sp>
        <p:nvSpPr>
          <p:cNvPr id="32" name="Text 30"/>
          <p:cNvSpPr/>
          <p:nvPr/>
        </p:nvSpPr>
        <p:spPr>
          <a:xfrm>
            <a:off x="2148840" y="4809744"/>
            <a:ext cx="274320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Bảo vệ đồ án &amp; Ôn tập</a:t>
            </a:r>
            <a:endParaRPr lang="en-US" sz="1250" dirty="0"/>
          </a:p>
        </p:txBody>
      </p:sp>
      <p:sp>
        <p:nvSpPr>
          <p:cNvPr id="33" name="Text 31"/>
          <p:cNvSpPr/>
          <p:nvPr/>
        </p:nvSpPr>
        <p:spPr>
          <a:xfrm>
            <a:off x="2148840" y="5102352"/>
            <a:ext cx="5394960" cy="329184"/>
          </a:xfrm>
          <a:prstGeom prst="rect">
            <a:avLst/>
          </a:prstGeom>
          <a:noFill/>
          <a:ln/>
        </p:spPr>
        <p:txBody>
          <a:bodyPr wrap="square" lIns="0" tIns="0" rIns="0" bIns="0" rtlCol="0" anchor="t"/>
          <a:lstStyle/>
          <a:p>
            <a:pPr indent="0" marL="0">
              <a:buNone/>
            </a:pPr>
            <a:r>
              <a:rPr lang="en-US" sz="1000" dirty="0">
                <a:solidFill>
                  <a:srgbClr val="3E5C76"/>
                </a:solidFill>
                <a:latin typeface="Calibri" pitchFamily="34" charset="0"/>
                <a:ea typeface="Calibri" pitchFamily="34" charset="-122"/>
                <a:cs typeface="Calibri" pitchFamily="34" charset="-120"/>
              </a:rPr>
              <a:t>Progress test 3, Final Evaluation, Course Review.</a:t>
            </a:r>
            <a:endParaRPr lang="en-US" sz="1000" dirty="0"/>
          </a:p>
        </p:txBody>
      </p:sp>
      <p:sp>
        <p:nvSpPr>
          <p:cNvPr id="34" name="Shape 32"/>
          <p:cNvSpPr/>
          <p:nvPr/>
        </p:nvSpPr>
        <p:spPr>
          <a:xfrm>
            <a:off x="7589520" y="4974336"/>
            <a:ext cx="960120" cy="274320"/>
          </a:xfrm>
          <a:prstGeom prst="roundRect">
            <a:avLst>
              <a:gd name="adj" fmla="val 23333"/>
            </a:avLst>
          </a:prstGeom>
          <a:solidFill>
            <a:srgbClr val="6B7A8F"/>
          </a:solidFill>
          <a:ln w="12700">
            <a:solidFill>
              <a:srgbClr val="6B7A8F"/>
            </a:solidFill>
            <a:prstDash val="solid"/>
          </a:ln>
        </p:spPr>
      </p:sp>
      <p:sp>
        <p:nvSpPr>
          <p:cNvPr id="35" name="Text 33"/>
          <p:cNvSpPr/>
          <p:nvPr/>
        </p:nvSpPr>
        <p:spPr>
          <a:xfrm>
            <a:off x="7589520" y="4974336"/>
            <a:ext cx="9601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Tất cả CLO</a:t>
            </a:r>
            <a:endParaRPr lang="en-US" sz="900" dirty="0"/>
          </a:p>
        </p:txBody>
      </p:sp>
      <p:sp>
        <p:nvSpPr>
          <p:cNvPr id="36" name="Shape 34"/>
          <p:cNvSpPr/>
          <p:nvPr/>
        </p:nvSpPr>
        <p:spPr>
          <a:xfrm>
            <a:off x="8915400" y="1298448"/>
            <a:ext cx="2743200" cy="4023360"/>
          </a:xfrm>
          <a:prstGeom prst="roundRect">
            <a:avLst>
              <a:gd name="adj" fmla="val 2667"/>
            </a:avLst>
          </a:prstGeom>
          <a:solidFill>
            <a:srgbClr val="0B2545"/>
          </a:solidFill>
          <a:ln w="12700">
            <a:solidFill>
              <a:srgbClr val="0B2545"/>
            </a:solidFill>
            <a:prstDash val="solid"/>
          </a:ln>
        </p:spPr>
      </p:sp>
      <p:sp>
        <p:nvSpPr>
          <p:cNvPr id="37" name="Text 35"/>
          <p:cNvSpPr/>
          <p:nvPr/>
        </p:nvSpPr>
        <p:spPr>
          <a:xfrm>
            <a:off x="9098280" y="1408176"/>
            <a:ext cx="2377440" cy="292608"/>
          </a:xfrm>
          <a:prstGeom prst="rect">
            <a:avLst/>
          </a:prstGeom>
          <a:noFill/>
          <a:ln/>
        </p:spPr>
        <p:txBody>
          <a:bodyPr wrap="square" lIns="0" tIns="0" rIns="0" bIns="0" rtlCol="0" anchor="ctr"/>
          <a:lstStyle/>
          <a:p>
            <a:pPr indent="0" marL="0">
              <a:buNone/>
            </a:pPr>
            <a:r>
              <a:rPr lang="en-US" sz="1300" b="1" dirty="0">
                <a:solidFill>
                  <a:srgbClr val="E8A317"/>
                </a:solidFill>
                <a:latin typeface="Calibri" pitchFamily="34" charset="0"/>
                <a:ea typeface="Calibri" pitchFamily="34" charset="-122"/>
                <a:cs typeface="Calibri" pitchFamily="34" charset="-120"/>
              </a:rPr>
              <a:t>Kiến trúc bị hỏi ở đâu?</a:t>
            </a:r>
            <a:endParaRPr lang="en-US" sz="1300" dirty="0"/>
          </a:p>
        </p:txBody>
      </p:sp>
      <p:sp>
        <p:nvSpPr>
          <p:cNvPr id="38" name="Text 36"/>
          <p:cNvSpPr/>
          <p:nvPr/>
        </p:nvSpPr>
        <p:spPr>
          <a:xfrm>
            <a:off x="9098280" y="1810512"/>
            <a:ext cx="169164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Theory Exam</a:t>
            </a:r>
            <a:endParaRPr lang="en-US" sz="1150" dirty="0"/>
          </a:p>
        </p:txBody>
      </p:sp>
      <p:sp>
        <p:nvSpPr>
          <p:cNvPr id="39" name="Text 37"/>
          <p:cNvSpPr/>
          <p:nvPr/>
        </p:nvSpPr>
        <p:spPr>
          <a:xfrm>
            <a:off x="10698480" y="1810512"/>
            <a:ext cx="777240" cy="256032"/>
          </a:xfrm>
          <a:prstGeom prst="rect">
            <a:avLst/>
          </a:prstGeom>
          <a:noFill/>
          <a:ln/>
        </p:spPr>
        <p:txBody>
          <a:bodyPr wrap="square" lIns="0" tIns="0" rIns="0" bIns="0" rtlCol="0" anchor="ctr"/>
          <a:lstStyle/>
          <a:p>
            <a:pPr algn="r" indent="0" marL="0">
              <a:buNone/>
            </a:pPr>
            <a:r>
              <a:rPr lang="en-US" sz="1200" b="1" dirty="0">
                <a:solidFill>
                  <a:srgbClr val="E8A317"/>
                </a:solidFill>
                <a:latin typeface="Calibri" pitchFamily="34" charset="0"/>
                <a:ea typeface="Calibri" pitchFamily="34" charset="-122"/>
                <a:cs typeface="Calibri" pitchFamily="34" charset="-120"/>
              </a:rPr>
              <a:t>40%</a:t>
            </a:r>
            <a:endParaRPr lang="en-US" sz="1200" dirty="0"/>
          </a:p>
        </p:txBody>
      </p:sp>
      <p:sp>
        <p:nvSpPr>
          <p:cNvPr id="40" name="Text 38"/>
          <p:cNvSpPr/>
          <p:nvPr/>
        </p:nvSpPr>
        <p:spPr>
          <a:xfrm>
            <a:off x="9098280" y="2084832"/>
            <a:ext cx="2377440" cy="548640"/>
          </a:xfrm>
          <a:prstGeom prst="rect">
            <a:avLst/>
          </a:prstGeom>
          <a:noFill/>
          <a:ln/>
        </p:spPr>
        <p:txBody>
          <a:bodyPr wrap="square" lIns="0" tIns="0" rIns="0" bIns="0" rtlCol="0" anchor="t"/>
          <a:lstStyle/>
          <a:p>
            <a:pPr indent="0" marL="0">
              <a:lnSpc>
                <a:spcPct val="105000"/>
              </a:lnSpc>
              <a:buNone/>
            </a:pPr>
            <a:r>
              <a:rPr lang="en-US" sz="950" dirty="0">
                <a:solidFill>
                  <a:srgbClr val="C3D5E8"/>
                </a:solidFill>
                <a:latin typeface="Calibri" pitchFamily="34" charset="0"/>
                <a:ea typeface="Calibri" pitchFamily="34" charset="-122"/>
                <a:cs typeface="Calibri" pitchFamily="34" charset="-120"/>
              </a:rPr>
              <a:t>60 câu trắc nghiệm, 60 phút — kiến trúc chiếm phần lớn phần lý thuyết nửa sau.</a:t>
            </a:r>
            <a:endParaRPr lang="en-US" sz="950" dirty="0"/>
          </a:p>
        </p:txBody>
      </p:sp>
      <p:sp>
        <p:nvSpPr>
          <p:cNvPr id="41" name="Text 39"/>
          <p:cNvSpPr/>
          <p:nvPr/>
        </p:nvSpPr>
        <p:spPr>
          <a:xfrm>
            <a:off x="9098280" y="2679192"/>
            <a:ext cx="169164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Practical Exam</a:t>
            </a:r>
            <a:endParaRPr lang="en-US" sz="1150" dirty="0"/>
          </a:p>
        </p:txBody>
      </p:sp>
      <p:sp>
        <p:nvSpPr>
          <p:cNvPr id="42" name="Text 40"/>
          <p:cNvSpPr/>
          <p:nvPr/>
        </p:nvSpPr>
        <p:spPr>
          <a:xfrm>
            <a:off x="10698480" y="2679192"/>
            <a:ext cx="777240" cy="256032"/>
          </a:xfrm>
          <a:prstGeom prst="rect">
            <a:avLst/>
          </a:prstGeom>
          <a:noFill/>
          <a:ln/>
        </p:spPr>
        <p:txBody>
          <a:bodyPr wrap="square" lIns="0" tIns="0" rIns="0" bIns="0" rtlCol="0" anchor="ctr"/>
          <a:lstStyle/>
          <a:p>
            <a:pPr algn="r" indent="0" marL="0">
              <a:buNone/>
            </a:pPr>
            <a:r>
              <a:rPr lang="en-US" sz="1200" b="1" dirty="0">
                <a:solidFill>
                  <a:srgbClr val="E8A317"/>
                </a:solidFill>
                <a:latin typeface="Calibri" pitchFamily="34" charset="0"/>
                <a:ea typeface="Calibri" pitchFamily="34" charset="-122"/>
                <a:cs typeface="Calibri" pitchFamily="34" charset="-120"/>
              </a:rPr>
              <a:t>20%</a:t>
            </a:r>
            <a:endParaRPr lang="en-US" sz="1200" dirty="0"/>
          </a:p>
        </p:txBody>
      </p:sp>
      <p:sp>
        <p:nvSpPr>
          <p:cNvPr id="43" name="Text 41"/>
          <p:cNvSpPr/>
          <p:nvPr/>
        </p:nvSpPr>
        <p:spPr>
          <a:xfrm>
            <a:off x="9098280" y="2953512"/>
            <a:ext cx="2377440" cy="548640"/>
          </a:xfrm>
          <a:prstGeom prst="rect">
            <a:avLst/>
          </a:prstGeom>
          <a:noFill/>
          <a:ln/>
        </p:spPr>
        <p:txBody>
          <a:bodyPr wrap="square" lIns="0" tIns="0" rIns="0" bIns="0" rtlCol="0" anchor="t"/>
          <a:lstStyle/>
          <a:p>
            <a:pPr indent="0" marL="0">
              <a:lnSpc>
                <a:spcPct val="105000"/>
              </a:lnSpc>
              <a:buNone/>
            </a:pPr>
            <a:r>
              <a:rPr lang="en-US" sz="950" dirty="0">
                <a:solidFill>
                  <a:srgbClr val="C3D5E8"/>
                </a:solidFill>
                <a:latin typeface="Calibri" pitchFamily="34" charset="0"/>
                <a:ea typeface="Calibri" pitchFamily="34" charset="-122"/>
                <a:cs typeface="Calibri" pitchFamily="34" charset="-120"/>
              </a:rPr>
              <a:t>85 phút, phải chọn và dùng nhất quán một kiến trúc cho cả ba sơ đồ.</a:t>
            </a:r>
            <a:endParaRPr lang="en-US" sz="950" dirty="0"/>
          </a:p>
        </p:txBody>
      </p:sp>
      <p:sp>
        <p:nvSpPr>
          <p:cNvPr id="44" name="Text 42"/>
          <p:cNvSpPr/>
          <p:nvPr/>
        </p:nvSpPr>
        <p:spPr>
          <a:xfrm>
            <a:off x="9098280" y="3547872"/>
            <a:ext cx="169164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Progress Test</a:t>
            </a:r>
            <a:endParaRPr lang="en-US" sz="1150" dirty="0"/>
          </a:p>
        </p:txBody>
      </p:sp>
      <p:sp>
        <p:nvSpPr>
          <p:cNvPr id="45" name="Text 43"/>
          <p:cNvSpPr/>
          <p:nvPr/>
        </p:nvSpPr>
        <p:spPr>
          <a:xfrm>
            <a:off x="10698480" y="3547872"/>
            <a:ext cx="777240" cy="256032"/>
          </a:xfrm>
          <a:prstGeom prst="rect">
            <a:avLst/>
          </a:prstGeom>
          <a:noFill/>
          <a:ln/>
        </p:spPr>
        <p:txBody>
          <a:bodyPr wrap="square" lIns="0" tIns="0" rIns="0" bIns="0" rtlCol="0" anchor="ctr"/>
          <a:lstStyle/>
          <a:p>
            <a:pPr algn="r" indent="0" marL="0">
              <a:buNone/>
            </a:pPr>
            <a:r>
              <a:rPr lang="en-US" sz="1200" b="1" dirty="0">
                <a:solidFill>
                  <a:srgbClr val="E8A317"/>
                </a:solidFill>
                <a:latin typeface="Calibri" pitchFamily="34" charset="0"/>
                <a:ea typeface="Calibri" pitchFamily="34" charset="-122"/>
                <a:cs typeface="Calibri" pitchFamily="34" charset="-120"/>
              </a:rPr>
              <a:t>15%</a:t>
            </a:r>
            <a:endParaRPr lang="en-US" sz="1200" dirty="0"/>
          </a:p>
        </p:txBody>
      </p:sp>
      <p:sp>
        <p:nvSpPr>
          <p:cNvPr id="46" name="Text 44"/>
          <p:cNvSpPr/>
          <p:nvPr/>
        </p:nvSpPr>
        <p:spPr>
          <a:xfrm>
            <a:off x="9098280" y="3822192"/>
            <a:ext cx="2377440" cy="548640"/>
          </a:xfrm>
          <a:prstGeom prst="rect">
            <a:avLst/>
          </a:prstGeom>
          <a:noFill/>
          <a:ln/>
        </p:spPr>
        <p:txBody>
          <a:bodyPr wrap="square" lIns="0" tIns="0" rIns="0" bIns="0" rtlCol="0" anchor="t"/>
          <a:lstStyle/>
          <a:p>
            <a:pPr indent="0" marL="0">
              <a:lnSpc>
                <a:spcPct val="105000"/>
              </a:lnSpc>
              <a:buNone/>
            </a:pPr>
            <a:r>
              <a:rPr lang="en-US" sz="950" dirty="0">
                <a:solidFill>
                  <a:srgbClr val="C3D5E8"/>
                </a:solidFill>
                <a:latin typeface="Calibri" pitchFamily="34" charset="0"/>
                <a:ea typeface="Calibri" pitchFamily="34" charset="-122"/>
                <a:cs typeface="Calibri" pitchFamily="34" charset="-120"/>
              </a:rPr>
              <a:t>3 bài, mỗi bài 5%.</a:t>
            </a:r>
            <a:endParaRPr lang="en-US" sz="950" dirty="0"/>
          </a:p>
        </p:txBody>
      </p:sp>
      <p:sp>
        <p:nvSpPr>
          <p:cNvPr id="47" name="Text 45"/>
          <p:cNvSpPr/>
          <p:nvPr/>
        </p:nvSpPr>
        <p:spPr>
          <a:xfrm>
            <a:off x="9098280" y="4416552"/>
            <a:ext cx="169164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Course Project</a:t>
            </a:r>
            <a:endParaRPr lang="en-US" sz="1150" dirty="0"/>
          </a:p>
        </p:txBody>
      </p:sp>
      <p:sp>
        <p:nvSpPr>
          <p:cNvPr id="48" name="Text 46"/>
          <p:cNvSpPr/>
          <p:nvPr/>
        </p:nvSpPr>
        <p:spPr>
          <a:xfrm>
            <a:off x="10698480" y="4416552"/>
            <a:ext cx="777240" cy="256032"/>
          </a:xfrm>
          <a:prstGeom prst="rect">
            <a:avLst/>
          </a:prstGeom>
          <a:noFill/>
          <a:ln/>
        </p:spPr>
        <p:txBody>
          <a:bodyPr wrap="square" lIns="0" tIns="0" rIns="0" bIns="0" rtlCol="0" anchor="ctr"/>
          <a:lstStyle/>
          <a:p>
            <a:pPr algn="r" indent="0" marL="0">
              <a:buNone/>
            </a:pPr>
            <a:r>
              <a:rPr lang="en-US" sz="1200" b="1" dirty="0">
                <a:solidFill>
                  <a:srgbClr val="E8A317"/>
                </a:solidFill>
                <a:latin typeface="Calibri" pitchFamily="34" charset="0"/>
                <a:ea typeface="Calibri" pitchFamily="34" charset="-122"/>
                <a:cs typeface="Calibri" pitchFamily="34" charset="-120"/>
              </a:rPr>
              <a:t>25%*</a:t>
            </a:r>
            <a:endParaRPr lang="en-US" sz="1200" dirty="0"/>
          </a:p>
        </p:txBody>
      </p:sp>
      <p:sp>
        <p:nvSpPr>
          <p:cNvPr id="49" name="Text 47"/>
          <p:cNvSpPr/>
          <p:nvPr/>
        </p:nvSpPr>
        <p:spPr>
          <a:xfrm>
            <a:off x="9098280" y="4690872"/>
            <a:ext cx="2377440" cy="548640"/>
          </a:xfrm>
          <a:prstGeom prst="rect">
            <a:avLst/>
          </a:prstGeom>
          <a:noFill/>
          <a:ln/>
        </p:spPr>
        <p:txBody>
          <a:bodyPr wrap="square" lIns="0" tIns="0" rIns="0" bIns="0" rtlCol="0" anchor="t"/>
          <a:lstStyle/>
          <a:p>
            <a:pPr indent="0" marL="0">
              <a:lnSpc>
                <a:spcPct val="105000"/>
              </a:lnSpc>
              <a:buNone/>
            </a:pPr>
            <a:r>
              <a:rPr lang="en-US" sz="950" dirty="0">
                <a:solidFill>
                  <a:srgbClr val="C3D5E8"/>
                </a:solidFill>
                <a:latin typeface="Calibri" pitchFamily="34" charset="0"/>
                <a:ea typeface="Calibri" pitchFamily="34" charset="-122"/>
                <a:cs typeface="Calibri" pitchFamily="34" charset="-120"/>
              </a:rPr>
              <a:t>Evaluation 2 yêu cầu thiết kế kiến trúc và phân rã subsystem.</a:t>
            </a:r>
            <a:endParaRPr lang="en-US" sz="950" dirty="0"/>
          </a:p>
        </p:txBody>
      </p:sp>
      <p:sp>
        <p:nvSpPr>
          <p:cNvPr id="50" name="Text 48"/>
          <p:cNvSpPr/>
          <p:nvPr/>
        </p:nvSpPr>
        <p:spPr>
          <a:xfrm>
            <a:off x="9098280" y="5029200"/>
            <a:ext cx="2377440" cy="219456"/>
          </a:xfrm>
          <a:prstGeom prst="rect">
            <a:avLst/>
          </a:prstGeom>
          <a:noFill/>
          <a:ln/>
        </p:spPr>
        <p:txBody>
          <a:bodyPr wrap="square" lIns="0" tIns="0" rIns="0" bIns="0" rtlCol="0" anchor="ctr"/>
          <a:lstStyle/>
          <a:p>
            <a:pPr indent="0" marL="0">
              <a:buNone/>
            </a:pPr>
            <a:r>
              <a:rPr lang="en-US" sz="850" i="1" dirty="0">
                <a:solidFill>
                  <a:srgbClr val="8FA9C4"/>
                </a:solidFill>
                <a:latin typeface="Calibri" pitchFamily="34" charset="0"/>
                <a:ea typeface="Calibri" pitchFamily="34" charset="-122"/>
                <a:cs typeface="Calibri" pitchFamily="34" charset="-120"/>
              </a:rPr>
              <a:t>* Đồ án tính trong on-going assessment</a:t>
            </a:r>
            <a:endParaRPr lang="en-US" sz="850" dirty="0"/>
          </a:p>
        </p:txBody>
      </p:sp>
      <p:sp>
        <p:nvSpPr>
          <p:cNvPr id="51" name="Text 49"/>
          <p:cNvSpPr/>
          <p:nvPr/>
        </p:nvSpPr>
        <p:spPr>
          <a:xfrm>
            <a:off x="502920" y="5760720"/>
            <a:ext cx="11155680" cy="310896"/>
          </a:xfrm>
          <a:prstGeom prst="rect">
            <a:avLst/>
          </a:prstGeom>
          <a:noFill/>
          <a:ln/>
        </p:spPr>
        <p:txBody>
          <a:bodyPr wrap="square" lIns="0" tIns="0" rIns="0" bIns="0" rtlCol="0" anchor="ctr"/>
          <a:lstStyle/>
          <a:p>
            <a:pPr algn="ctr" indent="0" marL="0">
              <a:buNone/>
            </a:pPr>
            <a:r>
              <a:rPr lang="en-US" sz="1200" i="1" dirty="0">
                <a:solidFill>
                  <a:srgbClr val="12726B"/>
                </a:solidFill>
                <a:latin typeface="Calibri" pitchFamily="34" charset="0"/>
                <a:ea typeface="Calibri" pitchFamily="34" charset="-122"/>
                <a:cs typeface="Calibri" pitchFamily="34" charset="-120"/>
              </a:rPr>
              <a:t>Kết luận: bỏ phần kiến trúc là bỏ khoảng một nửa số điểm của môn.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2</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Kiến trúc phần mềm là gì? (Chapter 12)</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Phân biệt cho rõ: kiến trúc ≠ thiết kế chi tiết ≠ code</a:t>
            </a:r>
            <a:endParaRPr lang="en-US" sz="1300" dirty="0"/>
          </a:p>
        </p:txBody>
      </p:sp>
      <p:sp>
        <p:nvSpPr>
          <p:cNvPr id="6" name="Shape 4"/>
          <p:cNvSpPr/>
          <p:nvPr/>
        </p:nvSpPr>
        <p:spPr>
          <a:xfrm>
            <a:off x="502920" y="1280160"/>
            <a:ext cx="11155680" cy="1051560"/>
          </a:xfrm>
          <a:prstGeom prst="roundRect">
            <a:avLst>
              <a:gd name="adj" fmla="val 6957"/>
            </a:avLst>
          </a:prstGeom>
          <a:solidFill>
            <a:srgbClr val="FDF2DA"/>
          </a:solidFill>
          <a:ln w="12700">
            <a:solidFill>
              <a:srgbClr val="E8A317"/>
            </a:solidFill>
            <a:prstDash val="solid"/>
          </a:ln>
        </p:spPr>
      </p:sp>
      <p:sp>
        <p:nvSpPr>
          <p:cNvPr id="7" name="Text 5"/>
          <p:cNvSpPr/>
          <p:nvPr/>
        </p:nvSpPr>
        <p:spPr>
          <a:xfrm>
            <a:off x="731520" y="1389888"/>
            <a:ext cx="10698480" cy="822960"/>
          </a:xfrm>
          <a:prstGeom prst="rect">
            <a:avLst/>
          </a:prstGeom>
          <a:noFill/>
          <a:ln/>
        </p:spPr>
        <p:txBody>
          <a:bodyPr wrap="square" lIns="0" tIns="0" rIns="0" bIns="0" rtlCol="0" anchor="ctr"/>
          <a:lstStyle/>
          <a:p>
            <a:pPr indent="0" marL="0">
              <a:lnSpc>
                <a:spcPct val="115000"/>
              </a:lnSpc>
              <a:buNone/>
            </a:pPr>
            <a:r>
              <a:rPr lang="en-US" sz="1350" b="1" dirty="0">
                <a:solidFill>
                  <a:srgbClr val="0B2545"/>
                </a:solidFill>
                <a:latin typeface="Calibri" pitchFamily="34" charset="0"/>
                <a:ea typeface="Calibri" pitchFamily="34" charset="-122"/>
                <a:cs typeface="Calibri" pitchFamily="34" charset="-120"/>
              </a:rPr>
              <a:t>ĐỊNH NGHĨA (Gomaa). </a:t>
            </a:r>
            <a:pPr indent="0" marL="0">
              <a:lnSpc>
                <a:spcPct val="115000"/>
              </a:lnSpc>
              <a:buNone/>
            </a:pPr>
            <a:r>
              <a:rPr lang="en-US" sz="1350" dirty="0">
                <a:solidFill>
                  <a:srgbClr val="13315C"/>
                </a:solidFill>
                <a:latin typeface="Calibri" pitchFamily="34" charset="0"/>
                <a:ea typeface="Calibri" pitchFamily="34" charset="-122"/>
                <a:cs typeface="Calibri" pitchFamily="34" charset="-120"/>
              </a:rPr>
              <a:t>Kiến trúc phần mềm mô tả </a:t>
            </a:r>
            <a:pPr indent="0" marL="0">
              <a:lnSpc>
                <a:spcPct val="115000"/>
              </a:lnSpc>
              <a:buNone/>
            </a:pPr>
            <a:r>
              <a:rPr lang="en-US" sz="1350" b="1" dirty="0">
                <a:solidFill>
                  <a:srgbClr val="B23A32"/>
                </a:solidFill>
                <a:latin typeface="Calibri" pitchFamily="34" charset="0"/>
                <a:ea typeface="Calibri" pitchFamily="34" charset="-122"/>
                <a:cs typeface="Calibri" pitchFamily="34" charset="-120"/>
              </a:rPr>
              <a:t>cấu trúc tổng thể của hệ thống ở mức trừu tượng cao</a:t>
            </a:r>
            <a:pPr indent="0" marL="0">
              <a:lnSpc>
                <a:spcPct val="115000"/>
              </a:lnSpc>
              <a:buNone/>
            </a:pPr>
            <a:r>
              <a:rPr lang="en-US" sz="1350" dirty="0">
                <a:solidFill>
                  <a:srgbClr val="13315C"/>
                </a:solidFill>
                <a:latin typeface="Calibri" pitchFamily="34" charset="0"/>
                <a:ea typeface="Calibri" pitchFamily="34" charset="-122"/>
                <a:cs typeface="Calibri" pitchFamily="34" charset="-120"/>
              </a:rPr>
              <a:t>: hệ thống gồm những </a:t>
            </a:r>
            <a:pPr indent="0" marL="0">
              <a:lnSpc>
                <a:spcPct val="115000"/>
              </a:lnSpc>
              <a:buNone/>
            </a:pPr>
            <a:r>
              <a:rPr lang="en-US" sz="1350" b="1" dirty="0">
                <a:solidFill>
                  <a:srgbClr val="13315C"/>
                </a:solidFill>
                <a:latin typeface="Calibri" pitchFamily="34" charset="0"/>
                <a:ea typeface="Calibri" pitchFamily="34" charset="-122"/>
                <a:cs typeface="Calibri" pitchFamily="34" charset="-120"/>
              </a:rPr>
              <a:t>thành phần (component) </a:t>
            </a:r>
            <a:pPr indent="0" marL="0">
              <a:lnSpc>
                <a:spcPct val="115000"/>
              </a:lnSpc>
              <a:buNone/>
            </a:pPr>
            <a:r>
              <a:rPr lang="en-US" sz="1350" dirty="0">
                <a:solidFill>
                  <a:srgbClr val="13315C"/>
                </a:solidFill>
                <a:latin typeface="Calibri" pitchFamily="34" charset="0"/>
                <a:ea typeface="Calibri" pitchFamily="34" charset="-122"/>
                <a:cs typeface="Calibri" pitchFamily="34" charset="-120"/>
              </a:rPr>
              <a:t>nào, mỗi thành phần đảm nhiệm gì, chúng </a:t>
            </a:r>
            <a:pPr indent="0" marL="0">
              <a:lnSpc>
                <a:spcPct val="115000"/>
              </a:lnSpc>
              <a:buNone/>
            </a:pPr>
            <a:r>
              <a:rPr lang="en-US" sz="1350" b="1" dirty="0">
                <a:solidFill>
                  <a:srgbClr val="13315C"/>
                </a:solidFill>
                <a:latin typeface="Calibri" pitchFamily="34" charset="0"/>
                <a:ea typeface="Calibri" pitchFamily="34" charset="-122"/>
                <a:cs typeface="Calibri" pitchFamily="34" charset="-120"/>
              </a:rPr>
              <a:t>giao tiếp với nhau ra sao</a:t>
            </a:r>
            <a:pPr indent="0" marL="0">
              <a:lnSpc>
                <a:spcPct val="115000"/>
              </a:lnSpc>
              <a:buNone/>
            </a:pPr>
            <a:r>
              <a:rPr lang="en-US" sz="1350" dirty="0">
                <a:solidFill>
                  <a:srgbClr val="13315C"/>
                </a:solidFill>
                <a:latin typeface="Calibri" pitchFamily="34" charset="0"/>
                <a:ea typeface="Calibri" pitchFamily="34" charset="-122"/>
                <a:cs typeface="Calibri" pitchFamily="34" charset="-120"/>
              </a:rPr>
              <a:t>, và các quyết định đó được đưa ra vì </a:t>
            </a:r>
            <a:pPr indent="0" marL="0">
              <a:lnSpc>
                <a:spcPct val="115000"/>
              </a:lnSpc>
              <a:buNone/>
            </a:pPr>
            <a:r>
              <a:rPr lang="en-US" sz="1350" b="1" dirty="0">
                <a:solidFill>
                  <a:srgbClr val="13315C"/>
                </a:solidFill>
                <a:latin typeface="Calibri" pitchFamily="34" charset="0"/>
                <a:ea typeface="Calibri" pitchFamily="34" charset="-122"/>
                <a:cs typeface="Calibri" pitchFamily="34" charset="-120"/>
              </a:rPr>
              <a:t>thuộc tính chất lượng nào</a:t>
            </a:r>
            <a:pPr indent="0" marL="0">
              <a:lnSpc>
                <a:spcPct val="115000"/>
              </a:lnSpc>
              <a:buNone/>
            </a:pPr>
            <a:r>
              <a:rPr lang="en-US" sz="1350" dirty="0">
                <a:solidFill>
                  <a:srgbClr val="13315C"/>
                </a:solidFill>
                <a:latin typeface="Calibri" pitchFamily="34" charset="0"/>
                <a:ea typeface="Calibri" pitchFamily="34" charset="-122"/>
                <a:cs typeface="Calibri" pitchFamily="34" charset="-120"/>
              </a:rPr>
              <a:t>.</a:t>
            </a:r>
            <a:endParaRPr lang="en-US" sz="1350" dirty="0"/>
          </a:p>
        </p:txBody>
      </p:sp>
      <p:sp>
        <p:nvSpPr>
          <p:cNvPr id="8" name="Shape 6"/>
          <p:cNvSpPr/>
          <p:nvPr/>
        </p:nvSpPr>
        <p:spPr>
          <a:xfrm>
            <a:off x="502920" y="2560320"/>
            <a:ext cx="11155680" cy="1097280"/>
          </a:xfrm>
          <a:prstGeom prst="roundRect">
            <a:avLst>
              <a:gd name="adj" fmla="val 6667"/>
            </a:avLst>
          </a:prstGeom>
          <a:solidFill>
            <a:srgbClr val="F1F5F9"/>
          </a:solidFill>
          <a:ln w="12700">
            <a:solidFill>
              <a:srgbClr val="0B2545"/>
            </a:solidFill>
            <a:prstDash val="solid"/>
          </a:ln>
        </p:spPr>
      </p:sp>
      <p:sp>
        <p:nvSpPr>
          <p:cNvPr id="9" name="Shape 7"/>
          <p:cNvSpPr/>
          <p:nvPr/>
        </p:nvSpPr>
        <p:spPr>
          <a:xfrm>
            <a:off x="713232" y="2724912"/>
            <a:ext cx="1965960" cy="329184"/>
          </a:xfrm>
          <a:prstGeom prst="roundRect">
            <a:avLst>
              <a:gd name="adj" fmla="val 19444"/>
            </a:avLst>
          </a:prstGeom>
          <a:solidFill>
            <a:srgbClr val="0B2545"/>
          </a:solidFill>
          <a:ln w="12700">
            <a:solidFill>
              <a:srgbClr val="0B2545"/>
            </a:solidFill>
            <a:prstDash val="solid"/>
          </a:ln>
        </p:spPr>
      </p:sp>
      <p:sp>
        <p:nvSpPr>
          <p:cNvPr id="10" name="Text 8"/>
          <p:cNvSpPr/>
          <p:nvPr/>
        </p:nvSpPr>
        <p:spPr>
          <a:xfrm>
            <a:off x="713232" y="2724912"/>
            <a:ext cx="196596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KIẾN TRÚC</a:t>
            </a:r>
            <a:endParaRPr lang="en-US" sz="900" dirty="0"/>
          </a:p>
        </p:txBody>
      </p:sp>
      <p:sp>
        <p:nvSpPr>
          <p:cNvPr id="11" name="Text 9"/>
          <p:cNvSpPr/>
          <p:nvPr/>
        </p:nvSpPr>
        <p:spPr>
          <a:xfrm>
            <a:off x="713232" y="3127248"/>
            <a:ext cx="1965960" cy="274320"/>
          </a:xfrm>
          <a:prstGeom prst="rect">
            <a:avLst/>
          </a:prstGeom>
          <a:noFill/>
          <a:ln/>
        </p:spPr>
        <p:txBody>
          <a:bodyPr wrap="square" lIns="0" tIns="0" rIns="0" bIns="0" rtlCol="0" anchor="ctr"/>
          <a:lstStyle/>
          <a:p>
            <a:pPr algn="ctr" indent="0" marL="0">
              <a:buNone/>
            </a:pPr>
            <a:r>
              <a:rPr lang="en-US" sz="1000" i="1" dirty="0">
                <a:solidFill>
                  <a:srgbClr val="6B7A8F"/>
                </a:solidFill>
                <a:latin typeface="Calibri" pitchFamily="34" charset="0"/>
                <a:ea typeface="Calibri" pitchFamily="34" charset="-122"/>
                <a:cs typeface="Calibri" pitchFamily="34" charset="-120"/>
              </a:rPr>
              <a:t>Mức hệ thống</a:t>
            </a:r>
            <a:endParaRPr lang="en-US" sz="1000" dirty="0"/>
          </a:p>
        </p:txBody>
      </p:sp>
      <p:sp>
        <p:nvSpPr>
          <p:cNvPr id="12" name="Text 10"/>
          <p:cNvSpPr/>
          <p:nvPr/>
        </p:nvSpPr>
        <p:spPr>
          <a:xfrm>
            <a:off x="2880360" y="2688336"/>
            <a:ext cx="4206240" cy="237744"/>
          </a:xfrm>
          <a:prstGeom prst="rect">
            <a:avLst/>
          </a:prstGeom>
          <a:noFill/>
          <a:ln/>
        </p:spPr>
        <p:txBody>
          <a:bodyPr wrap="square" lIns="0" tIns="0" rIns="0" bIns="0" rtlCol="0" anchor="ctr"/>
          <a:lstStyle/>
          <a:p>
            <a:pPr indent="0" marL="0">
              <a:buNone/>
            </a:pPr>
            <a:r>
              <a:rPr lang="en-US" sz="950" b="1" spc="50" kern="0" dirty="0">
                <a:solidFill>
                  <a:srgbClr val="6B7A8F"/>
                </a:solidFill>
                <a:latin typeface="Calibri" pitchFamily="34" charset="0"/>
                <a:ea typeface="Calibri" pitchFamily="34" charset="-122"/>
                <a:cs typeface="Calibri" pitchFamily="34" charset="-120"/>
              </a:rPr>
              <a:t>Câu hỏi điển hình</a:t>
            </a:r>
            <a:endParaRPr lang="en-US" sz="950" dirty="0"/>
          </a:p>
        </p:txBody>
      </p:sp>
      <p:sp>
        <p:nvSpPr>
          <p:cNvPr id="13" name="Text 11"/>
          <p:cNvSpPr/>
          <p:nvPr/>
        </p:nvSpPr>
        <p:spPr>
          <a:xfrm>
            <a:off x="2880360" y="2926080"/>
            <a:ext cx="4297680" cy="640080"/>
          </a:xfrm>
          <a:prstGeom prst="rect">
            <a:avLst/>
          </a:prstGeom>
          <a:noFill/>
          <a:ln/>
        </p:spPr>
        <p:txBody>
          <a:bodyPr wrap="square" lIns="0" tIns="0" rIns="0" bIns="0" rtlCol="0" anchor="t"/>
          <a:lstStyle/>
          <a:p>
            <a:pPr indent="0" marL="0">
              <a:lnSpc>
                <a:spcPct val="108000"/>
              </a:lnSpc>
              <a:buNone/>
            </a:pPr>
            <a:r>
              <a:rPr lang="en-US" sz="1100" dirty="0">
                <a:solidFill>
                  <a:srgbClr val="13315C"/>
                </a:solidFill>
                <a:latin typeface="Calibri" pitchFamily="34" charset="0"/>
                <a:ea typeface="Calibri" pitchFamily="34" charset="-122"/>
                <a:cs typeface="Calibri" pitchFamily="34" charset="-120"/>
              </a:rPr>
              <a:t>Chia hệ thống thành subsystem/service nào? Chúng nói chuyện đồng bộ hay bất đồng bộ? Dữ liệu đặt ở đâu?</a:t>
            </a:r>
            <a:endParaRPr lang="en-US" sz="1100" dirty="0"/>
          </a:p>
        </p:txBody>
      </p:sp>
      <p:sp>
        <p:nvSpPr>
          <p:cNvPr id="14" name="Text 12"/>
          <p:cNvSpPr/>
          <p:nvPr/>
        </p:nvSpPr>
        <p:spPr>
          <a:xfrm>
            <a:off x="7406640" y="2688336"/>
            <a:ext cx="4023360" cy="237744"/>
          </a:xfrm>
          <a:prstGeom prst="rect">
            <a:avLst/>
          </a:prstGeom>
          <a:noFill/>
          <a:ln/>
        </p:spPr>
        <p:txBody>
          <a:bodyPr wrap="square" lIns="0" tIns="0" rIns="0" bIns="0" rtlCol="0" anchor="ctr"/>
          <a:lstStyle/>
          <a:p>
            <a:pPr indent="0" marL="0">
              <a:buNone/>
            </a:pPr>
            <a:r>
              <a:rPr lang="en-US" sz="950" b="1" spc="50" kern="0" dirty="0">
                <a:solidFill>
                  <a:srgbClr val="6B7A8F"/>
                </a:solidFill>
                <a:latin typeface="Calibri" pitchFamily="34" charset="0"/>
                <a:ea typeface="Calibri" pitchFamily="34" charset="-122"/>
                <a:cs typeface="Calibri" pitchFamily="34" charset="-120"/>
              </a:rPr>
              <a:t>Chi phí thay đổi</a:t>
            </a:r>
            <a:endParaRPr lang="en-US" sz="950" dirty="0"/>
          </a:p>
        </p:txBody>
      </p:sp>
      <p:sp>
        <p:nvSpPr>
          <p:cNvPr id="15" name="Text 13"/>
          <p:cNvSpPr/>
          <p:nvPr/>
        </p:nvSpPr>
        <p:spPr>
          <a:xfrm>
            <a:off x="7406640" y="2926080"/>
            <a:ext cx="4069080" cy="640080"/>
          </a:xfrm>
          <a:prstGeom prst="rect">
            <a:avLst/>
          </a:prstGeom>
          <a:noFill/>
          <a:ln/>
        </p:spPr>
        <p:txBody>
          <a:bodyPr wrap="square" lIns="0" tIns="0" rIns="0" bIns="0" rtlCol="0" anchor="t"/>
          <a:lstStyle/>
          <a:p>
            <a:pPr indent="0" marL="0">
              <a:lnSpc>
                <a:spcPct val="108000"/>
              </a:lnSpc>
              <a:buNone/>
            </a:pPr>
            <a:r>
              <a:rPr lang="en-US" sz="1100" dirty="0">
                <a:solidFill>
                  <a:srgbClr val="3E5C76"/>
                </a:solidFill>
                <a:latin typeface="Calibri" pitchFamily="34" charset="0"/>
                <a:ea typeface="Calibri" pitchFamily="34" charset="-122"/>
                <a:cs typeface="Calibri" pitchFamily="34" charset="-120"/>
              </a:rPr>
              <a:t>Rất khó sửa về sau — đổi kiến trúc thường phải viết lại phần lớn hệ thống.</a:t>
            </a:r>
            <a:endParaRPr lang="en-US" sz="1100" dirty="0"/>
          </a:p>
        </p:txBody>
      </p:sp>
      <p:sp>
        <p:nvSpPr>
          <p:cNvPr id="16" name="Shape 14"/>
          <p:cNvSpPr/>
          <p:nvPr/>
        </p:nvSpPr>
        <p:spPr>
          <a:xfrm>
            <a:off x="502920" y="3767328"/>
            <a:ext cx="11155680" cy="1097280"/>
          </a:xfrm>
          <a:prstGeom prst="roundRect">
            <a:avLst>
              <a:gd name="adj" fmla="val 6667"/>
            </a:avLst>
          </a:prstGeom>
          <a:solidFill>
            <a:srgbClr val="FFFFFF"/>
          </a:solidFill>
          <a:ln w="12700">
            <a:solidFill>
              <a:srgbClr val="DCE4EC"/>
            </a:solidFill>
            <a:prstDash val="solid"/>
          </a:ln>
        </p:spPr>
      </p:sp>
      <p:sp>
        <p:nvSpPr>
          <p:cNvPr id="17" name="Shape 15"/>
          <p:cNvSpPr/>
          <p:nvPr/>
        </p:nvSpPr>
        <p:spPr>
          <a:xfrm>
            <a:off x="713232" y="3931920"/>
            <a:ext cx="1965960" cy="329184"/>
          </a:xfrm>
          <a:prstGeom prst="roundRect">
            <a:avLst>
              <a:gd name="adj" fmla="val 19444"/>
            </a:avLst>
          </a:prstGeom>
          <a:solidFill>
            <a:srgbClr val="12726B"/>
          </a:solidFill>
          <a:ln w="12700">
            <a:solidFill>
              <a:srgbClr val="12726B"/>
            </a:solidFill>
            <a:prstDash val="solid"/>
          </a:ln>
        </p:spPr>
      </p:sp>
      <p:sp>
        <p:nvSpPr>
          <p:cNvPr id="18" name="Text 16"/>
          <p:cNvSpPr/>
          <p:nvPr/>
        </p:nvSpPr>
        <p:spPr>
          <a:xfrm>
            <a:off x="713232" y="3931920"/>
            <a:ext cx="196596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THIẾT KẾ CHI TIẾT</a:t>
            </a:r>
            <a:endParaRPr lang="en-US" sz="900" dirty="0"/>
          </a:p>
        </p:txBody>
      </p:sp>
      <p:sp>
        <p:nvSpPr>
          <p:cNvPr id="19" name="Text 17"/>
          <p:cNvSpPr/>
          <p:nvPr/>
        </p:nvSpPr>
        <p:spPr>
          <a:xfrm>
            <a:off x="713232" y="4334256"/>
            <a:ext cx="1965960" cy="274320"/>
          </a:xfrm>
          <a:prstGeom prst="rect">
            <a:avLst/>
          </a:prstGeom>
          <a:noFill/>
          <a:ln/>
        </p:spPr>
        <p:txBody>
          <a:bodyPr wrap="square" lIns="0" tIns="0" rIns="0" bIns="0" rtlCol="0" anchor="ctr"/>
          <a:lstStyle/>
          <a:p>
            <a:pPr algn="ctr" indent="0" marL="0">
              <a:buNone/>
            </a:pPr>
            <a:r>
              <a:rPr lang="en-US" sz="1000" i="1" dirty="0">
                <a:solidFill>
                  <a:srgbClr val="6B7A8F"/>
                </a:solidFill>
                <a:latin typeface="Calibri" pitchFamily="34" charset="0"/>
                <a:ea typeface="Calibri" pitchFamily="34" charset="-122"/>
                <a:cs typeface="Calibri" pitchFamily="34" charset="-120"/>
              </a:rPr>
              <a:t>Mức lớp &amp; đối tượng</a:t>
            </a:r>
            <a:endParaRPr lang="en-US" sz="1000" dirty="0"/>
          </a:p>
        </p:txBody>
      </p:sp>
      <p:sp>
        <p:nvSpPr>
          <p:cNvPr id="20" name="Text 18"/>
          <p:cNvSpPr/>
          <p:nvPr/>
        </p:nvSpPr>
        <p:spPr>
          <a:xfrm>
            <a:off x="2880360" y="3895344"/>
            <a:ext cx="4206240" cy="237744"/>
          </a:xfrm>
          <a:prstGeom prst="rect">
            <a:avLst/>
          </a:prstGeom>
          <a:noFill/>
          <a:ln/>
        </p:spPr>
        <p:txBody>
          <a:bodyPr wrap="square" lIns="0" tIns="0" rIns="0" bIns="0" rtlCol="0" anchor="ctr"/>
          <a:lstStyle/>
          <a:p>
            <a:pPr indent="0" marL="0">
              <a:buNone/>
            </a:pPr>
            <a:r>
              <a:rPr lang="en-US" sz="950" b="1" spc="50" kern="0" dirty="0">
                <a:solidFill>
                  <a:srgbClr val="6B7A8F"/>
                </a:solidFill>
                <a:latin typeface="Calibri" pitchFamily="34" charset="0"/>
                <a:ea typeface="Calibri" pitchFamily="34" charset="-122"/>
                <a:cs typeface="Calibri" pitchFamily="34" charset="-120"/>
              </a:rPr>
              <a:t>Câu hỏi điển hình</a:t>
            </a:r>
            <a:endParaRPr lang="en-US" sz="950" dirty="0"/>
          </a:p>
        </p:txBody>
      </p:sp>
      <p:sp>
        <p:nvSpPr>
          <p:cNvPr id="21" name="Text 19"/>
          <p:cNvSpPr/>
          <p:nvPr/>
        </p:nvSpPr>
        <p:spPr>
          <a:xfrm>
            <a:off x="2880360" y="4133088"/>
            <a:ext cx="4297680" cy="640080"/>
          </a:xfrm>
          <a:prstGeom prst="rect">
            <a:avLst/>
          </a:prstGeom>
          <a:noFill/>
          <a:ln/>
        </p:spPr>
        <p:txBody>
          <a:bodyPr wrap="square" lIns="0" tIns="0" rIns="0" bIns="0" rtlCol="0" anchor="t"/>
          <a:lstStyle/>
          <a:p>
            <a:pPr indent="0" marL="0">
              <a:lnSpc>
                <a:spcPct val="108000"/>
              </a:lnSpc>
              <a:buNone/>
            </a:pPr>
            <a:r>
              <a:rPr lang="en-US" sz="1100" dirty="0">
                <a:solidFill>
                  <a:srgbClr val="13315C"/>
                </a:solidFill>
                <a:latin typeface="Calibri" pitchFamily="34" charset="0"/>
                <a:ea typeface="Calibri" pitchFamily="34" charset="-122"/>
                <a:cs typeface="Calibri" pitchFamily="34" charset="-120"/>
              </a:rPr>
              <a:t>Trong một subsystem có những lớp nào? Quan hệ ra sao? Áp dụng design pattern nào?</a:t>
            </a:r>
            <a:endParaRPr lang="en-US" sz="1100" dirty="0"/>
          </a:p>
        </p:txBody>
      </p:sp>
      <p:sp>
        <p:nvSpPr>
          <p:cNvPr id="22" name="Text 20"/>
          <p:cNvSpPr/>
          <p:nvPr/>
        </p:nvSpPr>
        <p:spPr>
          <a:xfrm>
            <a:off x="7406640" y="3895344"/>
            <a:ext cx="4023360" cy="237744"/>
          </a:xfrm>
          <a:prstGeom prst="rect">
            <a:avLst/>
          </a:prstGeom>
          <a:noFill/>
          <a:ln/>
        </p:spPr>
        <p:txBody>
          <a:bodyPr wrap="square" lIns="0" tIns="0" rIns="0" bIns="0" rtlCol="0" anchor="ctr"/>
          <a:lstStyle/>
          <a:p>
            <a:pPr indent="0" marL="0">
              <a:buNone/>
            </a:pPr>
            <a:r>
              <a:rPr lang="en-US" sz="950" b="1" spc="50" kern="0" dirty="0">
                <a:solidFill>
                  <a:srgbClr val="6B7A8F"/>
                </a:solidFill>
                <a:latin typeface="Calibri" pitchFamily="34" charset="0"/>
                <a:ea typeface="Calibri" pitchFamily="34" charset="-122"/>
                <a:cs typeface="Calibri" pitchFamily="34" charset="-120"/>
              </a:rPr>
              <a:t>Chi phí thay đổi</a:t>
            </a:r>
            <a:endParaRPr lang="en-US" sz="950" dirty="0"/>
          </a:p>
        </p:txBody>
      </p:sp>
      <p:sp>
        <p:nvSpPr>
          <p:cNvPr id="23" name="Text 21"/>
          <p:cNvSpPr/>
          <p:nvPr/>
        </p:nvSpPr>
        <p:spPr>
          <a:xfrm>
            <a:off x="7406640" y="4133088"/>
            <a:ext cx="4069080" cy="640080"/>
          </a:xfrm>
          <a:prstGeom prst="rect">
            <a:avLst/>
          </a:prstGeom>
          <a:noFill/>
          <a:ln/>
        </p:spPr>
        <p:txBody>
          <a:bodyPr wrap="square" lIns="0" tIns="0" rIns="0" bIns="0" rtlCol="0" anchor="t"/>
          <a:lstStyle/>
          <a:p>
            <a:pPr indent="0" marL="0">
              <a:lnSpc>
                <a:spcPct val="108000"/>
              </a:lnSpc>
              <a:buNone/>
            </a:pPr>
            <a:r>
              <a:rPr lang="en-US" sz="1100" dirty="0">
                <a:solidFill>
                  <a:srgbClr val="3E5C76"/>
                </a:solidFill>
                <a:latin typeface="Calibri" pitchFamily="34" charset="0"/>
                <a:ea typeface="Calibri" pitchFamily="34" charset="-122"/>
                <a:cs typeface="Calibri" pitchFamily="34" charset="-120"/>
              </a:rPr>
              <a:t>Sửa được với chi phí vừa phải — refactor trong phạm vi một module.</a:t>
            </a:r>
            <a:endParaRPr lang="en-US" sz="1100" dirty="0"/>
          </a:p>
        </p:txBody>
      </p:sp>
      <p:sp>
        <p:nvSpPr>
          <p:cNvPr id="24" name="Shape 22"/>
          <p:cNvSpPr/>
          <p:nvPr/>
        </p:nvSpPr>
        <p:spPr>
          <a:xfrm>
            <a:off x="502920" y="4974336"/>
            <a:ext cx="11155680" cy="1097280"/>
          </a:xfrm>
          <a:prstGeom prst="roundRect">
            <a:avLst>
              <a:gd name="adj" fmla="val 6667"/>
            </a:avLst>
          </a:prstGeom>
          <a:solidFill>
            <a:srgbClr val="FFFFFF"/>
          </a:solidFill>
          <a:ln w="12700">
            <a:solidFill>
              <a:srgbClr val="DCE4EC"/>
            </a:solidFill>
            <a:prstDash val="solid"/>
          </a:ln>
        </p:spPr>
      </p:sp>
      <p:sp>
        <p:nvSpPr>
          <p:cNvPr id="25" name="Shape 23"/>
          <p:cNvSpPr/>
          <p:nvPr/>
        </p:nvSpPr>
        <p:spPr>
          <a:xfrm>
            <a:off x="713232" y="5138928"/>
            <a:ext cx="1965960" cy="329184"/>
          </a:xfrm>
          <a:prstGeom prst="roundRect">
            <a:avLst>
              <a:gd name="adj" fmla="val 19444"/>
            </a:avLst>
          </a:prstGeom>
          <a:solidFill>
            <a:srgbClr val="3E5C76"/>
          </a:solidFill>
          <a:ln w="12700">
            <a:solidFill>
              <a:srgbClr val="3E5C76"/>
            </a:solidFill>
            <a:prstDash val="solid"/>
          </a:ln>
        </p:spPr>
      </p:sp>
      <p:sp>
        <p:nvSpPr>
          <p:cNvPr id="26" name="Text 24"/>
          <p:cNvSpPr/>
          <p:nvPr/>
        </p:nvSpPr>
        <p:spPr>
          <a:xfrm>
            <a:off x="713232" y="5138928"/>
            <a:ext cx="196596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HIỆN THỰC</a:t>
            </a:r>
            <a:endParaRPr lang="en-US" sz="900" dirty="0"/>
          </a:p>
        </p:txBody>
      </p:sp>
      <p:sp>
        <p:nvSpPr>
          <p:cNvPr id="27" name="Text 25"/>
          <p:cNvSpPr/>
          <p:nvPr/>
        </p:nvSpPr>
        <p:spPr>
          <a:xfrm>
            <a:off x="713232" y="5541264"/>
            <a:ext cx="1965960" cy="274320"/>
          </a:xfrm>
          <a:prstGeom prst="rect">
            <a:avLst/>
          </a:prstGeom>
          <a:noFill/>
          <a:ln/>
        </p:spPr>
        <p:txBody>
          <a:bodyPr wrap="square" lIns="0" tIns="0" rIns="0" bIns="0" rtlCol="0" anchor="ctr"/>
          <a:lstStyle/>
          <a:p>
            <a:pPr algn="ctr" indent="0" marL="0">
              <a:buNone/>
            </a:pPr>
            <a:r>
              <a:rPr lang="en-US" sz="1000" i="1" dirty="0">
                <a:solidFill>
                  <a:srgbClr val="6B7A8F"/>
                </a:solidFill>
                <a:latin typeface="Calibri" pitchFamily="34" charset="0"/>
                <a:ea typeface="Calibri" pitchFamily="34" charset="-122"/>
                <a:cs typeface="Calibri" pitchFamily="34" charset="-120"/>
              </a:rPr>
              <a:t>Mức mã nguồn</a:t>
            </a:r>
            <a:endParaRPr lang="en-US" sz="1000" dirty="0"/>
          </a:p>
        </p:txBody>
      </p:sp>
      <p:sp>
        <p:nvSpPr>
          <p:cNvPr id="28" name="Text 26"/>
          <p:cNvSpPr/>
          <p:nvPr/>
        </p:nvSpPr>
        <p:spPr>
          <a:xfrm>
            <a:off x="2880360" y="5102352"/>
            <a:ext cx="4206240" cy="237744"/>
          </a:xfrm>
          <a:prstGeom prst="rect">
            <a:avLst/>
          </a:prstGeom>
          <a:noFill/>
          <a:ln/>
        </p:spPr>
        <p:txBody>
          <a:bodyPr wrap="square" lIns="0" tIns="0" rIns="0" bIns="0" rtlCol="0" anchor="ctr"/>
          <a:lstStyle/>
          <a:p>
            <a:pPr indent="0" marL="0">
              <a:buNone/>
            </a:pPr>
            <a:r>
              <a:rPr lang="en-US" sz="950" b="1" spc="50" kern="0" dirty="0">
                <a:solidFill>
                  <a:srgbClr val="6B7A8F"/>
                </a:solidFill>
                <a:latin typeface="Calibri" pitchFamily="34" charset="0"/>
                <a:ea typeface="Calibri" pitchFamily="34" charset="-122"/>
                <a:cs typeface="Calibri" pitchFamily="34" charset="-120"/>
              </a:rPr>
              <a:t>Câu hỏi điển hình</a:t>
            </a:r>
            <a:endParaRPr lang="en-US" sz="950" dirty="0"/>
          </a:p>
        </p:txBody>
      </p:sp>
      <p:sp>
        <p:nvSpPr>
          <p:cNvPr id="29" name="Text 27"/>
          <p:cNvSpPr/>
          <p:nvPr/>
        </p:nvSpPr>
        <p:spPr>
          <a:xfrm>
            <a:off x="2880360" y="5340096"/>
            <a:ext cx="4297680" cy="640080"/>
          </a:xfrm>
          <a:prstGeom prst="rect">
            <a:avLst/>
          </a:prstGeom>
          <a:noFill/>
          <a:ln/>
        </p:spPr>
        <p:txBody>
          <a:bodyPr wrap="square" lIns="0" tIns="0" rIns="0" bIns="0" rtlCol="0" anchor="t"/>
          <a:lstStyle/>
          <a:p>
            <a:pPr indent="0" marL="0">
              <a:lnSpc>
                <a:spcPct val="108000"/>
              </a:lnSpc>
              <a:buNone/>
            </a:pPr>
            <a:r>
              <a:rPr lang="en-US" sz="1100" dirty="0">
                <a:solidFill>
                  <a:srgbClr val="13315C"/>
                </a:solidFill>
                <a:latin typeface="Calibri" pitchFamily="34" charset="0"/>
                <a:ea typeface="Calibri" pitchFamily="34" charset="-122"/>
                <a:cs typeface="Calibri" pitchFamily="34" charset="-120"/>
              </a:rPr>
              <a:t>Viết hàm thế nào, đặt tên biến ra sao, dùng thư viện gì.</a:t>
            </a:r>
            <a:endParaRPr lang="en-US" sz="1100" dirty="0"/>
          </a:p>
        </p:txBody>
      </p:sp>
      <p:sp>
        <p:nvSpPr>
          <p:cNvPr id="30" name="Text 28"/>
          <p:cNvSpPr/>
          <p:nvPr/>
        </p:nvSpPr>
        <p:spPr>
          <a:xfrm>
            <a:off x="7406640" y="5102352"/>
            <a:ext cx="4023360" cy="237744"/>
          </a:xfrm>
          <a:prstGeom prst="rect">
            <a:avLst/>
          </a:prstGeom>
          <a:noFill/>
          <a:ln/>
        </p:spPr>
        <p:txBody>
          <a:bodyPr wrap="square" lIns="0" tIns="0" rIns="0" bIns="0" rtlCol="0" anchor="ctr"/>
          <a:lstStyle/>
          <a:p>
            <a:pPr indent="0" marL="0">
              <a:buNone/>
            </a:pPr>
            <a:r>
              <a:rPr lang="en-US" sz="950" b="1" spc="50" kern="0" dirty="0">
                <a:solidFill>
                  <a:srgbClr val="6B7A8F"/>
                </a:solidFill>
                <a:latin typeface="Calibri" pitchFamily="34" charset="0"/>
                <a:ea typeface="Calibri" pitchFamily="34" charset="-122"/>
                <a:cs typeface="Calibri" pitchFamily="34" charset="-120"/>
              </a:rPr>
              <a:t>Chi phí thay đổi</a:t>
            </a:r>
            <a:endParaRPr lang="en-US" sz="950" dirty="0"/>
          </a:p>
        </p:txBody>
      </p:sp>
      <p:sp>
        <p:nvSpPr>
          <p:cNvPr id="31" name="Text 29"/>
          <p:cNvSpPr/>
          <p:nvPr/>
        </p:nvSpPr>
        <p:spPr>
          <a:xfrm>
            <a:off x="7406640" y="5340096"/>
            <a:ext cx="4069080" cy="640080"/>
          </a:xfrm>
          <a:prstGeom prst="rect">
            <a:avLst/>
          </a:prstGeom>
          <a:noFill/>
          <a:ln/>
        </p:spPr>
        <p:txBody>
          <a:bodyPr wrap="square" lIns="0" tIns="0" rIns="0" bIns="0" rtlCol="0" anchor="t"/>
          <a:lstStyle/>
          <a:p>
            <a:pPr indent="0" marL="0">
              <a:lnSpc>
                <a:spcPct val="108000"/>
              </a:lnSpc>
              <a:buNone/>
            </a:pPr>
            <a:r>
              <a:rPr lang="en-US" sz="1100" dirty="0">
                <a:solidFill>
                  <a:srgbClr val="3E5C76"/>
                </a:solidFill>
                <a:latin typeface="Calibri" pitchFamily="34" charset="0"/>
                <a:ea typeface="Calibri" pitchFamily="34" charset="-122"/>
                <a:cs typeface="Calibri" pitchFamily="34" charset="-120"/>
              </a:rPr>
              <a:t>Dễ sửa nhất — thường chỉ ảnh hưởng vài file.</a:t>
            </a:r>
            <a:endParaRPr lang="en-US" sz="1100" dirty="0"/>
          </a:p>
        </p:txBody>
      </p:sp>
      <p:sp>
        <p:nvSpPr>
          <p:cNvPr id="32" name="Text 30"/>
          <p:cNvSpPr/>
          <p:nvPr/>
        </p:nvSpPr>
        <p:spPr>
          <a:xfrm>
            <a:off x="502920" y="6217920"/>
            <a:ext cx="11155680" cy="310896"/>
          </a:xfrm>
          <a:prstGeom prst="rect">
            <a:avLst/>
          </a:prstGeom>
          <a:noFill/>
          <a:ln/>
        </p:spPr>
        <p:txBody>
          <a:bodyPr wrap="square" lIns="0" tIns="0" rIns="0" bIns="0" rtlCol="0" anchor="ctr"/>
          <a:lstStyle/>
          <a:p>
            <a:pPr algn="ctr" indent="0" marL="0">
              <a:buNone/>
            </a:pPr>
            <a:r>
              <a:rPr lang="en-US" sz="1150" i="1" dirty="0">
                <a:solidFill>
                  <a:srgbClr val="12726B"/>
                </a:solidFill>
                <a:latin typeface="Calibri" pitchFamily="34" charset="0"/>
                <a:ea typeface="Calibri" pitchFamily="34" charset="-122"/>
                <a:cs typeface="Calibri" pitchFamily="34" charset="-120"/>
              </a:rPr>
              <a:t>Nguyên tắc: kiến trúc là tập hợp những quyết định mà bạn muốn đúng ngay từ đầu, vì sửa sau rất đắt.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3</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Một kiến trúc, nhiều góc nhìn (Chapter 12)</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Không sơ đồ nào mô tả trọn vẹn kiến trúc — phải nhìn từ nhiều phía</a:t>
            </a:r>
            <a:endParaRPr lang="en-US" sz="1300" dirty="0"/>
          </a:p>
        </p:txBody>
      </p:sp>
      <p:sp>
        <p:nvSpPr>
          <p:cNvPr id="6" name="Shape 4"/>
          <p:cNvSpPr/>
          <p:nvPr/>
        </p:nvSpPr>
        <p:spPr>
          <a:xfrm>
            <a:off x="502920" y="1325880"/>
            <a:ext cx="3566160" cy="3200400"/>
          </a:xfrm>
          <a:prstGeom prst="roundRect">
            <a:avLst>
              <a:gd name="adj" fmla="val 2286"/>
            </a:avLst>
          </a:prstGeom>
          <a:solidFill>
            <a:srgbClr val="F1F5F9"/>
          </a:solidFill>
          <a:ln w="12700">
            <a:solidFill>
              <a:srgbClr val="DCE4EC"/>
            </a:solidFill>
            <a:prstDash val="solid"/>
          </a:ln>
        </p:spPr>
      </p:sp>
      <p:sp>
        <p:nvSpPr>
          <p:cNvPr id="7" name="Shape 5"/>
          <p:cNvSpPr/>
          <p:nvPr/>
        </p:nvSpPr>
        <p:spPr>
          <a:xfrm>
            <a:off x="731520" y="1508760"/>
            <a:ext cx="2194560" cy="310896"/>
          </a:xfrm>
          <a:prstGeom prst="roundRect">
            <a:avLst>
              <a:gd name="adj" fmla="val 20588"/>
            </a:avLst>
          </a:prstGeom>
          <a:solidFill>
            <a:srgbClr val="0B2545"/>
          </a:solidFill>
          <a:ln w="12700">
            <a:solidFill>
              <a:srgbClr val="0B2545"/>
            </a:solidFill>
            <a:prstDash val="solid"/>
          </a:ln>
        </p:spPr>
      </p:sp>
      <p:sp>
        <p:nvSpPr>
          <p:cNvPr id="8" name="Text 6"/>
          <p:cNvSpPr/>
          <p:nvPr/>
        </p:nvSpPr>
        <p:spPr>
          <a:xfrm>
            <a:off x="731520" y="1508760"/>
            <a:ext cx="219456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Structural View</a:t>
            </a:r>
            <a:endParaRPr lang="en-US" sz="900" dirty="0"/>
          </a:p>
        </p:txBody>
      </p:sp>
      <p:sp>
        <p:nvSpPr>
          <p:cNvPr id="9" name="Text 7"/>
          <p:cNvSpPr/>
          <p:nvPr/>
        </p:nvSpPr>
        <p:spPr>
          <a:xfrm>
            <a:off x="731520" y="1901952"/>
            <a:ext cx="3108960"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Góc nhìn cấu trúc</a:t>
            </a:r>
            <a:endParaRPr lang="en-US" sz="1400" dirty="0"/>
          </a:p>
        </p:txBody>
      </p:sp>
      <p:sp>
        <p:nvSpPr>
          <p:cNvPr id="10" name="Text 8"/>
          <p:cNvSpPr/>
          <p:nvPr/>
        </p:nvSpPr>
        <p:spPr>
          <a:xfrm>
            <a:off x="731520" y="2267712"/>
            <a:ext cx="3154680" cy="960120"/>
          </a:xfrm>
          <a:prstGeom prst="rect">
            <a:avLst/>
          </a:prstGeom>
          <a:noFill/>
          <a:ln/>
        </p:spPr>
        <p:txBody>
          <a:bodyPr wrap="square" lIns="0" tIns="0" rIns="0" bIns="0" rtlCol="0" anchor="t"/>
          <a:lstStyle/>
          <a:p>
            <a:pPr indent="0" marL="0">
              <a:lnSpc>
                <a:spcPct val="110000"/>
              </a:lnSpc>
              <a:buNone/>
            </a:pPr>
            <a:r>
              <a:rPr lang="en-US" sz="1150" dirty="0">
                <a:solidFill>
                  <a:srgbClr val="13315C"/>
                </a:solidFill>
                <a:latin typeface="Calibri" pitchFamily="34" charset="0"/>
                <a:ea typeface="Calibri" pitchFamily="34" charset="-122"/>
                <a:cs typeface="Calibri" pitchFamily="34" charset="-120"/>
              </a:rPr>
              <a:t>Hệ thống gồm những subsystem/component nào và liên kết tĩnh giữa chúng.</a:t>
            </a:r>
            <a:endParaRPr lang="en-US" sz="1150" dirty="0"/>
          </a:p>
        </p:txBody>
      </p:sp>
      <p:sp>
        <p:nvSpPr>
          <p:cNvPr id="11" name="Shape 9"/>
          <p:cNvSpPr/>
          <p:nvPr/>
        </p:nvSpPr>
        <p:spPr>
          <a:xfrm>
            <a:off x="731520" y="3337560"/>
            <a:ext cx="3154680" cy="960120"/>
          </a:xfrm>
          <a:prstGeom prst="rect">
            <a:avLst/>
          </a:prstGeom>
          <a:solidFill>
            <a:srgbClr val="FFFFFF"/>
          </a:solidFill>
          <a:ln w="12700">
            <a:solidFill>
              <a:srgbClr val="C9D6E2"/>
            </a:solidFill>
            <a:prstDash val="solid"/>
          </a:ln>
        </p:spPr>
      </p:sp>
      <p:sp>
        <p:nvSpPr>
          <p:cNvPr id="12" name="Text 10"/>
          <p:cNvSpPr/>
          <p:nvPr/>
        </p:nvSpPr>
        <p:spPr>
          <a:xfrm>
            <a:off x="822960" y="3401568"/>
            <a:ext cx="2971800" cy="237744"/>
          </a:xfrm>
          <a:prstGeom prst="rect">
            <a:avLst/>
          </a:prstGeom>
          <a:noFill/>
          <a:ln/>
        </p:spPr>
        <p:txBody>
          <a:bodyPr wrap="square" lIns="0" tIns="0" rIns="0" bIns="0" rtlCol="0" anchor="ctr"/>
          <a:lstStyle/>
          <a:p>
            <a:pPr indent="0" marL="0">
              <a:buNone/>
            </a:pPr>
            <a:r>
              <a:rPr lang="en-US" sz="950" b="1" dirty="0">
                <a:solidFill>
                  <a:srgbClr val="6B7A8F"/>
                </a:solidFill>
                <a:latin typeface="Calibri" pitchFamily="34" charset="0"/>
                <a:ea typeface="Calibri" pitchFamily="34" charset="-122"/>
                <a:cs typeface="Calibri" pitchFamily="34" charset="-120"/>
              </a:rPr>
              <a:t>Sơ đồ thường dùng</a:t>
            </a:r>
            <a:endParaRPr lang="en-US" sz="950" dirty="0"/>
          </a:p>
        </p:txBody>
      </p:sp>
      <p:sp>
        <p:nvSpPr>
          <p:cNvPr id="13" name="Text 11"/>
          <p:cNvSpPr/>
          <p:nvPr/>
        </p:nvSpPr>
        <p:spPr>
          <a:xfrm>
            <a:off x="822960" y="3639312"/>
            <a:ext cx="2971800" cy="594360"/>
          </a:xfrm>
          <a:prstGeom prst="rect">
            <a:avLst/>
          </a:prstGeom>
          <a:noFill/>
          <a:ln/>
        </p:spPr>
        <p:txBody>
          <a:bodyPr wrap="square" lIns="0" tIns="0" rIns="0" bIns="0" rtlCol="0" anchor="t"/>
          <a:lstStyle/>
          <a:p>
            <a:pPr indent="0" marL="0">
              <a:lnSpc>
                <a:spcPct val="110000"/>
              </a:lnSpc>
              <a:buNone/>
            </a:pPr>
            <a:r>
              <a:rPr lang="en-US" sz="1050" dirty="0">
                <a:solidFill>
                  <a:srgbClr val="3E5C76"/>
                </a:solidFill>
                <a:latin typeface="Calibri" pitchFamily="34" charset="0"/>
                <a:ea typeface="Calibri" pitchFamily="34" charset="-122"/>
                <a:cs typeface="Calibri" pitchFamily="34" charset="-120"/>
              </a:rPr>
              <a:t>Class diagram · Component diagram · Sơ đồ phân tầng</a:t>
            </a:r>
            <a:endParaRPr lang="en-US" sz="1050" dirty="0"/>
          </a:p>
        </p:txBody>
      </p:sp>
      <p:sp>
        <p:nvSpPr>
          <p:cNvPr id="14" name="Shape 12"/>
          <p:cNvSpPr/>
          <p:nvPr/>
        </p:nvSpPr>
        <p:spPr>
          <a:xfrm>
            <a:off x="4297680" y="1325880"/>
            <a:ext cx="3566160" cy="3200400"/>
          </a:xfrm>
          <a:prstGeom prst="roundRect">
            <a:avLst>
              <a:gd name="adj" fmla="val 2286"/>
            </a:avLst>
          </a:prstGeom>
          <a:solidFill>
            <a:srgbClr val="FDF2DA"/>
          </a:solidFill>
          <a:ln w="12700">
            <a:solidFill>
              <a:srgbClr val="E8A317"/>
            </a:solidFill>
            <a:prstDash val="solid"/>
          </a:ln>
        </p:spPr>
      </p:sp>
      <p:sp>
        <p:nvSpPr>
          <p:cNvPr id="15" name="Shape 13"/>
          <p:cNvSpPr/>
          <p:nvPr/>
        </p:nvSpPr>
        <p:spPr>
          <a:xfrm>
            <a:off x="4526280" y="1508760"/>
            <a:ext cx="2194560" cy="310896"/>
          </a:xfrm>
          <a:prstGeom prst="roundRect">
            <a:avLst>
              <a:gd name="adj" fmla="val 20588"/>
            </a:avLst>
          </a:prstGeom>
          <a:solidFill>
            <a:srgbClr val="E8A317"/>
          </a:solidFill>
          <a:ln w="12700">
            <a:solidFill>
              <a:srgbClr val="E8A317"/>
            </a:solidFill>
            <a:prstDash val="solid"/>
          </a:ln>
        </p:spPr>
      </p:sp>
      <p:sp>
        <p:nvSpPr>
          <p:cNvPr id="16" name="Text 14"/>
          <p:cNvSpPr/>
          <p:nvPr/>
        </p:nvSpPr>
        <p:spPr>
          <a:xfrm>
            <a:off x="4526280" y="1508760"/>
            <a:ext cx="2194560" cy="310896"/>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Dynamic View</a:t>
            </a:r>
            <a:endParaRPr lang="en-US" sz="900" dirty="0"/>
          </a:p>
        </p:txBody>
      </p:sp>
      <p:sp>
        <p:nvSpPr>
          <p:cNvPr id="17" name="Text 15"/>
          <p:cNvSpPr/>
          <p:nvPr/>
        </p:nvSpPr>
        <p:spPr>
          <a:xfrm>
            <a:off x="4526280" y="1901952"/>
            <a:ext cx="3108960"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Góc nhìn động</a:t>
            </a:r>
            <a:endParaRPr lang="en-US" sz="1400" dirty="0"/>
          </a:p>
        </p:txBody>
      </p:sp>
      <p:sp>
        <p:nvSpPr>
          <p:cNvPr id="18" name="Text 16"/>
          <p:cNvSpPr/>
          <p:nvPr/>
        </p:nvSpPr>
        <p:spPr>
          <a:xfrm>
            <a:off x="4526280" y="2267712"/>
            <a:ext cx="3154680" cy="960120"/>
          </a:xfrm>
          <a:prstGeom prst="rect">
            <a:avLst/>
          </a:prstGeom>
          <a:noFill/>
          <a:ln/>
        </p:spPr>
        <p:txBody>
          <a:bodyPr wrap="square" lIns="0" tIns="0" rIns="0" bIns="0" rtlCol="0" anchor="t"/>
          <a:lstStyle/>
          <a:p>
            <a:pPr indent="0" marL="0">
              <a:lnSpc>
                <a:spcPct val="110000"/>
              </a:lnSpc>
              <a:buNone/>
            </a:pPr>
            <a:r>
              <a:rPr lang="en-US" sz="1150" dirty="0">
                <a:solidFill>
                  <a:srgbClr val="13315C"/>
                </a:solidFill>
                <a:latin typeface="Calibri" pitchFamily="34" charset="0"/>
                <a:ea typeface="Calibri" pitchFamily="34" charset="-122"/>
                <a:cs typeface="Calibri" pitchFamily="34" charset="-120"/>
              </a:rPr>
              <a:t>Các thành phần tương tác ra sao khi hệ thống chạy: ai gọi ai, theo thứ tự nào.</a:t>
            </a:r>
            <a:endParaRPr lang="en-US" sz="1150" dirty="0"/>
          </a:p>
        </p:txBody>
      </p:sp>
      <p:sp>
        <p:nvSpPr>
          <p:cNvPr id="19" name="Shape 17"/>
          <p:cNvSpPr/>
          <p:nvPr/>
        </p:nvSpPr>
        <p:spPr>
          <a:xfrm>
            <a:off x="4526280" y="3337560"/>
            <a:ext cx="3154680" cy="960120"/>
          </a:xfrm>
          <a:prstGeom prst="rect">
            <a:avLst/>
          </a:prstGeom>
          <a:solidFill>
            <a:srgbClr val="FFFFFF"/>
          </a:solidFill>
          <a:ln w="12700">
            <a:solidFill>
              <a:srgbClr val="C9D6E2"/>
            </a:solidFill>
            <a:prstDash val="solid"/>
          </a:ln>
        </p:spPr>
      </p:sp>
      <p:sp>
        <p:nvSpPr>
          <p:cNvPr id="20" name="Text 18"/>
          <p:cNvSpPr/>
          <p:nvPr/>
        </p:nvSpPr>
        <p:spPr>
          <a:xfrm>
            <a:off x="4617720" y="3401568"/>
            <a:ext cx="2971800" cy="237744"/>
          </a:xfrm>
          <a:prstGeom prst="rect">
            <a:avLst/>
          </a:prstGeom>
          <a:noFill/>
          <a:ln/>
        </p:spPr>
        <p:txBody>
          <a:bodyPr wrap="square" lIns="0" tIns="0" rIns="0" bIns="0" rtlCol="0" anchor="ctr"/>
          <a:lstStyle/>
          <a:p>
            <a:pPr indent="0" marL="0">
              <a:buNone/>
            </a:pPr>
            <a:r>
              <a:rPr lang="en-US" sz="950" b="1" dirty="0">
                <a:solidFill>
                  <a:srgbClr val="6B7A8F"/>
                </a:solidFill>
                <a:latin typeface="Calibri" pitchFamily="34" charset="0"/>
                <a:ea typeface="Calibri" pitchFamily="34" charset="-122"/>
                <a:cs typeface="Calibri" pitchFamily="34" charset="-120"/>
              </a:rPr>
              <a:t>Sơ đồ thường dùng</a:t>
            </a:r>
            <a:endParaRPr lang="en-US" sz="950" dirty="0"/>
          </a:p>
        </p:txBody>
      </p:sp>
      <p:sp>
        <p:nvSpPr>
          <p:cNvPr id="21" name="Text 19"/>
          <p:cNvSpPr/>
          <p:nvPr/>
        </p:nvSpPr>
        <p:spPr>
          <a:xfrm>
            <a:off x="4617720" y="3639312"/>
            <a:ext cx="2971800" cy="594360"/>
          </a:xfrm>
          <a:prstGeom prst="rect">
            <a:avLst/>
          </a:prstGeom>
          <a:noFill/>
          <a:ln/>
        </p:spPr>
        <p:txBody>
          <a:bodyPr wrap="square" lIns="0" tIns="0" rIns="0" bIns="0" rtlCol="0" anchor="t"/>
          <a:lstStyle/>
          <a:p>
            <a:pPr indent="0" marL="0">
              <a:lnSpc>
                <a:spcPct val="110000"/>
              </a:lnSpc>
              <a:buNone/>
            </a:pPr>
            <a:r>
              <a:rPr lang="en-US" sz="1050" dirty="0">
                <a:solidFill>
                  <a:srgbClr val="3E5C76"/>
                </a:solidFill>
                <a:latin typeface="Calibri" pitchFamily="34" charset="0"/>
                <a:ea typeface="Calibri" pitchFamily="34" charset="-122"/>
                <a:cs typeface="Calibri" pitchFamily="34" charset="-120"/>
              </a:rPr>
              <a:t>Sequence diagram · Communication diagram · Statechart</a:t>
            </a:r>
            <a:endParaRPr lang="en-US" sz="1050" dirty="0"/>
          </a:p>
        </p:txBody>
      </p:sp>
      <p:sp>
        <p:nvSpPr>
          <p:cNvPr id="22" name="Shape 20"/>
          <p:cNvSpPr/>
          <p:nvPr/>
        </p:nvSpPr>
        <p:spPr>
          <a:xfrm>
            <a:off x="8092440" y="1325880"/>
            <a:ext cx="3566160" cy="3200400"/>
          </a:xfrm>
          <a:prstGeom prst="roundRect">
            <a:avLst>
              <a:gd name="adj" fmla="val 2286"/>
            </a:avLst>
          </a:prstGeom>
          <a:solidFill>
            <a:srgbClr val="F1F5F9"/>
          </a:solidFill>
          <a:ln w="12700">
            <a:solidFill>
              <a:srgbClr val="DCE4EC"/>
            </a:solidFill>
            <a:prstDash val="solid"/>
          </a:ln>
        </p:spPr>
      </p:sp>
      <p:sp>
        <p:nvSpPr>
          <p:cNvPr id="23" name="Shape 21"/>
          <p:cNvSpPr/>
          <p:nvPr/>
        </p:nvSpPr>
        <p:spPr>
          <a:xfrm>
            <a:off x="8321040" y="1508760"/>
            <a:ext cx="2194560" cy="310896"/>
          </a:xfrm>
          <a:prstGeom prst="roundRect">
            <a:avLst>
              <a:gd name="adj" fmla="val 20588"/>
            </a:avLst>
          </a:prstGeom>
          <a:solidFill>
            <a:srgbClr val="12726B"/>
          </a:solidFill>
          <a:ln w="12700">
            <a:solidFill>
              <a:srgbClr val="12726B"/>
            </a:solidFill>
            <a:prstDash val="solid"/>
          </a:ln>
        </p:spPr>
      </p:sp>
      <p:sp>
        <p:nvSpPr>
          <p:cNvPr id="24" name="Text 22"/>
          <p:cNvSpPr/>
          <p:nvPr/>
        </p:nvSpPr>
        <p:spPr>
          <a:xfrm>
            <a:off x="8321040" y="1508760"/>
            <a:ext cx="219456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Deployment View</a:t>
            </a:r>
            <a:endParaRPr lang="en-US" sz="900" dirty="0"/>
          </a:p>
        </p:txBody>
      </p:sp>
      <p:sp>
        <p:nvSpPr>
          <p:cNvPr id="25" name="Text 23"/>
          <p:cNvSpPr/>
          <p:nvPr/>
        </p:nvSpPr>
        <p:spPr>
          <a:xfrm>
            <a:off x="8321040" y="1901952"/>
            <a:ext cx="3108960"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Góc nhìn triển khai</a:t>
            </a:r>
            <a:endParaRPr lang="en-US" sz="1400" dirty="0"/>
          </a:p>
        </p:txBody>
      </p:sp>
      <p:sp>
        <p:nvSpPr>
          <p:cNvPr id="26" name="Text 24"/>
          <p:cNvSpPr/>
          <p:nvPr/>
        </p:nvSpPr>
        <p:spPr>
          <a:xfrm>
            <a:off x="8321040" y="2267712"/>
            <a:ext cx="3154680" cy="960120"/>
          </a:xfrm>
          <a:prstGeom prst="rect">
            <a:avLst/>
          </a:prstGeom>
          <a:noFill/>
          <a:ln/>
        </p:spPr>
        <p:txBody>
          <a:bodyPr wrap="square" lIns="0" tIns="0" rIns="0" bIns="0" rtlCol="0" anchor="t"/>
          <a:lstStyle/>
          <a:p>
            <a:pPr indent="0" marL="0">
              <a:lnSpc>
                <a:spcPct val="110000"/>
              </a:lnSpc>
              <a:buNone/>
            </a:pPr>
            <a:r>
              <a:rPr lang="en-US" sz="1150" dirty="0">
                <a:solidFill>
                  <a:srgbClr val="13315C"/>
                </a:solidFill>
                <a:latin typeface="Calibri" pitchFamily="34" charset="0"/>
                <a:ea typeface="Calibri" pitchFamily="34" charset="-122"/>
                <a:cs typeface="Calibri" pitchFamily="34" charset="-120"/>
              </a:rPr>
              <a:t>Phần mềm chạy trên máy nào, node nào, mạng nào. Rất quan trọng với Client/Server và Microservices.</a:t>
            </a:r>
            <a:endParaRPr lang="en-US" sz="1150" dirty="0"/>
          </a:p>
        </p:txBody>
      </p:sp>
      <p:sp>
        <p:nvSpPr>
          <p:cNvPr id="27" name="Shape 25"/>
          <p:cNvSpPr/>
          <p:nvPr/>
        </p:nvSpPr>
        <p:spPr>
          <a:xfrm>
            <a:off x="8321040" y="3337560"/>
            <a:ext cx="3154680" cy="960120"/>
          </a:xfrm>
          <a:prstGeom prst="rect">
            <a:avLst/>
          </a:prstGeom>
          <a:solidFill>
            <a:srgbClr val="FFFFFF"/>
          </a:solidFill>
          <a:ln w="12700">
            <a:solidFill>
              <a:srgbClr val="C9D6E2"/>
            </a:solidFill>
            <a:prstDash val="solid"/>
          </a:ln>
        </p:spPr>
      </p:sp>
      <p:sp>
        <p:nvSpPr>
          <p:cNvPr id="28" name="Text 26"/>
          <p:cNvSpPr/>
          <p:nvPr/>
        </p:nvSpPr>
        <p:spPr>
          <a:xfrm>
            <a:off x="8412480" y="3401568"/>
            <a:ext cx="2971800" cy="237744"/>
          </a:xfrm>
          <a:prstGeom prst="rect">
            <a:avLst/>
          </a:prstGeom>
          <a:noFill/>
          <a:ln/>
        </p:spPr>
        <p:txBody>
          <a:bodyPr wrap="square" lIns="0" tIns="0" rIns="0" bIns="0" rtlCol="0" anchor="ctr"/>
          <a:lstStyle/>
          <a:p>
            <a:pPr indent="0" marL="0">
              <a:buNone/>
            </a:pPr>
            <a:r>
              <a:rPr lang="en-US" sz="950" b="1" dirty="0">
                <a:solidFill>
                  <a:srgbClr val="6B7A8F"/>
                </a:solidFill>
                <a:latin typeface="Calibri" pitchFamily="34" charset="0"/>
                <a:ea typeface="Calibri" pitchFamily="34" charset="-122"/>
                <a:cs typeface="Calibri" pitchFamily="34" charset="-120"/>
              </a:rPr>
              <a:t>Sơ đồ thường dùng</a:t>
            </a:r>
            <a:endParaRPr lang="en-US" sz="950" dirty="0"/>
          </a:p>
        </p:txBody>
      </p:sp>
      <p:sp>
        <p:nvSpPr>
          <p:cNvPr id="29" name="Text 27"/>
          <p:cNvSpPr/>
          <p:nvPr/>
        </p:nvSpPr>
        <p:spPr>
          <a:xfrm>
            <a:off x="8412480" y="3639312"/>
            <a:ext cx="2971800" cy="594360"/>
          </a:xfrm>
          <a:prstGeom prst="rect">
            <a:avLst/>
          </a:prstGeom>
          <a:noFill/>
          <a:ln/>
        </p:spPr>
        <p:txBody>
          <a:bodyPr wrap="square" lIns="0" tIns="0" rIns="0" bIns="0" rtlCol="0" anchor="t"/>
          <a:lstStyle/>
          <a:p>
            <a:pPr indent="0" marL="0">
              <a:lnSpc>
                <a:spcPct val="110000"/>
              </a:lnSpc>
              <a:buNone/>
            </a:pPr>
            <a:r>
              <a:rPr lang="en-US" sz="1050" dirty="0">
                <a:solidFill>
                  <a:srgbClr val="3E5C76"/>
                </a:solidFill>
                <a:latin typeface="Calibri" pitchFamily="34" charset="0"/>
                <a:ea typeface="Calibri" pitchFamily="34" charset="-122"/>
                <a:cs typeface="Calibri" pitchFamily="34" charset="-120"/>
              </a:rPr>
              <a:t>Deployment diagram</a:t>
            </a:r>
            <a:endParaRPr lang="en-US" sz="1050" dirty="0"/>
          </a:p>
        </p:txBody>
      </p:sp>
      <p:sp>
        <p:nvSpPr>
          <p:cNvPr id="30" name="Shape 28"/>
          <p:cNvSpPr/>
          <p:nvPr/>
        </p:nvSpPr>
        <p:spPr>
          <a:xfrm>
            <a:off x="502920" y="4709160"/>
            <a:ext cx="11155680" cy="1554480"/>
          </a:xfrm>
          <a:prstGeom prst="roundRect">
            <a:avLst>
              <a:gd name="adj" fmla="val 4706"/>
            </a:avLst>
          </a:prstGeom>
          <a:solidFill>
            <a:srgbClr val="F1F5F9"/>
          </a:solidFill>
          <a:ln w="12700">
            <a:solidFill>
              <a:srgbClr val="DCE4EC"/>
            </a:solidFill>
            <a:prstDash val="solid"/>
          </a:ln>
        </p:spPr>
      </p:sp>
      <p:sp>
        <p:nvSpPr>
          <p:cNvPr id="31" name="Text 29"/>
          <p:cNvSpPr/>
          <p:nvPr/>
        </p:nvSpPr>
        <p:spPr>
          <a:xfrm>
            <a:off x="731520" y="4809744"/>
            <a:ext cx="5486400" cy="274320"/>
          </a:xfrm>
          <a:prstGeom prst="rect">
            <a:avLst/>
          </a:prstGeom>
          <a:noFill/>
          <a:ln/>
        </p:spPr>
        <p:txBody>
          <a:bodyPr wrap="square" lIns="0" tIns="0" rIns="0" bIns="0" rtlCol="0" anchor="ctr"/>
          <a:lstStyle/>
          <a:p>
            <a:pPr indent="0" marL="0">
              <a:buNone/>
            </a:pPr>
            <a:r>
              <a:rPr lang="en-US" sz="1400" b="1" dirty="0">
                <a:solidFill>
                  <a:srgbClr val="12726B"/>
                </a:solidFill>
                <a:latin typeface="Calibri" pitchFamily="34" charset="0"/>
                <a:ea typeface="Calibri" pitchFamily="34" charset="-122"/>
                <a:cs typeface="Calibri" pitchFamily="34" charset="-120"/>
              </a:rPr>
              <a:t>Vì sao điều này quan trọng với bài thi</a:t>
            </a:r>
            <a:endParaRPr lang="en-US" sz="1400" dirty="0"/>
          </a:p>
        </p:txBody>
      </p:sp>
      <p:sp>
        <p:nvSpPr>
          <p:cNvPr id="32" name="Text 30"/>
          <p:cNvSpPr/>
          <p:nvPr/>
        </p:nvSpPr>
        <p:spPr>
          <a:xfrm>
            <a:off x="731520" y="5120640"/>
            <a:ext cx="10698480" cy="1005840"/>
          </a:xfrm>
          <a:prstGeom prst="rect">
            <a:avLst/>
          </a:prstGeom>
          <a:noFill/>
          <a:ln/>
        </p:spPr>
        <p:txBody>
          <a:bodyPr wrap="square" lIns="0" tIns="0" rIns="0" bIns="0" rtlCol="0" anchor="t"/>
          <a:lstStyle/>
          <a:p>
            <a:pPr indent="0" marL="0">
              <a:lnSpc>
                <a:spcPct val="112000"/>
              </a:lnSpc>
              <a:buNone/>
            </a:pPr>
            <a:r>
              <a:rPr lang="en-US" sz="1200" dirty="0">
                <a:solidFill>
                  <a:srgbClr val="13315C"/>
                </a:solidFill>
                <a:latin typeface="Calibri" pitchFamily="34" charset="0"/>
                <a:ea typeface="Calibri" pitchFamily="34" charset="-122"/>
                <a:cs typeface="Calibri" pitchFamily="34" charset="-120"/>
              </a:rPr>
              <a:t>Đề Practical Exam yêu cầu vẽ Class Diagram, Sequence Diagram và Activity Diagram cho cùng một hệ thống. Đó chính là ba góc nhìn: </a:t>
            </a:r>
            <a:pPr indent="0" marL="0">
              <a:lnSpc>
                <a:spcPct val="112000"/>
              </a:lnSpc>
              <a:buNone/>
            </a:pPr>
            <a:r>
              <a:rPr lang="en-US" sz="1200" b="1" dirty="0">
                <a:solidFill>
                  <a:srgbClr val="0B2545"/>
                </a:solidFill>
                <a:latin typeface="Calibri" pitchFamily="34" charset="0"/>
                <a:ea typeface="Calibri" pitchFamily="34" charset="-122"/>
                <a:cs typeface="Calibri" pitchFamily="34" charset="-120"/>
              </a:rPr>
              <a:t>cấu trúc</a:t>
            </a:r>
            <a:pPr indent="0" marL="0">
              <a:lnSpc>
                <a:spcPct val="112000"/>
              </a:lnSpc>
              <a:buNone/>
            </a:pPr>
            <a:r>
              <a:rPr lang="en-US" sz="1200" dirty="0">
                <a:solidFill>
                  <a:srgbClr val="13315C"/>
                </a:solidFill>
                <a:latin typeface="Calibri" pitchFamily="34" charset="0"/>
                <a:ea typeface="Calibri" pitchFamily="34" charset="-122"/>
                <a:cs typeface="Calibri" pitchFamily="34" charset="-120"/>
              </a:rPr>
              <a:t> – </a:t>
            </a:r>
            <a:pPr indent="0" marL="0">
              <a:lnSpc>
                <a:spcPct val="112000"/>
              </a:lnSpc>
              <a:buNone/>
            </a:pPr>
            <a:r>
              <a:rPr lang="en-US" sz="1200" b="1" dirty="0">
                <a:solidFill>
                  <a:srgbClr val="E8A317"/>
                </a:solidFill>
                <a:latin typeface="Calibri" pitchFamily="34" charset="0"/>
                <a:ea typeface="Calibri" pitchFamily="34" charset="-122"/>
                <a:cs typeface="Calibri" pitchFamily="34" charset="-120"/>
              </a:rPr>
              <a:t>tương tác</a:t>
            </a:r>
            <a:pPr indent="0" marL="0">
              <a:lnSpc>
                <a:spcPct val="112000"/>
              </a:lnSpc>
              <a:buNone/>
            </a:pPr>
            <a:r>
              <a:rPr lang="en-US" sz="1200" dirty="0">
                <a:solidFill>
                  <a:srgbClr val="13315C"/>
                </a:solidFill>
                <a:latin typeface="Calibri" pitchFamily="34" charset="0"/>
                <a:ea typeface="Calibri" pitchFamily="34" charset="-122"/>
                <a:cs typeface="Calibri" pitchFamily="34" charset="-120"/>
              </a:rPr>
              <a:t> – </a:t>
            </a:r>
            <a:pPr indent="0" marL="0">
              <a:lnSpc>
                <a:spcPct val="112000"/>
              </a:lnSpc>
              <a:buNone/>
            </a:pPr>
            <a:r>
              <a:rPr lang="en-US" sz="1200" b="1" dirty="0">
                <a:solidFill>
                  <a:srgbClr val="12726B"/>
                </a:solidFill>
                <a:latin typeface="Calibri" pitchFamily="34" charset="0"/>
                <a:ea typeface="Calibri" pitchFamily="34" charset="-122"/>
                <a:cs typeface="Calibri" pitchFamily="34" charset="-120"/>
              </a:rPr>
              <a:t>quy trình</a:t>
            </a:r>
            <a:pPr indent="0" marL="0">
              <a:lnSpc>
                <a:spcPct val="112000"/>
              </a:lnSpc>
              <a:buNone/>
            </a:pPr>
            <a:r>
              <a:rPr lang="en-US" sz="1200" dirty="0">
                <a:solidFill>
                  <a:srgbClr val="13315C"/>
                </a:solidFill>
                <a:latin typeface="Calibri" pitchFamily="34" charset="0"/>
                <a:ea typeface="Calibri" pitchFamily="34" charset="-122"/>
                <a:cs typeface="Calibri" pitchFamily="34" charset="-120"/>
              </a:rPr>
              <a:t>. Khi đề nói “dùng kiến trúc nhất quán trên cả ba sơ đồ”, nghĩa là ba góc nhìn phải mô tả CÙNG một kiến trúc: nếu Class Diagram có tầng Repository thì Sequence Diagram bắt buộc phải có lifeline repository tương ứng.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4</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Chọn kiến trúc là chọn thuộc tính chất lượng (Chapter 20)</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Không có kiến trúc “tốt nhất” — chỉ có kiến trúc phù hợp với thuộc tính bạn ưu tiên</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55680" cy="914400"/>
        </p:xfrm>
        <a:graphic>
          <a:graphicData uri="http://schemas.openxmlformats.org/drawingml/2006/table">
            <a:tbl>
              <a:tblPr/>
              <a:tblGrid>
                <a:gridCol w="1920240"/>
                <a:gridCol w="2011680"/>
                <a:gridCol w="4114800"/>
                <a:gridCol w="310896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Thuộc tính</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Nghĩa tiếng Việt</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Trả lời câu hỏi gì</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Kiến trúc hỗ trợ tốt</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r>
              <a:tr h="420624">
                <a:tc>
                  <a:txBody>
                    <a:bodyPr/>
                    <a:lstStyle/>
                    <a:p>
                      <a:pPr indent="0" marL="0">
                        <a:buNone/>
                      </a:pPr>
                      <a:r>
                        <a:rPr lang="en-US" sz="1000" b="1" dirty="0">
                          <a:solidFill>
                            <a:srgbClr val="12726B"/>
                          </a:solidFill>
                          <a:latin typeface="Courier New" pitchFamily="34" charset="0"/>
                          <a:ea typeface="Courier New" pitchFamily="34" charset="-122"/>
                          <a:cs typeface="Courier New" pitchFamily="34" charset="-120"/>
                        </a:rPr>
                        <a:t>Maintainability</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Dễ bảo trì</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Sửa lỗi và thay đổi nhỏ tốn ít công.</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i="1" dirty="0">
                          <a:solidFill>
                            <a:srgbClr val="13315C"/>
                          </a:solidFill>
                          <a:latin typeface="Calibri" pitchFamily="34" charset="0"/>
                          <a:ea typeface="Calibri" pitchFamily="34" charset="-122"/>
                          <a:cs typeface="Calibri" pitchFamily="34" charset="-120"/>
                        </a:rPr>
                        <a:t>Layered, Component-Based</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2726B"/>
                          </a:solidFill>
                          <a:latin typeface="Courier New" pitchFamily="34" charset="0"/>
                          <a:ea typeface="Courier New" pitchFamily="34" charset="-122"/>
                          <a:cs typeface="Courier New" pitchFamily="34" charset="-120"/>
                        </a:rPr>
                        <a:t>Modifiability</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Dễ thay đổi</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Thêm tính năng mới không phá vỡ phần cũ.</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i="1" dirty="0">
                          <a:solidFill>
                            <a:srgbClr val="13315C"/>
                          </a:solidFill>
                          <a:latin typeface="Calibri" pitchFamily="34" charset="0"/>
                          <a:ea typeface="Calibri" pitchFamily="34" charset="-122"/>
                          <a:cs typeface="Calibri" pitchFamily="34" charset="-120"/>
                        </a:rPr>
                        <a:t>Component-Based, Microservices</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2726B"/>
                          </a:solidFill>
                          <a:latin typeface="Courier New" pitchFamily="34" charset="0"/>
                          <a:ea typeface="Courier New" pitchFamily="34" charset="-122"/>
                          <a:cs typeface="Courier New" pitchFamily="34" charset="-120"/>
                        </a:rPr>
                        <a:t>Scalability</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Khả năng mở rộng</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Chịu được lượng người dùng/dữ liệu tăng.</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i="1" dirty="0">
                          <a:solidFill>
                            <a:srgbClr val="13315C"/>
                          </a:solidFill>
                          <a:latin typeface="Calibri" pitchFamily="34" charset="0"/>
                          <a:ea typeface="Calibri" pitchFamily="34" charset="-122"/>
                          <a:cs typeface="Calibri" pitchFamily="34" charset="-120"/>
                        </a:rPr>
                        <a:t>Client/Server, Microservices</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2726B"/>
                          </a:solidFill>
                          <a:latin typeface="Courier New" pitchFamily="34" charset="0"/>
                          <a:ea typeface="Courier New" pitchFamily="34" charset="-122"/>
                          <a:cs typeface="Courier New" pitchFamily="34" charset="-120"/>
                        </a:rPr>
                        <a:t>Performance</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Hiệu năng</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Thời gian phản hồi và thông lượng.</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i="1" dirty="0">
                          <a:solidFill>
                            <a:srgbClr val="13315C"/>
                          </a:solidFill>
                          <a:latin typeface="Calibri" pitchFamily="34" charset="0"/>
                          <a:ea typeface="Calibri" pitchFamily="34" charset="-122"/>
                          <a:cs typeface="Calibri" pitchFamily="34" charset="-120"/>
                        </a:rPr>
                        <a:t>Monolithic, Real-time</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2726B"/>
                          </a:solidFill>
                          <a:latin typeface="Courier New" pitchFamily="34" charset="0"/>
                          <a:ea typeface="Courier New" pitchFamily="34" charset="-122"/>
                          <a:cs typeface="Courier New" pitchFamily="34" charset="-120"/>
                        </a:rPr>
                        <a:t>Availability</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Tính sẵn sàng</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Hệ thống vẫn chạy khi một phần hỏng.</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i="1" dirty="0">
                          <a:solidFill>
                            <a:srgbClr val="13315C"/>
                          </a:solidFill>
                          <a:latin typeface="Calibri" pitchFamily="34" charset="0"/>
                          <a:ea typeface="Calibri" pitchFamily="34" charset="-122"/>
                          <a:cs typeface="Calibri" pitchFamily="34" charset="-120"/>
                        </a:rPr>
                        <a:t>Microservices, SOA</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2726B"/>
                          </a:solidFill>
                          <a:latin typeface="Courier New" pitchFamily="34" charset="0"/>
                          <a:ea typeface="Courier New" pitchFamily="34" charset="-122"/>
                          <a:cs typeface="Courier New" pitchFamily="34" charset="-120"/>
                        </a:rPr>
                        <a:t>Reusability</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Khả năng tái sử dụng</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Thành phần dùng lại được ở hệ thống khác.</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i="1" dirty="0">
                          <a:solidFill>
                            <a:srgbClr val="13315C"/>
                          </a:solidFill>
                          <a:latin typeface="Calibri" pitchFamily="34" charset="0"/>
                          <a:ea typeface="Calibri" pitchFamily="34" charset="-122"/>
                          <a:cs typeface="Calibri" pitchFamily="34" charset="-120"/>
                        </a:rPr>
                        <a:t>Component-Based, SOA</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2726B"/>
                          </a:solidFill>
                          <a:latin typeface="Courier New" pitchFamily="34" charset="0"/>
                          <a:ea typeface="Courier New" pitchFamily="34" charset="-122"/>
                          <a:cs typeface="Courier New" pitchFamily="34" charset="-120"/>
                        </a:rPr>
                        <a:t>Testability</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Dễ kiểm thử</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Kiểm thử từng phần độc lập được.</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i="1" dirty="0">
                          <a:solidFill>
                            <a:srgbClr val="13315C"/>
                          </a:solidFill>
                          <a:latin typeface="Calibri" pitchFamily="34" charset="0"/>
                          <a:ea typeface="Calibri" pitchFamily="34" charset="-122"/>
                          <a:cs typeface="Calibri" pitchFamily="34" charset="-120"/>
                        </a:rPr>
                        <a:t>Layered + Repository</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2726B"/>
                          </a:solidFill>
                          <a:latin typeface="Courier New" pitchFamily="34" charset="0"/>
                          <a:ea typeface="Courier New" pitchFamily="34" charset="-122"/>
                          <a:cs typeface="Courier New" pitchFamily="34" charset="-120"/>
                        </a:rPr>
                        <a:t>Security</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An toàn</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Kiểm soát truy cập và bảo vệ dữ liệu.</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i="1" dirty="0">
                          <a:solidFill>
                            <a:srgbClr val="13315C"/>
                          </a:solidFill>
                          <a:latin typeface="Calibri" pitchFamily="34" charset="0"/>
                          <a:ea typeface="Calibri" pitchFamily="34" charset="-122"/>
                          <a:cs typeface="Calibri" pitchFamily="34" charset="-120"/>
                        </a:rPr>
                        <a:t>Layered, API Gateway</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120640"/>
            <a:ext cx="11155680" cy="1143000"/>
          </a:xfrm>
          <a:prstGeom prst="roundRect">
            <a:avLst>
              <a:gd name="adj" fmla="val 6400"/>
            </a:avLst>
          </a:prstGeom>
          <a:solidFill>
            <a:srgbClr val="FBEDEC"/>
          </a:solidFill>
          <a:ln w="12700">
            <a:solidFill>
              <a:srgbClr val="E4B4AF"/>
            </a:solidFill>
            <a:prstDash val="solid"/>
          </a:ln>
        </p:spPr>
      </p:sp>
      <p:sp>
        <p:nvSpPr>
          <p:cNvPr id="8" name="Text 5"/>
          <p:cNvSpPr/>
          <p:nvPr/>
        </p:nvSpPr>
        <p:spPr>
          <a:xfrm>
            <a:off x="731520" y="5230368"/>
            <a:ext cx="10698480" cy="914400"/>
          </a:xfrm>
          <a:prstGeom prst="rect">
            <a:avLst/>
          </a:prstGeom>
          <a:noFill/>
          <a:ln/>
        </p:spPr>
        <p:txBody>
          <a:bodyPr wrap="square" lIns="0" tIns="0" rIns="0" bIns="0" rtlCol="0" anchor="ctr"/>
          <a:lstStyle/>
          <a:p>
            <a:pPr indent="0" marL="0">
              <a:lnSpc>
                <a:spcPct val="112000"/>
              </a:lnSpc>
              <a:buNone/>
            </a:pPr>
            <a:r>
              <a:rPr lang="en-US" sz="1200" b="1" dirty="0">
                <a:solidFill>
                  <a:srgbClr val="B23A32"/>
                </a:solidFill>
                <a:latin typeface="Calibri" pitchFamily="34" charset="0"/>
                <a:ea typeface="Calibri" pitchFamily="34" charset="-122"/>
                <a:cs typeface="Calibri" pitchFamily="34" charset="-120"/>
              </a:rPr>
              <a:t>Điều quan trọng nhất của cả bài học: </a:t>
            </a:r>
            <a:pPr indent="0" marL="0">
              <a:lnSpc>
                <a:spcPct val="112000"/>
              </a:lnSpc>
              <a:buNone/>
            </a:pPr>
            <a:r>
              <a:rPr lang="en-US" sz="1200" dirty="0">
                <a:solidFill>
                  <a:srgbClr val="13315C"/>
                </a:solidFill>
                <a:latin typeface="Calibri" pitchFamily="34" charset="0"/>
                <a:ea typeface="Calibri" pitchFamily="34" charset="-122"/>
                <a:cs typeface="Calibri" pitchFamily="34" charset="-120"/>
              </a:rPr>
              <a:t>các thuộc tính này ĐÁNH ĐỔI lẫn nhau. Microservices tăng khả năng mở rộng và sẵn sàng, nhưng làm giảm hiệu năng của một lời gọi đơn lẻ (do phải đi qua mạng) và tăng độ phức tạp vận hành. Khi biện luận lựa chọn kiến trúc trong đồ án hoặc bài thi, hãy nói rõ </a:t>
            </a:r>
            <a:pPr indent="0" marL="0">
              <a:lnSpc>
                <a:spcPct val="112000"/>
              </a:lnSpc>
              <a:buNone/>
            </a:pPr>
            <a:r>
              <a:rPr lang="en-US" sz="1200" b="1" dirty="0">
                <a:solidFill>
                  <a:srgbClr val="0B2545"/>
                </a:solidFill>
                <a:latin typeface="Calibri" pitchFamily="34" charset="0"/>
                <a:ea typeface="Calibri" pitchFamily="34" charset="-122"/>
                <a:cs typeface="Calibri" pitchFamily="34" charset="-120"/>
              </a:rPr>
              <a:t>bạn ưu tiên thuộc tính nào và chấp nhận hy sinh thuộc tính nào</a:t>
            </a:r>
            <a:pPr indent="0" marL="0">
              <a:lnSpc>
                <a:spcPct val="112000"/>
              </a:lnSpc>
              <a:buNone/>
            </a:pPr>
            <a:r>
              <a:rPr lang="en-US" sz="1200" dirty="0">
                <a:solidFill>
                  <a:srgbClr val="13315C"/>
                </a:solidFill>
                <a:latin typeface="Calibri" pitchFamily="34" charset="0"/>
                <a:ea typeface="Calibri" pitchFamily="34" charset="-122"/>
                <a:cs typeface="Calibri" pitchFamily="34" charset="-120"/>
              </a:rPr>
              <a:t> — đó mới là lập luận kiến trúc.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5</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Bản đồ phân loại kiến trúc theo Gomaa</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Hai nhóm mẫu song song: mẫu CẤU TRÚC và mẫu GIAO TIẾP</a:t>
            </a:r>
            <a:endParaRPr lang="en-US" sz="1300" dirty="0"/>
          </a:p>
        </p:txBody>
      </p:sp>
      <p:sp>
        <p:nvSpPr>
          <p:cNvPr id="6" name="Shape 4"/>
          <p:cNvSpPr/>
          <p:nvPr/>
        </p:nvSpPr>
        <p:spPr>
          <a:xfrm>
            <a:off x="502920" y="1298448"/>
            <a:ext cx="5532120" cy="4937760"/>
          </a:xfrm>
          <a:prstGeom prst="roundRect">
            <a:avLst>
              <a:gd name="adj" fmla="val 1481"/>
            </a:avLst>
          </a:prstGeom>
          <a:solidFill>
            <a:srgbClr val="F1F5F9"/>
          </a:solidFill>
          <a:ln w="12700">
            <a:solidFill>
              <a:srgbClr val="0B2545"/>
            </a:solidFill>
            <a:prstDash val="solid"/>
          </a:ln>
        </p:spPr>
      </p:sp>
      <p:sp>
        <p:nvSpPr>
          <p:cNvPr id="7" name="Text 5"/>
          <p:cNvSpPr/>
          <p:nvPr/>
        </p:nvSpPr>
        <p:spPr>
          <a:xfrm>
            <a:off x="731520" y="1408176"/>
            <a:ext cx="5120640" cy="292608"/>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Architectural STRUCTURE Patterns</a:t>
            </a:r>
            <a:endParaRPr lang="en-US" sz="1450" dirty="0"/>
          </a:p>
        </p:txBody>
      </p:sp>
      <p:sp>
        <p:nvSpPr>
          <p:cNvPr id="8" name="Text 6"/>
          <p:cNvSpPr/>
          <p:nvPr/>
        </p:nvSpPr>
        <p:spPr>
          <a:xfrm>
            <a:off x="731520" y="1719072"/>
            <a:ext cx="5120640" cy="256032"/>
          </a:xfrm>
          <a:prstGeom prst="rect">
            <a:avLst/>
          </a:prstGeom>
          <a:noFill/>
          <a:ln/>
        </p:spPr>
        <p:txBody>
          <a:bodyPr wrap="square" lIns="0" tIns="0" rIns="0" bIns="0" rtlCol="0" anchor="ctr"/>
          <a:lstStyle/>
          <a:p>
            <a:pPr indent="0" marL="0">
              <a:buNone/>
            </a:pPr>
            <a:r>
              <a:rPr lang="en-US" sz="1050" i="1" dirty="0">
                <a:solidFill>
                  <a:srgbClr val="6B7A8F"/>
                </a:solidFill>
                <a:latin typeface="Calibri" pitchFamily="34" charset="0"/>
                <a:ea typeface="Calibri" pitchFamily="34" charset="-122"/>
                <a:cs typeface="Calibri" pitchFamily="34" charset="-120"/>
              </a:rPr>
              <a:t>Trả lời: hệ thống được CHIA thành những khối nào?</a:t>
            </a:r>
            <a:endParaRPr lang="en-US" sz="1050" dirty="0"/>
          </a:p>
        </p:txBody>
      </p:sp>
      <p:sp>
        <p:nvSpPr>
          <p:cNvPr id="9" name="Shape 7"/>
          <p:cNvSpPr/>
          <p:nvPr/>
        </p:nvSpPr>
        <p:spPr>
          <a:xfrm>
            <a:off x="731520" y="2084832"/>
            <a:ext cx="5120640" cy="502920"/>
          </a:xfrm>
          <a:prstGeom prst="rect">
            <a:avLst/>
          </a:prstGeom>
          <a:solidFill>
            <a:srgbClr val="FFFFFF"/>
          </a:solidFill>
          <a:ln w="12700">
            <a:solidFill>
              <a:srgbClr val="C9D6E2"/>
            </a:solidFill>
            <a:prstDash val="solid"/>
          </a:ln>
        </p:spPr>
      </p:sp>
      <p:sp>
        <p:nvSpPr>
          <p:cNvPr id="10" name="Shape 8"/>
          <p:cNvSpPr/>
          <p:nvPr/>
        </p:nvSpPr>
        <p:spPr>
          <a:xfrm>
            <a:off x="731520" y="2084832"/>
            <a:ext cx="91440" cy="502920"/>
          </a:xfrm>
          <a:prstGeom prst="rect">
            <a:avLst/>
          </a:prstGeom>
          <a:solidFill>
            <a:srgbClr val="0B2545"/>
          </a:solidFill>
          <a:ln w="12700">
            <a:solidFill>
              <a:srgbClr val="0B2545"/>
            </a:solidFill>
            <a:prstDash val="solid"/>
          </a:ln>
        </p:spPr>
      </p:sp>
      <p:sp>
        <p:nvSpPr>
          <p:cNvPr id="11" name="Text 9"/>
          <p:cNvSpPr/>
          <p:nvPr/>
        </p:nvSpPr>
        <p:spPr>
          <a:xfrm>
            <a:off x="914400" y="2112264"/>
            <a:ext cx="3291840" cy="22860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Layers of Abstraction</a:t>
            </a:r>
            <a:endParaRPr lang="en-US" sz="1100" dirty="0"/>
          </a:p>
        </p:txBody>
      </p:sp>
      <p:sp>
        <p:nvSpPr>
          <p:cNvPr id="12" name="Text 10"/>
          <p:cNvSpPr/>
          <p:nvPr/>
        </p:nvSpPr>
        <p:spPr>
          <a:xfrm>
            <a:off x="5120640" y="2112264"/>
            <a:ext cx="640080" cy="228600"/>
          </a:xfrm>
          <a:prstGeom prst="rect">
            <a:avLst/>
          </a:prstGeom>
          <a:noFill/>
          <a:ln/>
        </p:spPr>
        <p:txBody>
          <a:bodyPr wrap="square" lIns="0" tIns="0" rIns="0" bIns="0" rtlCol="0" anchor="ctr"/>
          <a:lstStyle/>
          <a:p>
            <a:pPr algn="r" indent="0" marL="0">
              <a:buNone/>
            </a:pPr>
            <a:r>
              <a:rPr lang="en-US" sz="900" b="1" dirty="0">
                <a:solidFill>
                  <a:srgbClr val="E8A317"/>
                </a:solidFill>
                <a:latin typeface="Calibri" pitchFamily="34" charset="0"/>
                <a:ea typeface="Calibri" pitchFamily="34" charset="-122"/>
                <a:cs typeface="Calibri" pitchFamily="34" charset="-120"/>
              </a:rPr>
              <a:t>Ch.12</a:t>
            </a:r>
            <a:endParaRPr lang="en-US" sz="900" dirty="0"/>
          </a:p>
        </p:txBody>
      </p:sp>
      <p:sp>
        <p:nvSpPr>
          <p:cNvPr id="13" name="Text 11"/>
          <p:cNvSpPr/>
          <p:nvPr/>
        </p:nvSpPr>
        <p:spPr>
          <a:xfrm>
            <a:off x="914400" y="2331720"/>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Chia theo tầng trừu tượng, tầng trên dùng tầng dưới.</a:t>
            </a:r>
            <a:endParaRPr lang="en-US" sz="950" dirty="0"/>
          </a:p>
        </p:txBody>
      </p:sp>
      <p:sp>
        <p:nvSpPr>
          <p:cNvPr id="14" name="Shape 12"/>
          <p:cNvSpPr/>
          <p:nvPr/>
        </p:nvSpPr>
        <p:spPr>
          <a:xfrm>
            <a:off x="731520" y="2660904"/>
            <a:ext cx="5120640" cy="502920"/>
          </a:xfrm>
          <a:prstGeom prst="rect">
            <a:avLst/>
          </a:prstGeom>
          <a:solidFill>
            <a:srgbClr val="FFFFFF"/>
          </a:solidFill>
          <a:ln w="12700">
            <a:solidFill>
              <a:srgbClr val="C9D6E2"/>
            </a:solidFill>
            <a:prstDash val="solid"/>
          </a:ln>
        </p:spPr>
      </p:sp>
      <p:sp>
        <p:nvSpPr>
          <p:cNvPr id="15" name="Shape 13"/>
          <p:cNvSpPr/>
          <p:nvPr/>
        </p:nvSpPr>
        <p:spPr>
          <a:xfrm>
            <a:off x="731520" y="2660904"/>
            <a:ext cx="91440" cy="502920"/>
          </a:xfrm>
          <a:prstGeom prst="rect">
            <a:avLst/>
          </a:prstGeom>
          <a:solidFill>
            <a:srgbClr val="0B2545"/>
          </a:solidFill>
          <a:ln w="12700">
            <a:solidFill>
              <a:srgbClr val="0B2545"/>
            </a:solidFill>
            <a:prstDash val="solid"/>
          </a:ln>
        </p:spPr>
      </p:sp>
      <p:sp>
        <p:nvSpPr>
          <p:cNvPr id="16" name="Text 14"/>
          <p:cNvSpPr/>
          <p:nvPr/>
        </p:nvSpPr>
        <p:spPr>
          <a:xfrm>
            <a:off x="914400" y="2688336"/>
            <a:ext cx="3291840" cy="22860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Kernel</a:t>
            </a:r>
            <a:endParaRPr lang="en-US" sz="1100" dirty="0"/>
          </a:p>
        </p:txBody>
      </p:sp>
      <p:sp>
        <p:nvSpPr>
          <p:cNvPr id="17" name="Text 15"/>
          <p:cNvSpPr/>
          <p:nvPr/>
        </p:nvSpPr>
        <p:spPr>
          <a:xfrm>
            <a:off x="5120640" y="2688336"/>
            <a:ext cx="640080" cy="228600"/>
          </a:xfrm>
          <a:prstGeom prst="rect">
            <a:avLst/>
          </a:prstGeom>
          <a:noFill/>
          <a:ln/>
        </p:spPr>
        <p:txBody>
          <a:bodyPr wrap="square" lIns="0" tIns="0" rIns="0" bIns="0" rtlCol="0" anchor="ctr"/>
          <a:lstStyle/>
          <a:p>
            <a:pPr algn="r" indent="0" marL="0">
              <a:buNone/>
            </a:pPr>
            <a:r>
              <a:rPr lang="en-US" sz="900" b="1" dirty="0">
                <a:solidFill>
                  <a:srgbClr val="E8A317"/>
                </a:solidFill>
                <a:latin typeface="Calibri" pitchFamily="34" charset="0"/>
                <a:ea typeface="Calibri" pitchFamily="34" charset="-122"/>
                <a:cs typeface="Calibri" pitchFamily="34" charset="-120"/>
              </a:rPr>
              <a:t>Ch.12</a:t>
            </a:r>
            <a:endParaRPr lang="en-US" sz="900" dirty="0"/>
          </a:p>
        </p:txBody>
      </p:sp>
      <p:sp>
        <p:nvSpPr>
          <p:cNvPr id="18" name="Text 16"/>
          <p:cNvSpPr/>
          <p:nvPr/>
        </p:nvSpPr>
        <p:spPr>
          <a:xfrm>
            <a:off x="914400" y="2907792"/>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Một lõi tối thiểu cung cấp dịch vụ nền cho phần còn lại.</a:t>
            </a:r>
            <a:endParaRPr lang="en-US" sz="950" dirty="0"/>
          </a:p>
        </p:txBody>
      </p:sp>
      <p:sp>
        <p:nvSpPr>
          <p:cNvPr id="19" name="Shape 17"/>
          <p:cNvSpPr/>
          <p:nvPr/>
        </p:nvSpPr>
        <p:spPr>
          <a:xfrm>
            <a:off x="731520" y="3236976"/>
            <a:ext cx="5120640" cy="502920"/>
          </a:xfrm>
          <a:prstGeom prst="rect">
            <a:avLst/>
          </a:prstGeom>
          <a:solidFill>
            <a:srgbClr val="FFFFFF"/>
          </a:solidFill>
          <a:ln w="12700">
            <a:solidFill>
              <a:srgbClr val="C9D6E2"/>
            </a:solidFill>
            <a:prstDash val="solid"/>
          </a:ln>
        </p:spPr>
      </p:sp>
      <p:sp>
        <p:nvSpPr>
          <p:cNvPr id="20" name="Shape 18"/>
          <p:cNvSpPr/>
          <p:nvPr/>
        </p:nvSpPr>
        <p:spPr>
          <a:xfrm>
            <a:off x="731520" y="3236976"/>
            <a:ext cx="91440" cy="502920"/>
          </a:xfrm>
          <a:prstGeom prst="rect">
            <a:avLst/>
          </a:prstGeom>
          <a:solidFill>
            <a:srgbClr val="0B2545"/>
          </a:solidFill>
          <a:ln w="12700">
            <a:solidFill>
              <a:srgbClr val="0B2545"/>
            </a:solidFill>
            <a:prstDash val="solid"/>
          </a:ln>
        </p:spPr>
      </p:sp>
      <p:sp>
        <p:nvSpPr>
          <p:cNvPr id="21" name="Text 19"/>
          <p:cNvSpPr/>
          <p:nvPr/>
        </p:nvSpPr>
        <p:spPr>
          <a:xfrm>
            <a:off x="914400" y="3264408"/>
            <a:ext cx="3291840" cy="22860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Client/Server</a:t>
            </a:r>
            <a:endParaRPr lang="en-US" sz="1100" dirty="0"/>
          </a:p>
        </p:txBody>
      </p:sp>
      <p:sp>
        <p:nvSpPr>
          <p:cNvPr id="22" name="Text 20"/>
          <p:cNvSpPr/>
          <p:nvPr/>
        </p:nvSpPr>
        <p:spPr>
          <a:xfrm>
            <a:off x="5120640" y="3264408"/>
            <a:ext cx="640080" cy="228600"/>
          </a:xfrm>
          <a:prstGeom prst="rect">
            <a:avLst/>
          </a:prstGeom>
          <a:noFill/>
          <a:ln/>
        </p:spPr>
        <p:txBody>
          <a:bodyPr wrap="square" lIns="0" tIns="0" rIns="0" bIns="0" rtlCol="0" anchor="ctr"/>
          <a:lstStyle/>
          <a:p>
            <a:pPr algn="r" indent="0" marL="0">
              <a:buNone/>
            </a:pPr>
            <a:r>
              <a:rPr lang="en-US" sz="900" b="1" dirty="0">
                <a:solidFill>
                  <a:srgbClr val="E8A317"/>
                </a:solidFill>
                <a:latin typeface="Calibri" pitchFamily="34" charset="0"/>
                <a:ea typeface="Calibri" pitchFamily="34" charset="-122"/>
                <a:cs typeface="Calibri" pitchFamily="34" charset="-120"/>
              </a:rPr>
              <a:t>Ch.15</a:t>
            </a:r>
            <a:endParaRPr lang="en-US" sz="900" dirty="0"/>
          </a:p>
        </p:txBody>
      </p:sp>
      <p:sp>
        <p:nvSpPr>
          <p:cNvPr id="23" name="Text 21"/>
          <p:cNvSpPr/>
          <p:nvPr/>
        </p:nvSpPr>
        <p:spPr>
          <a:xfrm>
            <a:off x="914400" y="3483864"/>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Bên yêu cầu và bên phục vụ tách biệt.</a:t>
            </a:r>
            <a:endParaRPr lang="en-US" sz="950" dirty="0"/>
          </a:p>
        </p:txBody>
      </p:sp>
      <p:sp>
        <p:nvSpPr>
          <p:cNvPr id="24" name="Shape 22"/>
          <p:cNvSpPr/>
          <p:nvPr/>
        </p:nvSpPr>
        <p:spPr>
          <a:xfrm>
            <a:off x="731520" y="3813048"/>
            <a:ext cx="5120640" cy="502920"/>
          </a:xfrm>
          <a:prstGeom prst="rect">
            <a:avLst/>
          </a:prstGeom>
          <a:solidFill>
            <a:srgbClr val="FFFFFF"/>
          </a:solidFill>
          <a:ln w="12700">
            <a:solidFill>
              <a:srgbClr val="C9D6E2"/>
            </a:solidFill>
            <a:prstDash val="solid"/>
          </a:ln>
        </p:spPr>
      </p:sp>
      <p:sp>
        <p:nvSpPr>
          <p:cNvPr id="25" name="Shape 23"/>
          <p:cNvSpPr/>
          <p:nvPr/>
        </p:nvSpPr>
        <p:spPr>
          <a:xfrm>
            <a:off x="731520" y="3813048"/>
            <a:ext cx="91440" cy="502920"/>
          </a:xfrm>
          <a:prstGeom prst="rect">
            <a:avLst/>
          </a:prstGeom>
          <a:solidFill>
            <a:srgbClr val="0B2545"/>
          </a:solidFill>
          <a:ln w="12700">
            <a:solidFill>
              <a:srgbClr val="0B2545"/>
            </a:solidFill>
            <a:prstDash val="solid"/>
          </a:ln>
        </p:spPr>
      </p:sp>
      <p:sp>
        <p:nvSpPr>
          <p:cNvPr id="26" name="Text 24"/>
          <p:cNvSpPr/>
          <p:nvPr/>
        </p:nvSpPr>
        <p:spPr>
          <a:xfrm>
            <a:off x="914400" y="3840480"/>
            <a:ext cx="3291840" cy="22860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Multi-tier Client/Server</a:t>
            </a:r>
            <a:endParaRPr lang="en-US" sz="1100" dirty="0"/>
          </a:p>
        </p:txBody>
      </p:sp>
      <p:sp>
        <p:nvSpPr>
          <p:cNvPr id="27" name="Text 25"/>
          <p:cNvSpPr/>
          <p:nvPr/>
        </p:nvSpPr>
        <p:spPr>
          <a:xfrm>
            <a:off x="5120640" y="3840480"/>
            <a:ext cx="640080" cy="228600"/>
          </a:xfrm>
          <a:prstGeom prst="rect">
            <a:avLst/>
          </a:prstGeom>
          <a:noFill/>
          <a:ln/>
        </p:spPr>
        <p:txBody>
          <a:bodyPr wrap="square" lIns="0" tIns="0" rIns="0" bIns="0" rtlCol="0" anchor="ctr"/>
          <a:lstStyle/>
          <a:p>
            <a:pPr algn="r" indent="0" marL="0">
              <a:buNone/>
            </a:pPr>
            <a:r>
              <a:rPr lang="en-US" sz="900" b="1" dirty="0">
                <a:solidFill>
                  <a:srgbClr val="E8A317"/>
                </a:solidFill>
                <a:latin typeface="Calibri" pitchFamily="34" charset="0"/>
                <a:ea typeface="Calibri" pitchFamily="34" charset="-122"/>
                <a:cs typeface="Calibri" pitchFamily="34" charset="-120"/>
              </a:rPr>
              <a:t>Ch.15</a:t>
            </a:r>
            <a:endParaRPr lang="en-US" sz="900" dirty="0"/>
          </a:p>
        </p:txBody>
      </p:sp>
      <p:sp>
        <p:nvSpPr>
          <p:cNvPr id="28" name="Text 26"/>
          <p:cNvSpPr/>
          <p:nvPr/>
        </p:nvSpPr>
        <p:spPr>
          <a:xfrm>
            <a:off x="914400" y="4059936"/>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Chèn tầng trung gian giữa client và data server.</a:t>
            </a:r>
            <a:endParaRPr lang="en-US" sz="950" dirty="0"/>
          </a:p>
        </p:txBody>
      </p:sp>
      <p:sp>
        <p:nvSpPr>
          <p:cNvPr id="29" name="Shape 27"/>
          <p:cNvSpPr/>
          <p:nvPr/>
        </p:nvSpPr>
        <p:spPr>
          <a:xfrm>
            <a:off x="731520" y="4389120"/>
            <a:ext cx="5120640" cy="502920"/>
          </a:xfrm>
          <a:prstGeom prst="rect">
            <a:avLst/>
          </a:prstGeom>
          <a:solidFill>
            <a:srgbClr val="FFFFFF"/>
          </a:solidFill>
          <a:ln w="12700">
            <a:solidFill>
              <a:srgbClr val="C9D6E2"/>
            </a:solidFill>
            <a:prstDash val="solid"/>
          </a:ln>
        </p:spPr>
      </p:sp>
      <p:sp>
        <p:nvSpPr>
          <p:cNvPr id="30" name="Shape 28"/>
          <p:cNvSpPr/>
          <p:nvPr/>
        </p:nvSpPr>
        <p:spPr>
          <a:xfrm>
            <a:off x="731520" y="4389120"/>
            <a:ext cx="91440" cy="502920"/>
          </a:xfrm>
          <a:prstGeom prst="rect">
            <a:avLst/>
          </a:prstGeom>
          <a:solidFill>
            <a:srgbClr val="0B2545"/>
          </a:solidFill>
          <a:ln w="12700">
            <a:solidFill>
              <a:srgbClr val="0B2545"/>
            </a:solidFill>
            <a:prstDash val="solid"/>
          </a:ln>
        </p:spPr>
      </p:sp>
      <p:sp>
        <p:nvSpPr>
          <p:cNvPr id="31" name="Text 29"/>
          <p:cNvSpPr/>
          <p:nvPr/>
        </p:nvSpPr>
        <p:spPr>
          <a:xfrm>
            <a:off x="914400" y="4416552"/>
            <a:ext cx="3291840" cy="22860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Service-Oriented</a:t>
            </a:r>
            <a:endParaRPr lang="en-US" sz="1100" dirty="0"/>
          </a:p>
        </p:txBody>
      </p:sp>
      <p:sp>
        <p:nvSpPr>
          <p:cNvPr id="32" name="Text 30"/>
          <p:cNvSpPr/>
          <p:nvPr/>
        </p:nvSpPr>
        <p:spPr>
          <a:xfrm>
            <a:off x="5120640" y="4416552"/>
            <a:ext cx="640080" cy="228600"/>
          </a:xfrm>
          <a:prstGeom prst="rect">
            <a:avLst/>
          </a:prstGeom>
          <a:noFill/>
          <a:ln/>
        </p:spPr>
        <p:txBody>
          <a:bodyPr wrap="square" lIns="0" tIns="0" rIns="0" bIns="0" rtlCol="0" anchor="ctr"/>
          <a:lstStyle/>
          <a:p>
            <a:pPr algn="r" indent="0" marL="0">
              <a:buNone/>
            </a:pPr>
            <a:r>
              <a:rPr lang="en-US" sz="900" b="1" dirty="0">
                <a:solidFill>
                  <a:srgbClr val="E8A317"/>
                </a:solidFill>
                <a:latin typeface="Calibri" pitchFamily="34" charset="0"/>
                <a:ea typeface="Calibri" pitchFamily="34" charset="-122"/>
                <a:cs typeface="Calibri" pitchFamily="34" charset="-120"/>
              </a:rPr>
              <a:t>Ch.16</a:t>
            </a:r>
            <a:endParaRPr lang="en-US" sz="900" dirty="0"/>
          </a:p>
        </p:txBody>
      </p:sp>
      <p:sp>
        <p:nvSpPr>
          <p:cNvPr id="33" name="Text 31"/>
          <p:cNvSpPr/>
          <p:nvPr/>
        </p:nvSpPr>
        <p:spPr>
          <a:xfrm>
            <a:off x="914400" y="4636008"/>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Dịch vụ tự trị, đăng ký và được khám phá qua registry.</a:t>
            </a:r>
            <a:endParaRPr lang="en-US" sz="950" dirty="0"/>
          </a:p>
        </p:txBody>
      </p:sp>
      <p:sp>
        <p:nvSpPr>
          <p:cNvPr id="34" name="Shape 32"/>
          <p:cNvSpPr/>
          <p:nvPr/>
        </p:nvSpPr>
        <p:spPr>
          <a:xfrm>
            <a:off x="731520" y="4965192"/>
            <a:ext cx="5120640" cy="502920"/>
          </a:xfrm>
          <a:prstGeom prst="rect">
            <a:avLst/>
          </a:prstGeom>
          <a:solidFill>
            <a:srgbClr val="FFFFFF"/>
          </a:solidFill>
          <a:ln w="12700">
            <a:solidFill>
              <a:srgbClr val="C9D6E2"/>
            </a:solidFill>
            <a:prstDash val="solid"/>
          </a:ln>
        </p:spPr>
      </p:sp>
      <p:sp>
        <p:nvSpPr>
          <p:cNvPr id="35" name="Shape 33"/>
          <p:cNvSpPr/>
          <p:nvPr/>
        </p:nvSpPr>
        <p:spPr>
          <a:xfrm>
            <a:off x="731520" y="4965192"/>
            <a:ext cx="91440" cy="502920"/>
          </a:xfrm>
          <a:prstGeom prst="rect">
            <a:avLst/>
          </a:prstGeom>
          <a:solidFill>
            <a:srgbClr val="0B2545"/>
          </a:solidFill>
          <a:ln w="12700">
            <a:solidFill>
              <a:srgbClr val="0B2545"/>
            </a:solidFill>
            <a:prstDash val="solid"/>
          </a:ln>
        </p:spPr>
      </p:sp>
      <p:sp>
        <p:nvSpPr>
          <p:cNvPr id="36" name="Text 34"/>
          <p:cNvSpPr/>
          <p:nvPr/>
        </p:nvSpPr>
        <p:spPr>
          <a:xfrm>
            <a:off x="914400" y="4992624"/>
            <a:ext cx="3291840" cy="22860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Component-Based</a:t>
            </a:r>
            <a:endParaRPr lang="en-US" sz="1100" dirty="0"/>
          </a:p>
        </p:txBody>
      </p:sp>
      <p:sp>
        <p:nvSpPr>
          <p:cNvPr id="37" name="Text 35"/>
          <p:cNvSpPr/>
          <p:nvPr/>
        </p:nvSpPr>
        <p:spPr>
          <a:xfrm>
            <a:off x="5120640" y="4992624"/>
            <a:ext cx="640080" cy="228600"/>
          </a:xfrm>
          <a:prstGeom prst="rect">
            <a:avLst/>
          </a:prstGeom>
          <a:noFill/>
          <a:ln/>
        </p:spPr>
        <p:txBody>
          <a:bodyPr wrap="square" lIns="0" tIns="0" rIns="0" bIns="0" rtlCol="0" anchor="ctr"/>
          <a:lstStyle/>
          <a:p>
            <a:pPr algn="r" indent="0" marL="0">
              <a:buNone/>
            </a:pPr>
            <a:r>
              <a:rPr lang="en-US" sz="900" b="1" dirty="0">
                <a:solidFill>
                  <a:srgbClr val="E8A317"/>
                </a:solidFill>
                <a:latin typeface="Calibri" pitchFamily="34" charset="0"/>
                <a:ea typeface="Calibri" pitchFamily="34" charset="-122"/>
                <a:cs typeface="Calibri" pitchFamily="34" charset="-120"/>
              </a:rPr>
              <a:t>Ch.17</a:t>
            </a:r>
            <a:endParaRPr lang="en-US" sz="900" dirty="0"/>
          </a:p>
        </p:txBody>
      </p:sp>
      <p:sp>
        <p:nvSpPr>
          <p:cNvPr id="38" name="Text 36"/>
          <p:cNvSpPr/>
          <p:nvPr/>
        </p:nvSpPr>
        <p:spPr>
          <a:xfrm>
            <a:off x="914400" y="5212080"/>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Khối lắp ghép có interface cung cấp và interface yêu cầu.</a:t>
            </a:r>
            <a:endParaRPr lang="en-US" sz="950" dirty="0"/>
          </a:p>
        </p:txBody>
      </p:sp>
      <p:sp>
        <p:nvSpPr>
          <p:cNvPr id="39" name="Shape 37"/>
          <p:cNvSpPr/>
          <p:nvPr/>
        </p:nvSpPr>
        <p:spPr>
          <a:xfrm>
            <a:off x="731520" y="5541264"/>
            <a:ext cx="5120640" cy="502920"/>
          </a:xfrm>
          <a:prstGeom prst="rect">
            <a:avLst/>
          </a:prstGeom>
          <a:solidFill>
            <a:srgbClr val="FFFFFF"/>
          </a:solidFill>
          <a:ln w="12700">
            <a:solidFill>
              <a:srgbClr val="C9D6E2"/>
            </a:solidFill>
            <a:prstDash val="solid"/>
          </a:ln>
        </p:spPr>
      </p:sp>
      <p:sp>
        <p:nvSpPr>
          <p:cNvPr id="40" name="Shape 38"/>
          <p:cNvSpPr/>
          <p:nvPr/>
        </p:nvSpPr>
        <p:spPr>
          <a:xfrm>
            <a:off x="731520" y="5541264"/>
            <a:ext cx="91440" cy="502920"/>
          </a:xfrm>
          <a:prstGeom prst="rect">
            <a:avLst/>
          </a:prstGeom>
          <a:solidFill>
            <a:srgbClr val="0B2545"/>
          </a:solidFill>
          <a:ln w="12700">
            <a:solidFill>
              <a:srgbClr val="0B2545"/>
            </a:solidFill>
            <a:prstDash val="solid"/>
          </a:ln>
        </p:spPr>
      </p:sp>
      <p:sp>
        <p:nvSpPr>
          <p:cNvPr id="41" name="Text 39"/>
          <p:cNvSpPr/>
          <p:nvPr/>
        </p:nvSpPr>
        <p:spPr>
          <a:xfrm>
            <a:off x="914400" y="5568696"/>
            <a:ext cx="3291840" cy="22860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Concurrent / Real-Time</a:t>
            </a:r>
            <a:endParaRPr lang="en-US" sz="1100" dirty="0"/>
          </a:p>
        </p:txBody>
      </p:sp>
      <p:sp>
        <p:nvSpPr>
          <p:cNvPr id="42" name="Text 40"/>
          <p:cNvSpPr/>
          <p:nvPr/>
        </p:nvSpPr>
        <p:spPr>
          <a:xfrm>
            <a:off x="5120640" y="5568696"/>
            <a:ext cx="640080" cy="228600"/>
          </a:xfrm>
          <a:prstGeom prst="rect">
            <a:avLst/>
          </a:prstGeom>
          <a:noFill/>
          <a:ln/>
        </p:spPr>
        <p:txBody>
          <a:bodyPr wrap="square" lIns="0" tIns="0" rIns="0" bIns="0" rtlCol="0" anchor="ctr"/>
          <a:lstStyle/>
          <a:p>
            <a:pPr algn="r" indent="0" marL="0">
              <a:buNone/>
            </a:pPr>
            <a:r>
              <a:rPr lang="en-US" sz="900" b="1" dirty="0">
                <a:solidFill>
                  <a:srgbClr val="E8A317"/>
                </a:solidFill>
                <a:latin typeface="Calibri" pitchFamily="34" charset="0"/>
                <a:ea typeface="Calibri" pitchFamily="34" charset="-122"/>
                <a:cs typeface="Calibri" pitchFamily="34" charset="-120"/>
              </a:rPr>
              <a:t>Ch.18</a:t>
            </a:r>
            <a:endParaRPr lang="en-US" sz="900" dirty="0"/>
          </a:p>
        </p:txBody>
      </p:sp>
      <p:sp>
        <p:nvSpPr>
          <p:cNvPr id="43" name="Text 41"/>
          <p:cNvSpPr/>
          <p:nvPr/>
        </p:nvSpPr>
        <p:spPr>
          <a:xfrm>
            <a:off x="914400" y="5788152"/>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Nhiều task chạy song song, có ràng buộc thời gian.</a:t>
            </a:r>
            <a:endParaRPr lang="en-US" sz="950" dirty="0"/>
          </a:p>
        </p:txBody>
      </p:sp>
      <p:sp>
        <p:nvSpPr>
          <p:cNvPr id="44" name="Shape 42"/>
          <p:cNvSpPr/>
          <p:nvPr/>
        </p:nvSpPr>
        <p:spPr>
          <a:xfrm>
            <a:off x="6126480" y="1298448"/>
            <a:ext cx="5532120" cy="4937760"/>
          </a:xfrm>
          <a:prstGeom prst="roundRect">
            <a:avLst>
              <a:gd name="adj" fmla="val 1481"/>
            </a:avLst>
          </a:prstGeom>
          <a:solidFill>
            <a:srgbClr val="EAF3F2"/>
          </a:solidFill>
          <a:ln w="12700">
            <a:solidFill>
              <a:srgbClr val="12726B"/>
            </a:solidFill>
            <a:prstDash val="solid"/>
          </a:ln>
        </p:spPr>
      </p:sp>
      <p:sp>
        <p:nvSpPr>
          <p:cNvPr id="45" name="Text 43"/>
          <p:cNvSpPr/>
          <p:nvPr/>
        </p:nvSpPr>
        <p:spPr>
          <a:xfrm>
            <a:off x="6355080" y="1408176"/>
            <a:ext cx="5120640" cy="292608"/>
          </a:xfrm>
          <a:prstGeom prst="rect">
            <a:avLst/>
          </a:prstGeom>
          <a:noFill/>
          <a:ln/>
        </p:spPr>
        <p:txBody>
          <a:bodyPr wrap="square" lIns="0" tIns="0" rIns="0" bIns="0" rtlCol="0" anchor="ctr"/>
          <a:lstStyle/>
          <a:p>
            <a:pPr indent="0" marL="0">
              <a:buNone/>
            </a:pPr>
            <a:r>
              <a:rPr lang="en-US" sz="1450" b="1" dirty="0">
                <a:solidFill>
                  <a:srgbClr val="12726B"/>
                </a:solidFill>
                <a:latin typeface="Calibri" pitchFamily="34" charset="0"/>
                <a:ea typeface="Calibri" pitchFamily="34" charset="-122"/>
                <a:cs typeface="Calibri" pitchFamily="34" charset="-120"/>
              </a:rPr>
              <a:t>Architectural COMMUNICATION Patterns</a:t>
            </a:r>
            <a:endParaRPr lang="en-US" sz="1450" dirty="0"/>
          </a:p>
        </p:txBody>
      </p:sp>
      <p:sp>
        <p:nvSpPr>
          <p:cNvPr id="46" name="Text 44"/>
          <p:cNvSpPr/>
          <p:nvPr/>
        </p:nvSpPr>
        <p:spPr>
          <a:xfrm>
            <a:off x="6355080" y="1719072"/>
            <a:ext cx="5120640" cy="256032"/>
          </a:xfrm>
          <a:prstGeom prst="rect">
            <a:avLst/>
          </a:prstGeom>
          <a:noFill/>
          <a:ln/>
        </p:spPr>
        <p:txBody>
          <a:bodyPr wrap="square" lIns="0" tIns="0" rIns="0" bIns="0" rtlCol="0" anchor="ctr"/>
          <a:lstStyle/>
          <a:p>
            <a:pPr indent="0" marL="0">
              <a:buNone/>
            </a:pPr>
            <a:r>
              <a:rPr lang="en-US" sz="1050" i="1" dirty="0">
                <a:solidFill>
                  <a:srgbClr val="6B7A8F"/>
                </a:solidFill>
                <a:latin typeface="Calibri" pitchFamily="34" charset="0"/>
                <a:ea typeface="Calibri" pitchFamily="34" charset="-122"/>
                <a:cs typeface="Calibri" pitchFamily="34" charset="-120"/>
              </a:rPr>
              <a:t>Trả lời: các khối đó NÓI CHUYỆN với nhau kiểu gì?</a:t>
            </a:r>
            <a:endParaRPr lang="en-US" sz="1050" dirty="0"/>
          </a:p>
        </p:txBody>
      </p:sp>
      <p:sp>
        <p:nvSpPr>
          <p:cNvPr id="47" name="Shape 45"/>
          <p:cNvSpPr/>
          <p:nvPr/>
        </p:nvSpPr>
        <p:spPr>
          <a:xfrm>
            <a:off x="6355080" y="2084832"/>
            <a:ext cx="5120640" cy="502920"/>
          </a:xfrm>
          <a:prstGeom prst="rect">
            <a:avLst/>
          </a:prstGeom>
          <a:solidFill>
            <a:srgbClr val="FFFFFF"/>
          </a:solidFill>
          <a:ln w="12700">
            <a:solidFill>
              <a:srgbClr val="C9D6E2"/>
            </a:solidFill>
            <a:prstDash val="solid"/>
          </a:ln>
        </p:spPr>
      </p:sp>
      <p:sp>
        <p:nvSpPr>
          <p:cNvPr id="48" name="Shape 46"/>
          <p:cNvSpPr/>
          <p:nvPr/>
        </p:nvSpPr>
        <p:spPr>
          <a:xfrm>
            <a:off x="6355080" y="2084832"/>
            <a:ext cx="91440" cy="502920"/>
          </a:xfrm>
          <a:prstGeom prst="rect">
            <a:avLst/>
          </a:prstGeom>
          <a:solidFill>
            <a:srgbClr val="12726B"/>
          </a:solidFill>
          <a:ln w="12700">
            <a:solidFill>
              <a:srgbClr val="12726B"/>
            </a:solidFill>
            <a:prstDash val="solid"/>
          </a:ln>
        </p:spPr>
      </p:sp>
      <p:sp>
        <p:nvSpPr>
          <p:cNvPr id="49" name="Text 47"/>
          <p:cNvSpPr/>
          <p:nvPr/>
        </p:nvSpPr>
        <p:spPr>
          <a:xfrm>
            <a:off x="6537960" y="2112264"/>
            <a:ext cx="4754880" cy="228600"/>
          </a:xfrm>
          <a:prstGeom prst="rect">
            <a:avLst/>
          </a:prstGeom>
          <a:noFill/>
          <a:ln/>
        </p:spPr>
        <p:txBody>
          <a:bodyPr wrap="square" lIns="0" tIns="0" rIns="0" bIns="0" rtlCol="0" anchor="ctr"/>
          <a:lstStyle/>
          <a:p>
            <a:pPr indent="0" marL="0">
              <a:buNone/>
            </a:pPr>
            <a:r>
              <a:rPr lang="en-US" sz="1100" b="1" dirty="0">
                <a:solidFill>
                  <a:srgbClr val="12726B"/>
                </a:solidFill>
                <a:latin typeface="Calibri" pitchFamily="34" charset="0"/>
                <a:ea typeface="Calibri" pitchFamily="34" charset="-122"/>
                <a:cs typeface="Calibri" pitchFamily="34" charset="-120"/>
              </a:rPr>
              <a:t>Synchronous Message (with reply)</a:t>
            </a:r>
            <a:endParaRPr lang="en-US" sz="1100" dirty="0"/>
          </a:p>
        </p:txBody>
      </p:sp>
      <p:sp>
        <p:nvSpPr>
          <p:cNvPr id="50" name="Text 48"/>
          <p:cNvSpPr/>
          <p:nvPr/>
        </p:nvSpPr>
        <p:spPr>
          <a:xfrm>
            <a:off x="6537960" y="2331720"/>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Gửi rồi CHỜ trả lời. Kiểu gọi hàm thông thường.</a:t>
            </a:r>
            <a:endParaRPr lang="en-US" sz="950" dirty="0"/>
          </a:p>
        </p:txBody>
      </p:sp>
      <p:sp>
        <p:nvSpPr>
          <p:cNvPr id="51" name="Shape 49"/>
          <p:cNvSpPr/>
          <p:nvPr/>
        </p:nvSpPr>
        <p:spPr>
          <a:xfrm>
            <a:off x="6355080" y="2660904"/>
            <a:ext cx="5120640" cy="502920"/>
          </a:xfrm>
          <a:prstGeom prst="rect">
            <a:avLst/>
          </a:prstGeom>
          <a:solidFill>
            <a:srgbClr val="FFFFFF"/>
          </a:solidFill>
          <a:ln w="12700">
            <a:solidFill>
              <a:srgbClr val="C9D6E2"/>
            </a:solidFill>
            <a:prstDash val="solid"/>
          </a:ln>
        </p:spPr>
      </p:sp>
      <p:sp>
        <p:nvSpPr>
          <p:cNvPr id="52" name="Shape 50"/>
          <p:cNvSpPr/>
          <p:nvPr/>
        </p:nvSpPr>
        <p:spPr>
          <a:xfrm>
            <a:off x="6355080" y="2660904"/>
            <a:ext cx="91440" cy="502920"/>
          </a:xfrm>
          <a:prstGeom prst="rect">
            <a:avLst/>
          </a:prstGeom>
          <a:solidFill>
            <a:srgbClr val="12726B"/>
          </a:solidFill>
          <a:ln w="12700">
            <a:solidFill>
              <a:srgbClr val="12726B"/>
            </a:solidFill>
            <a:prstDash val="solid"/>
          </a:ln>
        </p:spPr>
      </p:sp>
      <p:sp>
        <p:nvSpPr>
          <p:cNvPr id="53" name="Text 51"/>
          <p:cNvSpPr/>
          <p:nvPr/>
        </p:nvSpPr>
        <p:spPr>
          <a:xfrm>
            <a:off x="6537960" y="2688336"/>
            <a:ext cx="4754880" cy="228600"/>
          </a:xfrm>
          <a:prstGeom prst="rect">
            <a:avLst/>
          </a:prstGeom>
          <a:noFill/>
          <a:ln/>
        </p:spPr>
        <p:txBody>
          <a:bodyPr wrap="square" lIns="0" tIns="0" rIns="0" bIns="0" rtlCol="0" anchor="ctr"/>
          <a:lstStyle/>
          <a:p>
            <a:pPr indent="0" marL="0">
              <a:buNone/>
            </a:pPr>
            <a:r>
              <a:rPr lang="en-US" sz="1100" b="1" dirty="0">
                <a:solidFill>
                  <a:srgbClr val="12726B"/>
                </a:solidFill>
                <a:latin typeface="Calibri" pitchFamily="34" charset="0"/>
                <a:ea typeface="Calibri" pitchFamily="34" charset="-122"/>
                <a:cs typeface="Calibri" pitchFamily="34" charset="-120"/>
              </a:rPr>
              <a:t>Synchronous Message (no reply)</a:t>
            </a:r>
            <a:endParaRPr lang="en-US" sz="1100" dirty="0"/>
          </a:p>
        </p:txBody>
      </p:sp>
      <p:sp>
        <p:nvSpPr>
          <p:cNvPr id="54" name="Text 52"/>
          <p:cNvSpPr/>
          <p:nvPr/>
        </p:nvSpPr>
        <p:spPr>
          <a:xfrm>
            <a:off x="6537960" y="2907792"/>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Gửi, chờ bên kia nhận xong là đi tiếp, không cần kết quả.</a:t>
            </a:r>
            <a:endParaRPr lang="en-US" sz="950" dirty="0"/>
          </a:p>
        </p:txBody>
      </p:sp>
      <p:sp>
        <p:nvSpPr>
          <p:cNvPr id="55" name="Shape 53"/>
          <p:cNvSpPr/>
          <p:nvPr/>
        </p:nvSpPr>
        <p:spPr>
          <a:xfrm>
            <a:off x="6355080" y="3236976"/>
            <a:ext cx="5120640" cy="502920"/>
          </a:xfrm>
          <a:prstGeom prst="rect">
            <a:avLst/>
          </a:prstGeom>
          <a:solidFill>
            <a:srgbClr val="FFFFFF"/>
          </a:solidFill>
          <a:ln w="12700">
            <a:solidFill>
              <a:srgbClr val="C9D6E2"/>
            </a:solidFill>
            <a:prstDash val="solid"/>
          </a:ln>
        </p:spPr>
      </p:sp>
      <p:sp>
        <p:nvSpPr>
          <p:cNvPr id="56" name="Shape 54"/>
          <p:cNvSpPr/>
          <p:nvPr/>
        </p:nvSpPr>
        <p:spPr>
          <a:xfrm>
            <a:off x="6355080" y="3236976"/>
            <a:ext cx="91440" cy="502920"/>
          </a:xfrm>
          <a:prstGeom prst="rect">
            <a:avLst/>
          </a:prstGeom>
          <a:solidFill>
            <a:srgbClr val="12726B"/>
          </a:solidFill>
          <a:ln w="12700">
            <a:solidFill>
              <a:srgbClr val="12726B"/>
            </a:solidFill>
            <a:prstDash val="solid"/>
          </a:ln>
        </p:spPr>
      </p:sp>
      <p:sp>
        <p:nvSpPr>
          <p:cNvPr id="57" name="Text 55"/>
          <p:cNvSpPr/>
          <p:nvPr/>
        </p:nvSpPr>
        <p:spPr>
          <a:xfrm>
            <a:off x="6537960" y="3264408"/>
            <a:ext cx="4754880" cy="228600"/>
          </a:xfrm>
          <a:prstGeom prst="rect">
            <a:avLst/>
          </a:prstGeom>
          <a:noFill/>
          <a:ln/>
        </p:spPr>
        <p:txBody>
          <a:bodyPr wrap="square" lIns="0" tIns="0" rIns="0" bIns="0" rtlCol="0" anchor="ctr"/>
          <a:lstStyle/>
          <a:p>
            <a:pPr indent="0" marL="0">
              <a:buNone/>
            </a:pPr>
            <a:r>
              <a:rPr lang="en-US" sz="1100" b="1" dirty="0">
                <a:solidFill>
                  <a:srgbClr val="12726B"/>
                </a:solidFill>
                <a:latin typeface="Calibri" pitchFamily="34" charset="0"/>
                <a:ea typeface="Calibri" pitchFamily="34" charset="-122"/>
                <a:cs typeface="Calibri" pitchFamily="34" charset="-120"/>
              </a:rPr>
              <a:t>Asynchronous Message</a:t>
            </a:r>
            <a:endParaRPr lang="en-US" sz="1100" dirty="0"/>
          </a:p>
        </p:txBody>
      </p:sp>
      <p:sp>
        <p:nvSpPr>
          <p:cNvPr id="58" name="Text 56"/>
          <p:cNvSpPr/>
          <p:nvPr/>
        </p:nvSpPr>
        <p:spPr>
          <a:xfrm>
            <a:off x="6537960" y="3483864"/>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Gửi vào hàng đợi rồi chạy tiếp ngay, không chờ.</a:t>
            </a:r>
            <a:endParaRPr lang="en-US" sz="950" dirty="0"/>
          </a:p>
        </p:txBody>
      </p:sp>
      <p:sp>
        <p:nvSpPr>
          <p:cNvPr id="59" name="Shape 57"/>
          <p:cNvSpPr/>
          <p:nvPr/>
        </p:nvSpPr>
        <p:spPr>
          <a:xfrm>
            <a:off x="6355080" y="3813048"/>
            <a:ext cx="5120640" cy="502920"/>
          </a:xfrm>
          <a:prstGeom prst="rect">
            <a:avLst/>
          </a:prstGeom>
          <a:solidFill>
            <a:srgbClr val="FFFFFF"/>
          </a:solidFill>
          <a:ln w="12700">
            <a:solidFill>
              <a:srgbClr val="C9D6E2"/>
            </a:solidFill>
            <a:prstDash val="solid"/>
          </a:ln>
        </p:spPr>
      </p:sp>
      <p:sp>
        <p:nvSpPr>
          <p:cNvPr id="60" name="Shape 58"/>
          <p:cNvSpPr/>
          <p:nvPr/>
        </p:nvSpPr>
        <p:spPr>
          <a:xfrm>
            <a:off x="6355080" y="3813048"/>
            <a:ext cx="91440" cy="502920"/>
          </a:xfrm>
          <a:prstGeom prst="rect">
            <a:avLst/>
          </a:prstGeom>
          <a:solidFill>
            <a:srgbClr val="12726B"/>
          </a:solidFill>
          <a:ln w="12700">
            <a:solidFill>
              <a:srgbClr val="12726B"/>
            </a:solidFill>
            <a:prstDash val="solid"/>
          </a:ln>
        </p:spPr>
      </p:sp>
      <p:sp>
        <p:nvSpPr>
          <p:cNvPr id="61" name="Text 59"/>
          <p:cNvSpPr/>
          <p:nvPr/>
        </p:nvSpPr>
        <p:spPr>
          <a:xfrm>
            <a:off x="6537960" y="3840480"/>
            <a:ext cx="4754880" cy="228600"/>
          </a:xfrm>
          <a:prstGeom prst="rect">
            <a:avLst/>
          </a:prstGeom>
          <a:noFill/>
          <a:ln/>
        </p:spPr>
        <p:txBody>
          <a:bodyPr wrap="square" lIns="0" tIns="0" rIns="0" bIns="0" rtlCol="0" anchor="ctr"/>
          <a:lstStyle/>
          <a:p>
            <a:pPr indent="0" marL="0">
              <a:buNone/>
            </a:pPr>
            <a:r>
              <a:rPr lang="en-US" sz="1100" b="1" dirty="0">
                <a:solidFill>
                  <a:srgbClr val="12726B"/>
                </a:solidFill>
                <a:latin typeface="Calibri" pitchFamily="34" charset="0"/>
                <a:ea typeface="Calibri" pitchFamily="34" charset="-122"/>
                <a:cs typeface="Calibri" pitchFamily="34" charset="-120"/>
              </a:rPr>
              <a:t>Broker Handle / Broker Forwarding</a:t>
            </a:r>
            <a:endParaRPr lang="en-US" sz="1100" dirty="0"/>
          </a:p>
        </p:txBody>
      </p:sp>
      <p:sp>
        <p:nvSpPr>
          <p:cNvPr id="62" name="Text 60"/>
          <p:cNvSpPr/>
          <p:nvPr/>
        </p:nvSpPr>
        <p:spPr>
          <a:xfrm>
            <a:off x="6537960" y="4059936"/>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Bên môi giới giúp client tìm hoặc chuyển tiếp tới server phù hợp.</a:t>
            </a:r>
            <a:endParaRPr lang="en-US" sz="950" dirty="0"/>
          </a:p>
        </p:txBody>
      </p:sp>
      <p:sp>
        <p:nvSpPr>
          <p:cNvPr id="63" name="Shape 61"/>
          <p:cNvSpPr/>
          <p:nvPr/>
        </p:nvSpPr>
        <p:spPr>
          <a:xfrm>
            <a:off x="6355080" y="4389120"/>
            <a:ext cx="5120640" cy="502920"/>
          </a:xfrm>
          <a:prstGeom prst="rect">
            <a:avLst/>
          </a:prstGeom>
          <a:solidFill>
            <a:srgbClr val="FFFFFF"/>
          </a:solidFill>
          <a:ln w="12700">
            <a:solidFill>
              <a:srgbClr val="C9D6E2"/>
            </a:solidFill>
            <a:prstDash val="solid"/>
          </a:ln>
        </p:spPr>
      </p:sp>
      <p:sp>
        <p:nvSpPr>
          <p:cNvPr id="64" name="Shape 62"/>
          <p:cNvSpPr/>
          <p:nvPr/>
        </p:nvSpPr>
        <p:spPr>
          <a:xfrm>
            <a:off x="6355080" y="4389120"/>
            <a:ext cx="91440" cy="502920"/>
          </a:xfrm>
          <a:prstGeom prst="rect">
            <a:avLst/>
          </a:prstGeom>
          <a:solidFill>
            <a:srgbClr val="12726B"/>
          </a:solidFill>
          <a:ln w="12700">
            <a:solidFill>
              <a:srgbClr val="12726B"/>
            </a:solidFill>
            <a:prstDash val="solid"/>
          </a:ln>
        </p:spPr>
      </p:sp>
      <p:sp>
        <p:nvSpPr>
          <p:cNvPr id="65" name="Text 63"/>
          <p:cNvSpPr/>
          <p:nvPr/>
        </p:nvSpPr>
        <p:spPr>
          <a:xfrm>
            <a:off x="6537960" y="4416552"/>
            <a:ext cx="4754880" cy="228600"/>
          </a:xfrm>
          <a:prstGeom prst="rect">
            <a:avLst/>
          </a:prstGeom>
          <a:noFill/>
          <a:ln/>
        </p:spPr>
        <p:txBody>
          <a:bodyPr wrap="square" lIns="0" tIns="0" rIns="0" bIns="0" rtlCol="0" anchor="ctr"/>
          <a:lstStyle/>
          <a:p>
            <a:pPr indent="0" marL="0">
              <a:buNone/>
            </a:pPr>
            <a:r>
              <a:rPr lang="en-US" sz="1100" b="1" dirty="0">
                <a:solidFill>
                  <a:srgbClr val="12726B"/>
                </a:solidFill>
                <a:latin typeface="Calibri" pitchFamily="34" charset="0"/>
                <a:ea typeface="Calibri" pitchFamily="34" charset="-122"/>
                <a:cs typeface="Calibri" pitchFamily="34" charset="-120"/>
              </a:rPr>
              <a:t>Service Discovery</a:t>
            </a:r>
            <a:endParaRPr lang="en-US" sz="1100" dirty="0"/>
          </a:p>
        </p:txBody>
      </p:sp>
      <p:sp>
        <p:nvSpPr>
          <p:cNvPr id="66" name="Text 64"/>
          <p:cNvSpPr/>
          <p:nvPr/>
        </p:nvSpPr>
        <p:spPr>
          <a:xfrm>
            <a:off x="6537960" y="4636008"/>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Client hỏi registry “ai cung cấp dịch vụ này?” rồi mới gọi.</a:t>
            </a:r>
            <a:endParaRPr lang="en-US" sz="950" dirty="0"/>
          </a:p>
        </p:txBody>
      </p:sp>
      <p:sp>
        <p:nvSpPr>
          <p:cNvPr id="67" name="Shape 65"/>
          <p:cNvSpPr/>
          <p:nvPr/>
        </p:nvSpPr>
        <p:spPr>
          <a:xfrm>
            <a:off x="6355080" y="4965192"/>
            <a:ext cx="5120640" cy="502920"/>
          </a:xfrm>
          <a:prstGeom prst="rect">
            <a:avLst/>
          </a:prstGeom>
          <a:solidFill>
            <a:srgbClr val="FFFFFF"/>
          </a:solidFill>
          <a:ln w="12700">
            <a:solidFill>
              <a:srgbClr val="C9D6E2"/>
            </a:solidFill>
            <a:prstDash val="solid"/>
          </a:ln>
        </p:spPr>
      </p:sp>
      <p:sp>
        <p:nvSpPr>
          <p:cNvPr id="68" name="Shape 66"/>
          <p:cNvSpPr/>
          <p:nvPr/>
        </p:nvSpPr>
        <p:spPr>
          <a:xfrm>
            <a:off x="6355080" y="4965192"/>
            <a:ext cx="91440" cy="502920"/>
          </a:xfrm>
          <a:prstGeom prst="rect">
            <a:avLst/>
          </a:prstGeom>
          <a:solidFill>
            <a:srgbClr val="12726B"/>
          </a:solidFill>
          <a:ln w="12700">
            <a:solidFill>
              <a:srgbClr val="12726B"/>
            </a:solidFill>
            <a:prstDash val="solid"/>
          </a:ln>
        </p:spPr>
      </p:sp>
      <p:sp>
        <p:nvSpPr>
          <p:cNvPr id="69" name="Text 67"/>
          <p:cNvSpPr/>
          <p:nvPr/>
        </p:nvSpPr>
        <p:spPr>
          <a:xfrm>
            <a:off x="6537960" y="4992624"/>
            <a:ext cx="4754880" cy="228600"/>
          </a:xfrm>
          <a:prstGeom prst="rect">
            <a:avLst/>
          </a:prstGeom>
          <a:noFill/>
          <a:ln/>
        </p:spPr>
        <p:txBody>
          <a:bodyPr wrap="square" lIns="0" tIns="0" rIns="0" bIns="0" rtlCol="0" anchor="ctr"/>
          <a:lstStyle/>
          <a:p>
            <a:pPr indent="0" marL="0">
              <a:buNone/>
            </a:pPr>
            <a:r>
              <a:rPr lang="en-US" sz="1100" b="1" dirty="0">
                <a:solidFill>
                  <a:srgbClr val="12726B"/>
                </a:solidFill>
                <a:latin typeface="Calibri" pitchFamily="34" charset="0"/>
                <a:ea typeface="Calibri" pitchFamily="34" charset="-122"/>
                <a:cs typeface="Calibri" pitchFamily="34" charset="-120"/>
              </a:rPr>
              <a:t>Subscription / Notification</a:t>
            </a:r>
            <a:endParaRPr lang="en-US" sz="1100" dirty="0"/>
          </a:p>
        </p:txBody>
      </p:sp>
      <p:sp>
        <p:nvSpPr>
          <p:cNvPr id="70" name="Text 68"/>
          <p:cNvSpPr/>
          <p:nvPr/>
        </p:nvSpPr>
        <p:spPr>
          <a:xfrm>
            <a:off x="6537960" y="5212080"/>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Đăng ký nhận sự kiện; khi có thay đổi thì được thông báo.</a:t>
            </a:r>
            <a:endParaRPr lang="en-US" sz="950" dirty="0"/>
          </a:p>
        </p:txBody>
      </p:sp>
      <p:sp>
        <p:nvSpPr>
          <p:cNvPr id="71" name="Shape 69"/>
          <p:cNvSpPr/>
          <p:nvPr/>
        </p:nvSpPr>
        <p:spPr>
          <a:xfrm>
            <a:off x="6355080" y="5541264"/>
            <a:ext cx="5120640" cy="502920"/>
          </a:xfrm>
          <a:prstGeom prst="rect">
            <a:avLst/>
          </a:prstGeom>
          <a:solidFill>
            <a:srgbClr val="FFFFFF"/>
          </a:solidFill>
          <a:ln w="12700">
            <a:solidFill>
              <a:srgbClr val="C9D6E2"/>
            </a:solidFill>
            <a:prstDash val="solid"/>
          </a:ln>
        </p:spPr>
      </p:sp>
      <p:sp>
        <p:nvSpPr>
          <p:cNvPr id="72" name="Shape 70"/>
          <p:cNvSpPr/>
          <p:nvPr/>
        </p:nvSpPr>
        <p:spPr>
          <a:xfrm>
            <a:off x="6355080" y="5541264"/>
            <a:ext cx="91440" cy="502920"/>
          </a:xfrm>
          <a:prstGeom prst="rect">
            <a:avLst/>
          </a:prstGeom>
          <a:solidFill>
            <a:srgbClr val="12726B"/>
          </a:solidFill>
          <a:ln w="12700">
            <a:solidFill>
              <a:srgbClr val="12726B"/>
            </a:solidFill>
            <a:prstDash val="solid"/>
          </a:ln>
        </p:spPr>
      </p:sp>
      <p:sp>
        <p:nvSpPr>
          <p:cNvPr id="73" name="Text 71"/>
          <p:cNvSpPr/>
          <p:nvPr/>
        </p:nvSpPr>
        <p:spPr>
          <a:xfrm>
            <a:off x="6537960" y="5568696"/>
            <a:ext cx="4754880" cy="228600"/>
          </a:xfrm>
          <a:prstGeom prst="rect">
            <a:avLst/>
          </a:prstGeom>
          <a:noFill/>
          <a:ln/>
        </p:spPr>
        <p:txBody>
          <a:bodyPr wrap="square" lIns="0" tIns="0" rIns="0" bIns="0" rtlCol="0" anchor="ctr"/>
          <a:lstStyle/>
          <a:p>
            <a:pPr indent="0" marL="0">
              <a:buNone/>
            </a:pPr>
            <a:r>
              <a:rPr lang="en-US" sz="1100" b="1" dirty="0">
                <a:solidFill>
                  <a:srgbClr val="12726B"/>
                </a:solidFill>
                <a:latin typeface="Calibri" pitchFamily="34" charset="0"/>
                <a:ea typeface="Calibri" pitchFamily="34" charset="-122"/>
                <a:cs typeface="Calibri" pitchFamily="34" charset="-120"/>
              </a:rPr>
              <a:t>Negotiation</a:t>
            </a:r>
            <a:endParaRPr lang="en-US" sz="1100" dirty="0"/>
          </a:p>
        </p:txBody>
      </p:sp>
      <p:sp>
        <p:nvSpPr>
          <p:cNvPr id="74" name="Text 72"/>
          <p:cNvSpPr/>
          <p:nvPr/>
        </p:nvSpPr>
        <p:spPr>
          <a:xfrm>
            <a:off x="6537960" y="5788152"/>
            <a:ext cx="4846320" cy="228600"/>
          </a:xfrm>
          <a:prstGeom prst="rect">
            <a:avLst/>
          </a:prstGeom>
          <a:noFill/>
          <a:ln/>
        </p:spPr>
        <p:txBody>
          <a:bodyPr wrap="square" lIns="0" tIns="0" rIns="0" bIns="0" rtlCol="0" anchor="ctr"/>
          <a:lstStyle/>
          <a:p>
            <a:pPr indent="0" marL="0">
              <a:buNone/>
            </a:pPr>
            <a:r>
              <a:rPr lang="en-US" sz="950" dirty="0">
                <a:solidFill>
                  <a:srgbClr val="3E5C76"/>
                </a:solidFill>
                <a:latin typeface="Calibri" pitchFamily="34" charset="0"/>
                <a:ea typeface="Calibri" pitchFamily="34" charset="-122"/>
                <a:cs typeface="Calibri" pitchFamily="34" charset="-120"/>
              </a:rPr>
              <a:t>Hai bên thương lượng qua lại trước khi chốt giao dịch.</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6</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Layers of Abstraction — kiến trúc phân tầng</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Mẫu cấu trúc nền tảng nhất, và cũng là lựa chọn an toàn nhất trong bài thi</a:t>
            </a:r>
            <a:endParaRPr lang="en-US" sz="1300" dirty="0"/>
          </a:p>
        </p:txBody>
      </p:sp>
      <p:sp>
        <p:nvSpPr>
          <p:cNvPr id="6" name="Shape 4"/>
          <p:cNvSpPr/>
          <p:nvPr/>
        </p:nvSpPr>
        <p:spPr>
          <a:xfrm>
            <a:off x="685800" y="1463040"/>
            <a:ext cx="4846320" cy="749808"/>
          </a:xfrm>
          <a:prstGeom prst="roundRect">
            <a:avLst>
              <a:gd name="adj" fmla="val 8537"/>
            </a:avLst>
          </a:prstGeom>
          <a:solidFill>
            <a:srgbClr val="E8A317"/>
          </a:solidFill>
          <a:ln w="15240">
            <a:solidFill>
              <a:srgbClr val="E8A317"/>
            </a:solidFill>
            <a:prstDash val="solid"/>
          </a:ln>
        </p:spPr>
      </p:sp>
      <p:sp>
        <p:nvSpPr>
          <p:cNvPr id="7" name="Text 5"/>
          <p:cNvSpPr/>
          <p:nvPr/>
        </p:nvSpPr>
        <p:spPr>
          <a:xfrm>
            <a:off x="731520" y="1463040"/>
            <a:ext cx="4754880" cy="749808"/>
          </a:xfrm>
          <a:prstGeom prst="rect">
            <a:avLst/>
          </a:prstGeom>
          <a:noFill/>
          <a:ln/>
        </p:spPr>
        <p:txBody>
          <a:bodyPr wrap="square" lIns="0" tIns="0" rIns="0" bIns="0" rtlCol="0" anchor="ctr"/>
          <a:lstStyle/>
          <a:p>
            <a:pPr algn="ctr" indent="0" marL="0">
              <a:lnSpc>
                <a:spcPct val="95000"/>
              </a:lnSpc>
              <a:buNone/>
            </a:pPr>
            <a:r>
              <a:rPr lang="en-US" sz="1300" b="1" dirty="0">
                <a:solidFill>
                  <a:srgbClr val="0B2545"/>
                </a:solidFill>
                <a:latin typeface="Calibri" pitchFamily="34" charset="0"/>
                <a:ea typeface="Calibri" pitchFamily="34" charset="-122"/>
                <a:cs typeface="Calibri" pitchFamily="34" charset="-120"/>
              </a:rPr>
              <a:t>Presentation Layer</a:t>
            </a:r>
            <a:endParaRPr lang="en-US" sz="1300" dirty="0"/>
          </a:p>
          <a:p>
            <a:pPr algn="ctr" indent="0" marL="0">
              <a:lnSpc>
                <a:spcPct val="95000"/>
              </a:lnSpc>
              <a:buNone/>
            </a:pPr>
            <a:r>
              <a:rPr lang="en-US" sz="1150" i="1" dirty="0">
                <a:solidFill>
                  <a:srgbClr val="5A4A20"/>
                </a:solidFill>
                <a:latin typeface="Calibri" pitchFamily="34" charset="0"/>
                <a:ea typeface="Calibri" pitchFamily="34" charset="-122"/>
                <a:cs typeface="Calibri" pitchFamily="34" charset="-120"/>
              </a:rPr>
              <a:t>Giao diện, controller, API endpoint</a:t>
            </a:r>
            <a:endParaRPr lang="en-US" sz="1300" dirty="0"/>
          </a:p>
        </p:txBody>
      </p:sp>
      <p:sp>
        <p:nvSpPr>
          <p:cNvPr id="8" name="Shape 6"/>
          <p:cNvSpPr/>
          <p:nvPr/>
        </p:nvSpPr>
        <p:spPr>
          <a:xfrm>
            <a:off x="2194560" y="2212848"/>
            <a:ext cx="0" cy="274320"/>
          </a:xfrm>
          <a:prstGeom prst="line">
            <a:avLst/>
          </a:prstGeom>
          <a:noFill/>
          <a:ln w="16510">
            <a:solidFill>
              <a:srgbClr val="0B2545"/>
            </a:solidFill>
            <a:prstDash val="solid"/>
            <a:tailEnd type="triangle"/>
          </a:ln>
        </p:spPr>
      </p:sp>
      <p:sp>
        <p:nvSpPr>
          <p:cNvPr id="9" name="Shape 7"/>
          <p:cNvSpPr/>
          <p:nvPr/>
        </p:nvSpPr>
        <p:spPr>
          <a:xfrm>
            <a:off x="4023360" y="2212848"/>
            <a:ext cx="0" cy="274320"/>
          </a:xfrm>
          <a:prstGeom prst="line">
            <a:avLst/>
          </a:prstGeom>
          <a:noFill/>
          <a:ln w="16510">
            <a:solidFill>
              <a:srgbClr val="6B7A8F"/>
            </a:solidFill>
            <a:prstDash val="dash"/>
            <a:headEnd type="triangle"/>
          </a:ln>
        </p:spPr>
      </p:sp>
      <p:sp>
        <p:nvSpPr>
          <p:cNvPr id="10" name="Shape 8"/>
          <p:cNvSpPr/>
          <p:nvPr/>
        </p:nvSpPr>
        <p:spPr>
          <a:xfrm>
            <a:off x="685800" y="2487168"/>
            <a:ext cx="4846320" cy="749808"/>
          </a:xfrm>
          <a:prstGeom prst="roundRect">
            <a:avLst>
              <a:gd name="adj" fmla="val 8537"/>
            </a:avLst>
          </a:prstGeom>
          <a:solidFill>
            <a:srgbClr val="0B2545"/>
          </a:solidFill>
          <a:ln w="15240">
            <a:solidFill>
              <a:srgbClr val="0B2545"/>
            </a:solidFill>
            <a:prstDash val="solid"/>
          </a:ln>
        </p:spPr>
      </p:sp>
      <p:sp>
        <p:nvSpPr>
          <p:cNvPr id="11" name="Text 9"/>
          <p:cNvSpPr/>
          <p:nvPr/>
        </p:nvSpPr>
        <p:spPr>
          <a:xfrm>
            <a:off x="731520" y="2487168"/>
            <a:ext cx="4754880" cy="749808"/>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Business Logic Layer</a:t>
            </a:r>
            <a:endParaRPr lang="en-US" sz="1300" dirty="0"/>
          </a:p>
          <a:p>
            <a:pPr algn="ctr" indent="0" marL="0">
              <a:lnSpc>
                <a:spcPct val="95000"/>
              </a:lnSpc>
              <a:buNone/>
            </a:pPr>
            <a:r>
              <a:rPr lang="en-US" sz="1150" i="1" dirty="0">
                <a:solidFill>
                  <a:srgbClr val="D6E2EE"/>
                </a:solidFill>
                <a:latin typeface="Calibri" pitchFamily="34" charset="0"/>
                <a:ea typeface="Calibri" pitchFamily="34" charset="-122"/>
                <a:cs typeface="Calibri" pitchFamily="34" charset="-120"/>
              </a:rPr>
              <a:t>Service, quy tắc nghiệp vụ, validation</a:t>
            </a:r>
            <a:endParaRPr lang="en-US" sz="1300" dirty="0"/>
          </a:p>
        </p:txBody>
      </p:sp>
      <p:sp>
        <p:nvSpPr>
          <p:cNvPr id="12" name="Shape 10"/>
          <p:cNvSpPr/>
          <p:nvPr/>
        </p:nvSpPr>
        <p:spPr>
          <a:xfrm>
            <a:off x="2194560" y="3236976"/>
            <a:ext cx="0" cy="274320"/>
          </a:xfrm>
          <a:prstGeom prst="line">
            <a:avLst/>
          </a:prstGeom>
          <a:noFill/>
          <a:ln w="16510">
            <a:solidFill>
              <a:srgbClr val="0B2545"/>
            </a:solidFill>
            <a:prstDash val="solid"/>
            <a:tailEnd type="triangle"/>
          </a:ln>
        </p:spPr>
      </p:sp>
      <p:sp>
        <p:nvSpPr>
          <p:cNvPr id="13" name="Shape 11"/>
          <p:cNvSpPr/>
          <p:nvPr/>
        </p:nvSpPr>
        <p:spPr>
          <a:xfrm>
            <a:off x="4023360" y="3236976"/>
            <a:ext cx="0" cy="274320"/>
          </a:xfrm>
          <a:prstGeom prst="line">
            <a:avLst/>
          </a:prstGeom>
          <a:noFill/>
          <a:ln w="16510">
            <a:solidFill>
              <a:srgbClr val="6B7A8F"/>
            </a:solidFill>
            <a:prstDash val="dash"/>
            <a:headEnd type="triangle"/>
          </a:ln>
        </p:spPr>
      </p:sp>
      <p:sp>
        <p:nvSpPr>
          <p:cNvPr id="14" name="Shape 12"/>
          <p:cNvSpPr/>
          <p:nvPr/>
        </p:nvSpPr>
        <p:spPr>
          <a:xfrm>
            <a:off x="685800" y="3511296"/>
            <a:ext cx="4846320" cy="749808"/>
          </a:xfrm>
          <a:prstGeom prst="roundRect">
            <a:avLst>
              <a:gd name="adj" fmla="val 8537"/>
            </a:avLst>
          </a:prstGeom>
          <a:solidFill>
            <a:srgbClr val="12726B"/>
          </a:solidFill>
          <a:ln w="15240">
            <a:solidFill>
              <a:srgbClr val="12726B"/>
            </a:solidFill>
            <a:prstDash val="solid"/>
          </a:ln>
        </p:spPr>
      </p:sp>
      <p:sp>
        <p:nvSpPr>
          <p:cNvPr id="15" name="Text 13"/>
          <p:cNvSpPr/>
          <p:nvPr/>
        </p:nvSpPr>
        <p:spPr>
          <a:xfrm>
            <a:off x="731520" y="3511296"/>
            <a:ext cx="4754880" cy="749808"/>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Data Access Layer</a:t>
            </a:r>
            <a:endParaRPr lang="en-US" sz="1300" dirty="0"/>
          </a:p>
          <a:p>
            <a:pPr algn="ctr" indent="0" marL="0">
              <a:lnSpc>
                <a:spcPct val="95000"/>
              </a:lnSpc>
              <a:buNone/>
            </a:pPr>
            <a:r>
              <a:rPr lang="en-US" sz="1150" i="1" dirty="0">
                <a:solidFill>
                  <a:srgbClr val="D6E2EE"/>
                </a:solidFill>
                <a:latin typeface="Calibri" pitchFamily="34" charset="0"/>
                <a:ea typeface="Calibri" pitchFamily="34" charset="-122"/>
                <a:cs typeface="Calibri" pitchFamily="34" charset="-120"/>
              </a:rPr>
              <a:t>Repository, DAO, ORM</a:t>
            </a:r>
            <a:endParaRPr lang="en-US" sz="1300" dirty="0"/>
          </a:p>
        </p:txBody>
      </p:sp>
      <p:sp>
        <p:nvSpPr>
          <p:cNvPr id="16" name="Shape 14"/>
          <p:cNvSpPr/>
          <p:nvPr/>
        </p:nvSpPr>
        <p:spPr>
          <a:xfrm>
            <a:off x="2194560" y="4261104"/>
            <a:ext cx="0" cy="274320"/>
          </a:xfrm>
          <a:prstGeom prst="line">
            <a:avLst/>
          </a:prstGeom>
          <a:noFill/>
          <a:ln w="16510">
            <a:solidFill>
              <a:srgbClr val="0B2545"/>
            </a:solidFill>
            <a:prstDash val="solid"/>
            <a:tailEnd type="triangle"/>
          </a:ln>
        </p:spPr>
      </p:sp>
      <p:sp>
        <p:nvSpPr>
          <p:cNvPr id="17" name="Shape 15"/>
          <p:cNvSpPr/>
          <p:nvPr/>
        </p:nvSpPr>
        <p:spPr>
          <a:xfrm>
            <a:off x="4023360" y="4261104"/>
            <a:ext cx="0" cy="274320"/>
          </a:xfrm>
          <a:prstGeom prst="line">
            <a:avLst/>
          </a:prstGeom>
          <a:noFill/>
          <a:ln w="16510">
            <a:solidFill>
              <a:srgbClr val="6B7A8F"/>
            </a:solidFill>
            <a:prstDash val="dash"/>
            <a:headEnd type="triangle"/>
          </a:ln>
        </p:spPr>
      </p:sp>
      <p:sp>
        <p:nvSpPr>
          <p:cNvPr id="18" name="Shape 16"/>
          <p:cNvSpPr/>
          <p:nvPr/>
        </p:nvSpPr>
        <p:spPr>
          <a:xfrm>
            <a:off x="685800" y="4535424"/>
            <a:ext cx="4846320" cy="749808"/>
          </a:xfrm>
          <a:prstGeom prst="roundRect">
            <a:avLst>
              <a:gd name="adj" fmla="val 8537"/>
            </a:avLst>
          </a:prstGeom>
          <a:solidFill>
            <a:srgbClr val="3E5C76"/>
          </a:solidFill>
          <a:ln w="15240">
            <a:solidFill>
              <a:srgbClr val="3E5C76"/>
            </a:solidFill>
            <a:prstDash val="solid"/>
          </a:ln>
        </p:spPr>
      </p:sp>
      <p:sp>
        <p:nvSpPr>
          <p:cNvPr id="19" name="Text 17"/>
          <p:cNvSpPr/>
          <p:nvPr/>
        </p:nvSpPr>
        <p:spPr>
          <a:xfrm>
            <a:off x="731520" y="4535424"/>
            <a:ext cx="4754880" cy="749808"/>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Database / Storage</a:t>
            </a:r>
            <a:endParaRPr lang="en-US" sz="1300" dirty="0"/>
          </a:p>
          <a:p>
            <a:pPr algn="ctr" indent="0" marL="0">
              <a:lnSpc>
                <a:spcPct val="95000"/>
              </a:lnSpc>
              <a:buNone/>
            </a:pPr>
            <a:r>
              <a:rPr lang="en-US" sz="1150" i="1" dirty="0">
                <a:solidFill>
                  <a:srgbClr val="D6E2EE"/>
                </a:solidFill>
                <a:latin typeface="Calibri" pitchFamily="34" charset="0"/>
                <a:ea typeface="Calibri" pitchFamily="34" charset="-122"/>
                <a:cs typeface="Calibri" pitchFamily="34" charset="-120"/>
              </a:rPr>
              <a:t>SQL Server, MongoDB, file</a:t>
            </a:r>
            <a:endParaRPr lang="en-US" sz="1300" dirty="0"/>
          </a:p>
        </p:txBody>
      </p:sp>
      <p:sp>
        <p:nvSpPr>
          <p:cNvPr id="20" name="Text 18"/>
          <p:cNvSpPr/>
          <p:nvPr/>
        </p:nvSpPr>
        <p:spPr>
          <a:xfrm>
            <a:off x="914400" y="2286000"/>
            <a:ext cx="1143000" cy="219456"/>
          </a:xfrm>
          <a:prstGeom prst="rect">
            <a:avLst/>
          </a:prstGeom>
          <a:noFill/>
          <a:ln/>
        </p:spPr>
        <p:txBody>
          <a:bodyPr wrap="square" lIns="0" tIns="0" rIns="0" bIns="0" rtlCol="0" anchor="ctr"/>
          <a:lstStyle/>
          <a:p>
            <a:pPr algn="r" indent="0" marL="0">
              <a:buNone/>
            </a:pPr>
            <a:r>
              <a:rPr lang="en-US" sz="900" i="1" dirty="0">
                <a:solidFill>
                  <a:srgbClr val="0B2545"/>
                </a:solidFill>
                <a:latin typeface="Calibri" pitchFamily="34" charset="0"/>
                <a:ea typeface="Calibri" pitchFamily="34" charset="-122"/>
                <a:cs typeface="Calibri" pitchFamily="34" charset="-120"/>
              </a:rPr>
              <a:t>gọi xuống</a:t>
            </a:r>
            <a:endParaRPr lang="en-US" sz="900" dirty="0"/>
          </a:p>
        </p:txBody>
      </p:sp>
      <p:sp>
        <p:nvSpPr>
          <p:cNvPr id="21" name="Text 19"/>
          <p:cNvSpPr/>
          <p:nvPr/>
        </p:nvSpPr>
        <p:spPr>
          <a:xfrm>
            <a:off x="4160520" y="2286000"/>
            <a:ext cx="1371600" cy="219456"/>
          </a:xfrm>
          <a:prstGeom prst="rect">
            <a:avLst/>
          </a:prstGeom>
          <a:noFill/>
          <a:ln/>
        </p:spPr>
        <p:txBody>
          <a:bodyPr wrap="square" lIns="0" tIns="0" rIns="0" bIns="0" rtlCol="0" anchor="ctr"/>
          <a:lstStyle/>
          <a:p>
            <a:pPr indent="0" marL="0">
              <a:buNone/>
            </a:pPr>
            <a:r>
              <a:rPr lang="en-US" sz="900" i="1" dirty="0">
                <a:solidFill>
                  <a:srgbClr val="6B7A8F"/>
                </a:solidFill>
                <a:latin typeface="Calibri" pitchFamily="34" charset="0"/>
                <a:ea typeface="Calibri" pitchFamily="34" charset="-122"/>
                <a:cs typeface="Calibri" pitchFamily="34" charset="-120"/>
              </a:rPr>
              <a:t>trả kết quả lên</a:t>
            </a:r>
            <a:endParaRPr lang="en-US" sz="900" dirty="0"/>
          </a:p>
        </p:txBody>
      </p:sp>
      <p:sp>
        <p:nvSpPr>
          <p:cNvPr id="22" name="Shape 20"/>
          <p:cNvSpPr/>
          <p:nvPr/>
        </p:nvSpPr>
        <p:spPr>
          <a:xfrm>
            <a:off x="6400800" y="1371600"/>
            <a:ext cx="5257800" cy="877824"/>
          </a:xfrm>
          <a:prstGeom prst="roundRect">
            <a:avLst>
              <a:gd name="adj" fmla="val 8333"/>
            </a:avLst>
          </a:prstGeom>
          <a:solidFill>
            <a:srgbClr val="F1F5F9"/>
          </a:solidFill>
          <a:ln w="12700">
            <a:solidFill>
              <a:srgbClr val="DCE4EC"/>
            </a:solidFill>
            <a:prstDash val="solid"/>
          </a:ln>
        </p:spPr>
      </p:sp>
      <p:sp>
        <p:nvSpPr>
          <p:cNvPr id="23" name="Text 21"/>
          <p:cNvSpPr/>
          <p:nvPr/>
        </p:nvSpPr>
        <p:spPr>
          <a:xfrm>
            <a:off x="6601968" y="1426464"/>
            <a:ext cx="4846320" cy="274320"/>
          </a:xfrm>
          <a:prstGeom prst="rect">
            <a:avLst/>
          </a:prstGeom>
          <a:noFill/>
          <a:ln/>
        </p:spPr>
        <p:txBody>
          <a:bodyPr wrap="square" lIns="0" tIns="0" rIns="0" bIns="0" rtlCol="0" anchor="ctr"/>
          <a:lstStyle/>
          <a:p>
            <a:pPr indent="0" marL="0">
              <a:buNone/>
            </a:pPr>
            <a:r>
              <a:rPr lang="en-US" sz="1250" b="1" dirty="0">
                <a:solidFill>
                  <a:srgbClr val="B23A32"/>
                </a:solidFill>
                <a:latin typeface="Calibri" pitchFamily="34" charset="0"/>
                <a:ea typeface="Calibri" pitchFamily="34" charset="-122"/>
                <a:cs typeface="Calibri" pitchFamily="34" charset="-120"/>
              </a:rPr>
              <a:t>Quy tắc vàng: chỉ gọi XUỐNG</a:t>
            </a:r>
            <a:endParaRPr lang="en-US" sz="1250" dirty="0"/>
          </a:p>
        </p:txBody>
      </p:sp>
      <p:sp>
        <p:nvSpPr>
          <p:cNvPr id="24" name="Text 22"/>
          <p:cNvSpPr/>
          <p:nvPr/>
        </p:nvSpPr>
        <p:spPr>
          <a:xfrm>
            <a:off x="6601968" y="1700784"/>
            <a:ext cx="4892040" cy="512064"/>
          </a:xfrm>
          <a:prstGeom prst="rect">
            <a:avLst/>
          </a:prstGeom>
          <a:noFill/>
          <a:ln/>
        </p:spPr>
        <p:txBody>
          <a:bodyPr wrap="square" lIns="0" tIns="0" rIns="0" bIns="0" rtlCol="0" anchor="t"/>
          <a:lstStyle/>
          <a:p>
            <a:pPr indent="0" marL="0">
              <a:lnSpc>
                <a:spcPct val="105000"/>
              </a:lnSpc>
              <a:buNone/>
            </a:pPr>
            <a:r>
              <a:rPr lang="en-US" sz="1050" dirty="0">
                <a:solidFill>
                  <a:srgbClr val="3E5C76"/>
                </a:solidFill>
                <a:latin typeface="Calibri" pitchFamily="34" charset="0"/>
                <a:ea typeface="Calibri" pitchFamily="34" charset="-122"/>
                <a:cs typeface="Calibri" pitchFamily="34" charset="-120"/>
              </a:rPr>
              <a:t>Tầng trên được dùng tầng ngay dưới. Tầng dưới TUYỆT ĐỐI không gọi ngược lên tầng trên — nếu cần báo ngược, dùng event hoặc callback.</a:t>
            </a:r>
            <a:endParaRPr lang="en-US" sz="1050" dirty="0"/>
          </a:p>
        </p:txBody>
      </p:sp>
      <p:sp>
        <p:nvSpPr>
          <p:cNvPr id="25" name="Shape 23"/>
          <p:cNvSpPr/>
          <p:nvPr/>
        </p:nvSpPr>
        <p:spPr>
          <a:xfrm>
            <a:off x="6400800" y="2340864"/>
            <a:ext cx="5257800" cy="877824"/>
          </a:xfrm>
          <a:prstGeom prst="roundRect">
            <a:avLst>
              <a:gd name="adj" fmla="val 8333"/>
            </a:avLst>
          </a:prstGeom>
          <a:solidFill>
            <a:srgbClr val="FFFFFF"/>
          </a:solidFill>
          <a:ln w="12700">
            <a:solidFill>
              <a:srgbClr val="DCE4EC"/>
            </a:solidFill>
            <a:prstDash val="solid"/>
          </a:ln>
        </p:spPr>
      </p:sp>
      <p:sp>
        <p:nvSpPr>
          <p:cNvPr id="26" name="Text 24"/>
          <p:cNvSpPr/>
          <p:nvPr/>
        </p:nvSpPr>
        <p:spPr>
          <a:xfrm>
            <a:off x="6601968" y="2395728"/>
            <a:ext cx="484632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Strict vs Relaxed layering</a:t>
            </a:r>
            <a:endParaRPr lang="en-US" sz="1250" dirty="0"/>
          </a:p>
        </p:txBody>
      </p:sp>
      <p:sp>
        <p:nvSpPr>
          <p:cNvPr id="27" name="Text 25"/>
          <p:cNvSpPr/>
          <p:nvPr/>
        </p:nvSpPr>
        <p:spPr>
          <a:xfrm>
            <a:off x="6601968" y="2670048"/>
            <a:ext cx="4892040" cy="512064"/>
          </a:xfrm>
          <a:prstGeom prst="rect">
            <a:avLst/>
          </a:prstGeom>
          <a:noFill/>
          <a:ln/>
        </p:spPr>
        <p:txBody>
          <a:bodyPr wrap="square" lIns="0" tIns="0" rIns="0" bIns="0" rtlCol="0" anchor="t"/>
          <a:lstStyle/>
          <a:p>
            <a:pPr indent="0" marL="0">
              <a:lnSpc>
                <a:spcPct val="105000"/>
              </a:lnSpc>
              <a:buNone/>
            </a:pPr>
            <a:r>
              <a:rPr lang="en-US" sz="1050" dirty="0">
                <a:solidFill>
                  <a:srgbClr val="3E5C76"/>
                </a:solidFill>
                <a:latin typeface="Calibri" pitchFamily="34" charset="0"/>
                <a:ea typeface="Calibri" pitchFamily="34" charset="-122"/>
                <a:cs typeface="Calibri" pitchFamily="34" charset="-120"/>
              </a:rPr>
              <a:t>Strict: chỉ được gọi tầng liền kề. Relaxed: được gọi xuyên tầng (ví dụ Presentation gọi thẳng Data Access). Strict dễ bảo trì hơn, relaxed nhanh hơn.</a:t>
            </a:r>
            <a:endParaRPr lang="en-US" sz="1050" dirty="0"/>
          </a:p>
        </p:txBody>
      </p:sp>
      <p:sp>
        <p:nvSpPr>
          <p:cNvPr id="28" name="Shape 26"/>
          <p:cNvSpPr/>
          <p:nvPr/>
        </p:nvSpPr>
        <p:spPr>
          <a:xfrm>
            <a:off x="6400800" y="3310128"/>
            <a:ext cx="5257800" cy="877824"/>
          </a:xfrm>
          <a:prstGeom prst="roundRect">
            <a:avLst>
              <a:gd name="adj" fmla="val 8333"/>
            </a:avLst>
          </a:prstGeom>
          <a:solidFill>
            <a:srgbClr val="F1F5F9"/>
          </a:solidFill>
          <a:ln w="12700">
            <a:solidFill>
              <a:srgbClr val="DCE4EC"/>
            </a:solidFill>
            <a:prstDash val="solid"/>
          </a:ln>
        </p:spPr>
      </p:sp>
      <p:sp>
        <p:nvSpPr>
          <p:cNvPr id="29" name="Text 27"/>
          <p:cNvSpPr/>
          <p:nvPr/>
        </p:nvSpPr>
        <p:spPr>
          <a:xfrm>
            <a:off x="6601968" y="3364992"/>
            <a:ext cx="484632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Ưu điểm</a:t>
            </a:r>
            <a:endParaRPr lang="en-US" sz="1250" dirty="0"/>
          </a:p>
        </p:txBody>
      </p:sp>
      <p:sp>
        <p:nvSpPr>
          <p:cNvPr id="30" name="Text 28"/>
          <p:cNvSpPr/>
          <p:nvPr/>
        </p:nvSpPr>
        <p:spPr>
          <a:xfrm>
            <a:off x="6601968" y="3639312"/>
            <a:ext cx="4892040" cy="512064"/>
          </a:xfrm>
          <a:prstGeom prst="rect">
            <a:avLst/>
          </a:prstGeom>
          <a:noFill/>
          <a:ln/>
        </p:spPr>
        <p:txBody>
          <a:bodyPr wrap="square" lIns="0" tIns="0" rIns="0" bIns="0" rtlCol="0" anchor="t"/>
          <a:lstStyle/>
          <a:p>
            <a:pPr indent="0" marL="0">
              <a:lnSpc>
                <a:spcPct val="105000"/>
              </a:lnSpc>
              <a:buNone/>
            </a:pPr>
            <a:r>
              <a:rPr lang="en-US" sz="1050" dirty="0">
                <a:solidFill>
                  <a:srgbClr val="3E5C76"/>
                </a:solidFill>
                <a:latin typeface="Calibri" pitchFamily="34" charset="0"/>
                <a:ea typeface="Calibri" pitchFamily="34" charset="-122"/>
                <a:cs typeface="Calibri" pitchFamily="34" charset="-120"/>
              </a:rPr>
              <a:t>Dễ hiểu, dễ phân công cho nhiều người, dễ kiểm thử từng tầng, dễ thay công nghệ ở một tầng mà không đụng tầng khác.</a:t>
            </a:r>
            <a:endParaRPr lang="en-US" sz="1050" dirty="0"/>
          </a:p>
        </p:txBody>
      </p:sp>
      <p:sp>
        <p:nvSpPr>
          <p:cNvPr id="31" name="Shape 29"/>
          <p:cNvSpPr/>
          <p:nvPr/>
        </p:nvSpPr>
        <p:spPr>
          <a:xfrm>
            <a:off x="6400800" y="4279392"/>
            <a:ext cx="5257800" cy="877824"/>
          </a:xfrm>
          <a:prstGeom prst="roundRect">
            <a:avLst>
              <a:gd name="adj" fmla="val 8333"/>
            </a:avLst>
          </a:prstGeom>
          <a:solidFill>
            <a:srgbClr val="FFFFFF"/>
          </a:solidFill>
          <a:ln w="12700">
            <a:solidFill>
              <a:srgbClr val="DCE4EC"/>
            </a:solidFill>
            <a:prstDash val="solid"/>
          </a:ln>
        </p:spPr>
      </p:sp>
      <p:sp>
        <p:nvSpPr>
          <p:cNvPr id="32" name="Text 30"/>
          <p:cNvSpPr/>
          <p:nvPr/>
        </p:nvSpPr>
        <p:spPr>
          <a:xfrm>
            <a:off x="6601968" y="4334256"/>
            <a:ext cx="484632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Nhược điểm</a:t>
            </a:r>
            <a:endParaRPr lang="en-US" sz="1250" dirty="0"/>
          </a:p>
        </p:txBody>
      </p:sp>
      <p:sp>
        <p:nvSpPr>
          <p:cNvPr id="33" name="Text 31"/>
          <p:cNvSpPr/>
          <p:nvPr/>
        </p:nvSpPr>
        <p:spPr>
          <a:xfrm>
            <a:off x="6601968" y="4608576"/>
            <a:ext cx="4892040" cy="512064"/>
          </a:xfrm>
          <a:prstGeom prst="rect">
            <a:avLst/>
          </a:prstGeom>
          <a:noFill/>
          <a:ln/>
        </p:spPr>
        <p:txBody>
          <a:bodyPr wrap="square" lIns="0" tIns="0" rIns="0" bIns="0" rtlCol="0" anchor="t"/>
          <a:lstStyle/>
          <a:p>
            <a:pPr indent="0" marL="0">
              <a:lnSpc>
                <a:spcPct val="105000"/>
              </a:lnSpc>
              <a:buNone/>
            </a:pPr>
            <a:r>
              <a:rPr lang="en-US" sz="1050" dirty="0">
                <a:solidFill>
                  <a:srgbClr val="3E5C76"/>
                </a:solidFill>
                <a:latin typeface="Calibri" pitchFamily="34" charset="0"/>
                <a:ea typeface="Calibri" pitchFamily="34" charset="-122"/>
                <a:cs typeface="Calibri" pitchFamily="34" charset="-120"/>
              </a:rPr>
              <a:t>Một yêu cầu phải xuyên qua nhiều tầng nên tốn thêm chi phí; dễ sinh “anemic layer” — tầng chỉ chuyển tiếp lời gọi mà không làm gì.</a:t>
            </a:r>
            <a:endParaRPr lang="en-US" sz="1050" dirty="0"/>
          </a:p>
        </p:txBody>
      </p:sp>
      <p:sp>
        <p:nvSpPr>
          <p:cNvPr id="34" name="Shape 32"/>
          <p:cNvSpPr/>
          <p:nvPr/>
        </p:nvSpPr>
        <p:spPr>
          <a:xfrm>
            <a:off x="6400800" y="5248656"/>
            <a:ext cx="5257800" cy="877824"/>
          </a:xfrm>
          <a:prstGeom prst="roundRect">
            <a:avLst>
              <a:gd name="adj" fmla="val 8333"/>
            </a:avLst>
          </a:prstGeom>
          <a:solidFill>
            <a:srgbClr val="F1F5F9"/>
          </a:solidFill>
          <a:ln w="12700">
            <a:solidFill>
              <a:srgbClr val="DCE4EC"/>
            </a:solidFill>
            <a:prstDash val="solid"/>
          </a:ln>
        </p:spPr>
      </p:sp>
      <p:sp>
        <p:nvSpPr>
          <p:cNvPr id="35" name="Text 33"/>
          <p:cNvSpPr/>
          <p:nvPr/>
        </p:nvSpPr>
        <p:spPr>
          <a:xfrm>
            <a:off x="6601968" y="5303520"/>
            <a:ext cx="484632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Khi nào chọn</a:t>
            </a:r>
            <a:endParaRPr lang="en-US" sz="1250" dirty="0"/>
          </a:p>
        </p:txBody>
      </p:sp>
      <p:sp>
        <p:nvSpPr>
          <p:cNvPr id="36" name="Text 34"/>
          <p:cNvSpPr/>
          <p:nvPr/>
        </p:nvSpPr>
        <p:spPr>
          <a:xfrm>
            <a:off x="6601968" y="5577840"/>
            <a:ext cx="4892040" cy="512064"/>
          </a:xfrm>
          <a:prstGeom prst="rect">
            <a:avLst/>
          </a:prstGeom>
          <a:noFill/>
          <a:ln/>
        </p:spPr>
        <p:txBody>
          <a:bodyPr wrap="square" lIns="0" tIns="0" rIns="0" bIns="0" rtlCol="0" anchor="t"/>
          <a:lstStyle/>
          <a:p>
            <a:pPr indent="0" marL="0">
              <a:lnSpc>
                <a:spcPct val="105000"/>
              </a:lnSpc>
              <a:buNone/>
            </a:pPr>
            <a:r>
              <a:rPr lang="en-US" sz="1050" dirty="0">
                <a:solidFill>
                  <a:srgbClr val="3E5C76"/>
                </a:solidFill>
                <a:latin typeface="Calibri" pitchFamily="34" charset="0"/>
                <a:ea typeface="Calibri" pitchFamily="34" charset="-122"/>
                <a:cs typeface="Calibri" pitchFamily="34" charset="-120"/>
              </a:rPr>
              <a:t>Ứng dụng nghiệp vụ cỡ vừa, một đội phát triển, yêu cầu rõ ràng. Đây là lựa chọn mặc định hợp lý cho hầu hết đồ án môn học.</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7</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Client/Server Architecture (Chapter 15)</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Mẫu kinh điển: bên yêu cầu dịch vụ và bên cung cấp dịch vụ tách hẳn nhau</a:t>
            </a:r>
            <a:endParaRPr lang="en-US" sz="1300" dirty="0"/>
          </a:p>
        </p:txBody>
      </p:sp>
      <p:sp>
        <p:nvSpPr>
          <p:cNvPr id="6" name="Shape 4"/>
          <p:cNvSpPr/>
          <p:nvPr/>
        </p:nvSpPr>
        <p:spPr>
          <a:xfrm>
            <a:off x="594360" y="1600200"/>
            <a:ext cx="1737360" cy="548640"/>
          </a:xfrm>
          <a:prstGeom prst="roundRect">
            <a:avLst>
              <a:gd name="adj" fmla="val 11667"/>
            </a:avLst>
          </a:prstGeom>
          <a:solidFill>
            <a:srgbClr val="E8A317"/>
          </a:solidFill>
          <a:ln w="15240">
            <a:solidFill>
              <a:srgbClr val="E8A317"/>
            </a:solidFill>
            <a:prstDash val="solid"/>
          </a:ln>
        </p:spPr>
      </p:sp>
      <p:sp>
        <p:nvSpPr>
          <p:cNvPr id="7" name="Text 5"/>
          <p:cNvSpPr/>
          <p:nvPr/>
        </p:nvSpPr>
        <p:spPr>
          <a:xfrm>
            <a:off x="640080" y="1600200"/>
            <a:ext cx="1645920" cy="548640"/>
          </a:xfrm>
          <a:prstGeom prst="rect">
            <a:avLst/>
          </a:prstGeom>
          <a:noFill/>
          <a:ln/>
        </p:spPr>
        <p:txBody>
          <a:bodyPr wrap="square" lIns="0" tIns="0" rIns="0" bIns="0" rtlCol="0" anchor="ctr"/>
          <a:lstStyle/>
          <a:p>
            <a:pPr algn="ctr" indent="0" marL="0">
              <a:lnSpc>
                <a:spcPct val="95000"/>
              </a:lnSpc>
              <a:buNone/>
            </a:pPr>
            <a:r>
              <a:rPr lang="en-US" sz="1100" b="1" dirty="0">
                <a:solidFill>
                  <a:srgbClr val="0B2545"/>
                </a:solidFill>
                <a:latin typeface="Calibri" pitchFamily="34" charset="0"/>
                <a:ea typeface="Calibri" pitchFamily="34" charset="-122"/>
                <a:cs typeface="Calibri" pitchFamily="34" charset="-120"/>
              </a:rPr>
              <a:t>Client A</a:t>
            </a:r>
            <a:endParaRPr lang="en-US" sz="1100" dirty="0"/>
          </a:p>
        </p:txBody>
      </p:sp>
      <p:sp>
        <p:nvSpPr>
          <p:cNvPr id="8" name="Shape 6"/>
          <p:cNvSpPr/>
          <p:nvPr/>
        </p:nvSpPr>
        <p:spPr>
          <a:xfrm>
            <a:off x="594360" y="2377440"/>
            <a:ext cx="1737360" cy="548640"/>
          </a:xfrm>
          <a:prstGeom prst="roundRect">
            <a:avLst>
              <a:gd name="adj" fmla="val 11667"/>
            </a:avLst>
          </a:prstGeom>
          <a:solidFill>
            <a:srgbClr val="E8A317"/>
          </a:solidFill>
          <a:ln w="15240">
            <a:solidFill>
              <a:srgbClr val="E8A317"/>
            </a:solidFill>
            <a:prstDash val="solid"/>
          </a:ln>
        </p:spPr>
      </p:sp>
      <p:sp>
        <p:nvSpPr>
          <p:cNvPr id="9" name="Text 7"/>
          <p:cNvSpPr/>
          <p:nvPr/>
        </p:nvSpPr>
        <p:spPr>
          <a:xfrm>
            <a:off x="640080" y="2377440"/>
            <a:ext cx="1645920" cy="548640"/>
          </a:xfrm>
          <a:prstGeom prst="rect">
            <a:avLst/>
          </a:prstGeom>
          <a:noFill/>
          <a:ln/>
        </p:spPr>
        <p:txBody>
          <a:bodyPr wrap="square" lIns="0" tIns="0" rIns="0" bIns="0" rtlCol="0" anchor="ctr"/>
          <a:lstStyle/>
          <a:p>
            <a:pPr algn="ctr" indent="0" marL="0">
              <a:lnSpc>
                <a:spcPct val="95000"/>
              </a:lnSpc>
              <a:buNone/>
            </a:pPr>
            <a:r>
              <a:rPr lang="en-US" sz="1100" b="1" dirty="0">
                <a:solidFill>
                  <a:srgbClr val="0B2545"/>
                </a:solidFill>
                <a:latin typeface="Calibri" pitchFamily="34" charset="0"/>
                <a:ea typeface="Calibri" pitchFamily="34" charset="-122"/>
                <a:cs typeface="Calibri" pitchFamily="34" charset="-120"/>
              </a:rPr>
              <a:t>Client B</a:t>
            </a:r>
            <a:endParaRPr lang="en-US" sz="1100" dirty="0"/>
          </a:p>
        </p:txBody>
      </p:sp>
      <p:sp>
        <p:nvSpPr>
          <p:cNvPr id="10" name="Shape 8"/>
          <p:cNvSpPr/>
          <p:nvPr/>
        </p:nvSpPr>
        <p:spPr>
          <a:xfrm>
            <a:off x="594360" y="3154680"/>
            <a:ext cx="1737360" cy="548640"/>
          </a:xfrm>
          <a:prstGeom prst="roundRect">
            <a:avLst>
              <a:gd name="adj" fmla="val 11667"/>
            </a:avLst>
          </a:prstGeom>
          <a:solidFill>
            <a:srgbClr val="E8A317"/>
          </a:solidFill>
          <a:ln w="15240">
            <a:solidFill>
              <a:srgbClr val="E8A317"/>
            </a:solidFill>
            <a:prstDash val="solid"/>
          </a:ln>
        </p:spPr>
      </p:sp>
      <p:sp>
        <p:nvSpPr>
          <p:cNvPr id="11" name="Text 9"/>
          <p:cNvSpPr/>
          <p:nvPr/>
        </p:nvSpPr>
        <p:spPr>
          <a:xfrm>
            <a:off x="640080" y="3154680"/>
            <a:ext cx="1645920" cy="548640"/>
          </a:xfrm>
          <a:prstGeom prst="rect">
            <a:avLst/>
          </a:prstGeom>
          <a:noFill/>
          <a:ln/>
        </p:spPr>
        <p:txBody>
          <a:bodyPr wrap="square" lIns="0" tIns="0" rIns="0" bIns="0" rtlCol="0" anchor="ctr"/>
          <a:lstStyle/>
          <a:p>
            <a:pPr algn="ctr" indent="0" marL="0">
              <a:lnSpc>
                <a:spcPct val="95000"/>
              </a:lnSpc>
              <a:buNone/>
            </a:pPr>
            <a:r>
              <a:rPr lang="en-US" sz="1100" b="1" dirty="0">
                <a:solidFill>
                  <a:srgbClr val="0B2545"/>
                </a:solidFill>
                <a:latin typeface="Calibri" pitchFamily="34" charset="0"/>
                <a:ea typeface="Calibri" pitchFamily="34" charset="-122"/>
                <a:cs typeface="Calibri" pitchFamily="34" charset="-120"/>
              </a:rPr>
              <a:t>Client C</a:t>
            </a:r>
            <a:endParaRPr lang="en-US" sz="1100" dirty="0"/>
          </a:p>
        </p:txBody>
      </p:sp>
      <p:sp>
        <p:nvSpPr>
          <p:cNvPr id="12" name="Shape 10"/>
          <p:cNvSpPr/>
          <p:nvPr/>
        </p:nvSpPr>
        <p:spPr>
          <a:xfrm>
            <a:off x="3566160" y="2148840"/>
            <a:ext cx="2103120" cy="1005840"/>
          </a:xfrm>
          <a:prstGeom prst="roundRect">
            <a:avLst>
              <a:gd name="adj" fmla="val 6364"/>
            </a:avLst>
          </a:prstGeom>
          <a:solidFill>
            <a:srgbClr val="0B2545"/>
          </a:solidFill>
          <a:ln w="15240">
            <a:solidFill>
              <a:srgbClr val="0B2545"/>
            </a:solidFill>
            <a:prstDash val="solid"/>
          </a:ln>
        </p:spPr>
      </p:sp>
      <p:sp>
        <p:nvSpPr>
          <p:cNvPr id="13" name="Text 11"/>
          <p:cNvSpPr/>
          <p:nvPr/>
        </p:nvSpPr>
        <p:spPr>
          <a:xfrm>
            <a:off x="3611880" y="2148840"/>
            <a:ext cx="2011680" cy="1005840"/>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SERVER</a:t>
            </a:r>
            <a:endParaRPr lang="en-US" sz="1300" dirty="0"/>
          </a:p>
          <a:p>
            <a:pPr algn="ctr" indent="0" marL="0">
              <a:lnSpc>
                <a:spcPct val="95000"/>
              </a:lnSpc>
              <a:buNone/>
            </a:pPr>
            <a:r>
              <a:rPr lang="en-US" sz="1150" i="1" dirty="0">
                <a:solidFill>
                  <a:srgbClr val="D6E2EE"/>
                </a:solidFill>
                <a:latin typeface="Calibri" pitchFamily="34" charset="0"/>
                <a:ea typeface="Calibri" pitchFamily="34" charset="-122"/>
                <a:cs typeface="Calibri" pitchFamily="34" charset="-120"/>
              </a:rPr>
              <a:t>dịch vụ dùng chung</a:t>
            </a:r>
            <a:endParaRPr lang="en-US" sz="1300" dirty="0"/>
          </a:p>
        </p:txBody>
      </p:sp>
      <p:sp>
        <p:nvSpPr>
          <p:cNvPr id="14" name="Shape 12"/>
          <p:cNvSpPr/>
          <p:nvPr/>
        </p:nvSpPr>
        <p:spPr>
          <a:xfrm>
            <a:off x="3566160" y="3703320"/>
            <a:ext cx="2103120" cy="640080"/>
          </a:xfrm>
          <a:prstGeom prst="roundRect">
            <a:avLst>
              <a:gd name="adj" fmla="val 10000"/>
            </a:avLst>
          </a:prstGeom>
          <a:solidFill>
            <a:srgbClr val="12726B"/>
          </a:solidFill>
          <a:ln w="15240">
            <a:solidFill>
              <a:srgbClr val="12726B"/>
            </a:solidFill>
            <a:prstDash val="solid"/>
          </a:ln>
        </p:spPr>
      </p:sp>
      <p:sp>
        <p:nvSpPr>
          <p:cNvPr id="15" name="Text 13"/>
          <p:cNvSpPr/>
          <p:nvPr/>
        </p:nvSpPr>
        <p:spPr>
          <a:xfrm>
            <a:off x="3611880" y="3703320"/>
            <a:ext cx="2011680" cy="640080"/>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Database</a:t>
            </a:r>
            <a:endParaRPr lang="en-US" sz="1100" dirty="0"/>
          </a:p>
        </p:txBody>
      </p:sp>
      <p:sp>
        <p:nvSpPr>
          <p:cNvPr id="16" name="Shape 14"/>
          <p:cNvSpPr/>
          <p:nvPr/>
        </p:nvSpPr>
        <p:spPr>
          <a:xfrm>
            <a:off x="2331720" y="1874520"/>
            <a:ext cx="731520" cy="0"/>
          </a:xfrm>
          <a:prstGeom prst="line">
            <a:avLst/>
          </a:prstGeom>
          <a:noFill/>
          <a:ln w="16510">
            <a:solidFill>
              <a:srgbClr val="0B2545"/>
            </a:solidFill>
            <a:prstDash val="solid"/>
          </a:ln>
        </p:spPr>
      </p:sp>
      <p:sp>
        <p:nvSpPr>
          <p:cNvPr id="17" name="Shape 15"/>
          <p:cNvSpPr/>
          <p:nvPr/>
        </p:nvSpPr>
        <p:spPr>
          <a:xfrm>
            <a:off x="3063240" y="1874520"/>
            <a:ext cx="0" cy="576072"/>
          </a:xfrm>
          <a:prstGeom prst="line">
            <a:avLst/>
          </a:prstGeom>
          <a:noFill/>
          <a:ln w="16510">
            <a:solidFill>
              <a:srgbClr val="0B2545"/>
            </a:solidFill>
            <a:prstDash val="solid"/>
          </a:ln>
        </p:spPr>
      </p:sp>
      <p:sp>
        <p:nvSpPr>
          <p:cNvPr id="18" name="Shape 16"/>
          <p:cNvSpPr/>
          <p:nvPr/>
        </p:nvSpPr>
        <p:spPr>
          <a:xfrm>
            <a:off x="3063240" y="2450592"/>
            <a:ext cx="502920" cy="0"/>
          </a:xfrm>
          <a:prstGeom prst="line">
            <a:avLst/>
          </a:prstGeom>
          <a:noFill/>
          <a:ln w="16510">
            <a:solidFill>
              <a:srgbClr val="0B2545"/>
            </a:solidFill>
            <a:prstDash val="solid"/>
            <a:tailEnd type="triangle"/>
          </a:ln>
        </p:spPr>
      </p:sp>
      <p:sp>
        <p:nvSpPr>
          <p:cNvPr id="19" name="Shape 17"/>
          <p:cNvSpPr/>
          <p:nvPr/>
        </p:nvSpPr>
        <p:spPr>
          <a:xfrm>
            <a:off x="2331720" y="2651760"/>
            <a:ext cx="1234440" cy="0"/>
          </a:xfrm>
          <a:prstGeom prst="line">
            <a:avLst/>
          </a:prstGeom>
          <a:noFill/>
          <a:ln w="16510">
            <a:solidFill>
              <a:srgbClr val="0B2545"/>
            </a:solidFill>
            <a:prstDash val="solid"/>
            <a:tailEnd type="triangle"/>
          </a:ln>
        </p:spPr>
      </p:sp>
      <p:sp>
        <p:nvSpPr>
          <p:cNvPr id="20" name="Shape 18"/>
          <p:cNvSpPr/>
          <p:nvPr/>
        </p:nvSpPr>
        <p:spPr>
          <a:xfrm>
            <a:off x="2331720" y="3429000"/>
            <a:ext cx="731520" cy="0"/>
          </a:xfrm>
          <a:prstGeom prst="line">
            <a:avLst/>
          </a:prstGeom>
          <a:noFill/>
          <a:ln w="16510">
            <a:solidFill>
              <a:srgbClr val="0B2545"/>
            </a:solidFill>
            <a:prstDash val="solid"/>
          </a:ln>
        </p:spPr>
      </p:sp>
      <p:sp>
        <p:nvSpPr>
          <p:cNvPr id="21" name="Shape 19"/>
          <p:cNvSpPr/>
          <p:nvPr/>
        </p:nvSpPr>
        <p:spPr>
          <a:xfrm>
            <a:off x="3063240" y="2852928"/>
            <a:ext cx="0" cy="576072"/>
          </a:xfrm>
          <a:prstGeom prst="line">
            <a:avLst/>
          </a:prstGeom>
          <a:noFill/>
          <a:ln w="16510">
            <a:solidFill>
              <a:srgbClr val="0B2545"/>
            </a:solidFill>
            <a:prstDash val="solid"/>
          </a:ln>
        </p:spPr>
      </p:sp>
      <p:sp>
        <p:nvSpPr>
          <p:cNvPr id="22" name="Shape 20"/>
          <p:cNvSpPr/>
          <p:nvPr/>
        </p:nvSpPr>
        <p:spPr>
          <a:xfrm>
            <a:off x="3063240" y="2852928"/>
            <a:ext cx="502920" cy="0"/>
          </a:xfrm>
          <a:prstGeom prst="line">
            <a:avLst/>
          </a:prstGeom>
          <a:noFill/>
          <a:ln w="16510">
            <a:solidFill>
              <a:srgbClr val="0B2545"/>
            </a:solidFill>
            <a:prstDash val="solid"/>
            <a:tailEnd type="triangle"/>
          </a:ln>
        </p:spPr>
      </p:sp>
      <p:sp>
        <p:nvSpPr>
          <p:cNvPr id="23" name="Shape 21"/>
          <p:cNvSpPr/>
          <p:nvPr/>
        </p:nvSpPr>
        <p:spPr>
          <a:xfrm>
            <a:off x="4617720" y="3154680"/>
            <a:ext cx="0" cy="548640"/>
          </a:xfrm>
          <a:prstGeom prst="line">
            <a:avLst/>
          </a:prstGeom>
          <a:noFill/>
          <a:ln w="16510">
            <a:solidFill>
              <a:srgbClr val="12726B"/>
            </a:solidFill>
            <a:prstDash val="solid"/>
            <a:tailEnd type="triangle"/>
          </a:ln>
        </p:spPr>
      </p:sp>
      <p:sp>
        <p:nvSpPr>
          <p:cNvPr id="24" name="Text 22"/>
          <p:cNvSpPr/>
          <p:nvPr/>
        </p:nvSpPr>
        <p:spPr>
          <a:xfrm>
            <a:off x="2395728" y="2395728"/>
            <a:ext cx="1188720" cy="219456"/>
          </a:xfrm>
          <a:prstGeom prst="rect">
            <a:avLst/>
          </a:prstGeom>
          <a:noFill/>
          <a:ln/>
        </p:spPr>
        <p:txBody>
          <a:bodyPr wrap="square" lIns="0" tIns="0" rIns="0" bIns="0" rtlCol="0" anchor="ctr"/>
          <a:lstStyle/>
          <a:p>
            <a:pPr algn="ctr" indent="0" marL="0">
              <a:buNone/>
            </a:pPr>
            <a:r>
              <a:rPr lang="en-US" sz="850" i="1" dirty="0">
                <a:solidFill>
                  <a:srgbClr val="6B7A8F"/>
                </a:solidFill>
                <a:latin typeface="Calibri" pitchFamily="34" charset="0"/>
                <a:ea typeface="Calibri" pitchFamily="34" charset="-122"/>
                <a:cs typeface="Calibri" pitchFamily="34" charset="-120"/>
              </a:rPr>
              <a:t>request / reply</a:t>
            </a:r>
            <a:endParaRPr lang="en-US" sz="850" dirty="0"/>
          </a:p>
        </p:txBody>
      </p:sp>
      <p:sp>
        <p:nvSpPr>
          <p:cNvPr id="25" name="Shape 23"/>
          <p:cNvSpPr/>
          <p:nvPr/>
        </p:nvSpPr>
        <p:spPr>
          <a:xfrm>
            <a:off x="502920" y="4617720"/>
            <a:ext cx="5532120" cy="1600200"/>
          </a:xfrm>
          <a:prstGeom prst="roundRect">
            <a:avLst>
              <a:gd name="adj" fmla="val 4571"/>
            </a:avLst>
          </a:prstGeom>
          <a:solidFill>
            <a:srgbClr val="FDF2DA"/>
          </a:solidFill>
          <a:ln w="12700">
            <a:solidFill>
              <a:srgbClr val="E8A317"/>
            </a:solidFill>
            <a:prstDash val="solid"/>
          </a:ln>
        </p:spPr>
      </p:sp>
      <p:sp>
        <p:nvSpPr>
          <p:cNvPr id="26" name="Text 24"/>
          <p:cNvSpPr/>
          <p:nvPr/>
        </p:nvSpPr>
        <p:spPr>
          <a:xfrm>
            <a:off x="713232" y="4709160"/>
            <a:ext cx="5120640" cy="2743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Ba biến thể trong sách Gomaa</a:t>
            </a:r>
            <a:endParaRPr lang="en-US" sz="1300" dirty="0"/>
          </a:p>
        </p:txBody>
      </p:sp>
      <p:sp>
        <p:nvSpPr>
          <p:cNvPr id="27" name="Text 25"/>
          <p:cNvSpPr/>
          <p:nvPr/>
        </p:nvSpPr>
        <p:spPr>
          <a:xfrm>
            <a:off x="713232" y="5010912"/>
            <a:ext cx="5166360" cy="1143000"/>
          </a:xfrm>
          <a:prstGeom prst="rect">
            <a:avLst/>
          </a:prstGeom>
          <a:noFill/>
          <a:ln/>
        </p:spPr>
        <p:txBody>
          <a:bodyPr wrap="square" lIns="0" tIns="0" rIns="0" bIns="0" rtlCol="0" anchor="t"/>
          <a:lstStyle/>
          <a:p>
            <a:pPr indent="0" marL="0">
              <a:lnSpc>
                <a:spcPct val="110000"/>
              </a:lnSpc>
              <a:buNone/>
            </a:pPr>
            <a:r>
              <a:rPr lang="en-US" sz="1050" b="1" dirty="0">
                <a:solidFill>
                  <a:srgbClr val="13315C"/>
                </a:solidFill>
                <a:latin typeface="Calibri" pitchFamily="34" charset="0"/>
                <a:ea typeface="Calibri" pitchFamily="34" charset="-122"/>
                <a:cs typeface="Calibri" pitchFamily="34" charset="-120"/>
              </a:rPr>
              <a:t>① Multiple Client / Single Server</a:t>
            </a:r>
            <a:pPr indent="0" marL="0">
              <a:lnSpc>
                <a:spcPct val="110000"/>
              </a:lnSpc>
              <a:buNone/>
            </a:pPr>
            <a:r>
              <a:rPr lang="en-US" sz="1050" dirty="0">
                <a:solidFill>
                  <a:srgbClr val="3E5C76"/>
                </a:solidFill>
                <a:latin typeface="Calibri" pitchFamily="34" charset="0"/>
                <a:ea typeface="Calibri" pitchFamily="34" charset="-122"/>
                <a:cs typeface="Calibri" pitchFamily="34" charset="-120"/>
              </a:rPr>
              <a:t> — nhiều client dùng chung một server. Đơn giản nhưng server là điểm chết duy nhất.</a:t>
            </a:r>
            <a:endParaRPr lang="en-US" sz="1050" dirty="0"/>
          </a:p>
          <a:p>
            <a:pPr indent="0" marL="0">
              <a:lnSpc>
                <a:spcPct val="110000"/>
              </a:lnSpc>
              <a:buNone/>
            </a:pPr>
            <a:r>
              <a:rPr lang="en-US" sz="1050" b="1" dirty="0">
                <a:solidFill>
                  <a:srgbClr val="13315C"/>
                </a:solidFill>
                <a:latin typeface="Calibri" pitchFamily="34" charset="0"/>
                <a:ea typeface="Calibri" pitchFamily="34" charset="-122"/>
                <a:cs typeface="Calibri" pitchFamily="34" charset="-120"/>
              </a:rPr>
              <a:t>② Multiple Client / Multiple Server</a:t>
            </a:r>
            <a:pPr indent="0" marL="0">
              <a:lnSpc>
                <a:spcPct val="110000"/>
              </a:lnSpc>
              <a:buNone/>
            </a:pPr>
            <a:r>
              <a:rPr lang="en-US" sz="1050" dirty="0">
                <a:solidFill>
                  <a:srgbClr val="3E5C76"/>
                </a:solidFill>
                <a:latin typeface="Calibri" pitchFamily="34" charset="0"/>
                <a:ea typeface="Calibri" pitchFamily="34" charset="-122"/>
                <a:cs typeface="Calibri" pitchFamily="34" charset="-120"/>
              </a:rPr>
              <a:t> — nhiều server chuyên trách; client phải biết gọi server nào.</a:t>
            </a:r>
            <a:endParaRPr lang="en-US" sz="1050" dirty="0"/>
          </a:p>
          <a:p>
            <a:pPr indent="0" marL="0">
              <a:lnSpc>
                <a:spcPct val="110000"/>
              </a:lnSpc>
              <a:buNone/>
            </a:pPr>
            <a:r>
              <a:rPr lang="en-US" sz="1050" b="1" dirty="0">
                <a:solidFill>
                  <a:srgbClr val="13315C"/>
                </a:solidFill>
                <a:latin typeface="Calibri" pitchFamily="34" charset="0"/>
                <a:ea typeface="Calibri" pitchFamily="34" charset="-122"/>
                <a:cs typeface="Calibri" pitchFamily="34" charset="-120"/>
              </a:rPr>
              <a:t>③ Multi-tier Client/Server</a:t>
            </a:r>
            <a:pPr indent="0" marL="0">
              <a:lnSpc>
                <a:spcPct val="110000"/>
              </a:lnSpc>
              <a:buNone/>
            </a:pPr>
            <a:r>
              <a:rPr lang="en-US" sz="1050" dirty="0">
                <a:solidFill>
                  <a:srgbClr val="3E5C76"/>
                </a:solidFill>
                <a:latin typeface="Calibri" pitchFamily="34" charset="0"/>
                <a:ea typeface="Calibri" pitchFamily="34" charset="-122"/>
                <a:cs typeface="Calibri" pitchFamily="34" charset="-120"/>
              </a:rPr>
              <a:t> — thêm tầng trung gian xử lý nghiệp vụ giữa client và data server.</a:t>
            </a:r>
            <a:endParaRPr lang="en-US" sz="1050" dirty="0"/>
          </a:p>
        </p:txBody>
      </p:sp>
      <p:sp>
        <p:nvSpPr>
          <p:cNvPr id="28" name="Shape 26"/>
          <p:cNvSpPr/>
          <p:nvPr/>
        </p:nvSpPr>
        <p:spPr>
          <a:xfrm>
            <a:off x="6309360" y="1325880"/>
            <a:ext cx="5349240" cy="1115568"/>
          </a:xfrm>
          <a:prstGeom prst="roundRect">
            <a:avLst>
              <a:gd name="adj" fmla="val 6557"/>
            </a:avLst>
          </a:prstGeom>
          <a:solidFill>
            <a:srgbClr val="F1F5F9"/>
          </a:solidFill>
          <a:ln w="12700">
            <a:solidFill>
              <a:srgbClr val="DCE4EC"/>
            </a:solidFill>
            <a:prstDash val="solid"/>
          </a:ln>
        </p:spPr>
      </p:sp>
      <p:sp>
        <p:nvSpPr>
          <p:cNvPr id="29" name="Text 27"/>
          <p:cNvSpPr/>
          <p:nvPr/>
        </p:nvSpPr>
        <p:spPr>
          <a:xfrm>
            <a:off x="6510528" y="1380744"/>
            <a:ext cx="493776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Ý tưởng cốt lõi</a:t>
            </a:r>
            <a:endParaRPr lang="en-US" sz="1250" dirty="0"/>
          </a:p>
        </p:txBody>
      </p:sp>
      <p:sp>
        <p:nvSpPr>
          <p:cNvPr id="30" name="Text 28"/>
          <p:cNvSpPr/>
          <p:nvPr/>
        </p:nvSpPr>
        <p:spPr>
          <a:xfrm>
            <a:off x="6510528" y="1655064"/>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Client khởi tạo yêu cầu, server bị động chờ và phục vụ. Giao tiếp thường theo mẫu Synchronous Message with Reply: client gửi rồi CHỜ kết quả.</a:t>
            </a:r>
            <a:endParaRPr lang="en-US" sz="1050" dirty="0"/>
          </a:p>
        </p:txBody>
      </p:sp>
      <p:sp>
        <p:nvSpPr>
          <p:cNvPr id="31" name="Shape 29"/>
          <p:cNvSpPr/>
          <p:nvPr/>
        </p:nvSpPr>
        <p:spPr>
          <a:xfrm>
            <a:off x="6309360" y="2551176"/>
            <a:ext cx="5349240" cy="1115568"/>
          </a:xfrm>
          <a:prstGeom prst="roundRect">
            <a:avLst>
              <a:gd name="adj" fmla="val 6557"/>
            </a:avLst>
          </a:prstGeom>
          <a:solidFill>
            <a:srgbClr val="FFFFFF"/>
          </a:solidFill>
          <a:ln w="12700">
            <a:solidFill>
              <a:srgbClr val="DCE4EC"/>
            </a:solidFill>
            <a:prstDash val="solid"/>
          </a:ln>
        </p:spPr>
      </p:sp>
      <p:sp>
        <p:nvSpPr>
          <p:cNvPr id="32" name="Text 30"/>
          <p:cNvSpPr/>
          <p:nvPr/>
        </p:nvSpPr>
        <p:spPr>
          <a:xfrm>
            <a:off x="6510528" y="2606040"/>
            <a:ext cx="4937760" cy="274320"/>
          </a:xfrm>
          <a:prstGeom prst="rect">
            <a:avLst/>
          </a:prstGeom>
          <a:noFill/>
          <a:ln/>
        </p:spPr>
        <p:txBody>
          <a:bodyPr wrap="square" lIns="0" tIns="0" rIns="0" bIns="0" rtlCol="0" anchor="ctr"/>
          <a:lstStyle/>
          <a:p>
            <a:pPr indent="0" marL="0">
              <a:buNone/>
            </a:pPr>
            <a:r>
              <a:rPr lang="en-US" sz="1250" b="1" dirty="0">
                <a:solidFill>
                  <a:srgbClr val="1E7A44"/>
                </a:solidFill>
                <a:latin typeface="Calibri" pitchFamily="34" charset="0"/>
                <a:ea typeface="Calibri" pitchFamily="34" charset="-122"/>
                <a:cs typeface="Calibri" pitchFamily="34" charset="-120"/>
              </a:rPr>
              <a:t>Ưu điểm</a:t>
            </a:r>
            <a:endParaRPr lang="en-US" sz="1250" dirty="0"/>
          </a:p>
        </p:txBody>
      </p:sp>
      <p:sp>
        <p:nvSpPr>
          <p:cNvPr id="33" name="Text 31"/>
          <p:cNvSpPr/>
          <p:nvPr/>
        </p:nvSpPr>
        <p:spPr>
          <a:xfrm>
            <a:off x="6510528" y="2880360"/>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Tập trung dữ liệu nên dễ quản trị và bảo mật; nhiều client dùng chung logic; nâng cấp server là tất cả client được hưởng.</a:t>
            </a:r>
            <a:endParaRPr lang="en-US" sz="1050" dirty="0"/>
          </a:p>
        </p:txBody>
      </p:sp>
      <p:sp>
        <p:nvSpPr>
          <p:cNvPr id="34" name="Shape 32"/>
          <p:cNvSpPr/>
          <p:nvPr/>
        </p:nvSpPr>
        <p:spPr>
          <a:xfrm>
            <a:off x="6309360" y="3776472"/>
            <a:ext cx="5349240" cy="1115568"/>
          </a:xfrm>
          <a:prstGeom prst="roundRect">
            <a:avLst>
              <a:gd name="adj" fmla="val 6557"/>
            </a:avLst>
          </a:prstGeom>
          <a:solidFill>
            <a:srgbClr val="F1F5F9"/>
          </a:solidFill>
          <a:ln w="12700">
            <a:solidFill>
              <a:srgbClr val="DCE4EC"/>
            </a:solidFill>
            <a:prstDash val="solid"/>
          </a:ln>
        </p:spPr>
      </p:sp>
      <p:sp>
        <p:nvSpPr>
          <p:cNvPr id="35" name="Text 33"/>
          <p:cNvSpPr/>
          <p:nvPr/>
        </p:nvSpPr>
        <p:spPr>
          <a:xfrm>
            <a:off x="6510528" y="3831336"/>
            <a:ext cx="4937760" cy="274320"/>
          </a:xfrm>
          <a:prstGeom prst="rect">
            <a:avLst/>
          </a:prstGeom>
          <a:noFill/>
          <a:ln/>
        </p:spPr>
        <p:txBody>
          <a:bodyPr wrap="square" lIns="0" tIns="0" rIns="0" bIns="0" rtlCol="0" anchor="ctr"/>
          <a:lstStyle/>
          <a:p>
            <a:pPr indent="0" marL="0">
              <a:buNone/>
            </a:pPr>
            <a:r>
              <a:rPr lang="en-US" sz="1250" b="1" dirty="0">
                <a:solidFill>
                  <a:srgbClr val="B23A32"/>
                </a:solidFill>
                <a:latin typeface="Calibri" pitchFamily="34" charset="0"/>
                <a:ea typeface="Calibri" pitchFamily="34" charset="-122"/>
                <a:cs typeface="Calibri" pitchFamily="34" charset="-120"/>
              </a:rPr>
              <a:t>Nhược điểm</a:t>
            </a:r>
            <a:endParaRPr lang="en-US" sz="1250" dirty="0"/>
          </a:p>
        </p:txBody>
      </p:sp>
      <p:sp>
        <p:nvSpPr>
          <p:cNvPr id="36" name="Text 34"/>
          <p:cNvSpPr/>
          <p:nvPr/>
        </p:nvSpPr>
        <p:spPr>
          <a:xfrm>
            <a:off x="6510528" y="4105656"/>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Server dễ trở thành nút thắt cổ chai và điểm hỏng duy nhất; phụ thuộc hoàn toàn vào mạng; chi phí mở rộng theo chiều dọc rất đắt.</a:t>
            </a:r>
            <a:endParaRPr lang="en-US" sz="1050" dirty="0"/>
          </a:p>
        </p:txBody>
      </p:sp>
      <p:sp>
        <p:nvSpPr>
          <p:cNvPr id="37" name="Shape 35"/>
          <p:cNvSpPr/>
          <p:nvPr/>
        </p:nvSpPr>
        <p:spPr>
          <a:xfrm>
            <a:off x="6309360" y="5001768"/>
            <a:ext cx="5349240" cy="1115568"/>
          </a:xfrm>
          <a:prstGeom prst="roundRect">
            <a:avLst>
              <a:gd name="adj" fmla="val 6557"/>
            </a:avLst>
          </a:prstGeom>
          <a:solidFill>
            <a:srgbClr val="FFFFFF"/>
          </a:solidFill>
          <a:ln w="12700">
            <a:solidFill>
              <a:srgbClr val="DCE4EC"/>
            </a:solidFill>
            <a:prstDash val="solid"/>
          </a:ln>
        </p:spPr>
      </p:sp>
      <p:sp>
        <p:nvSpPr>
          <p:cNvPr id="38" name="Text 36"/>
          <p:cNvSpPr/>
          <p:nvPr/>
        </p:nvSpPr>
        <p:spPr>
          <a:xfrm>
            <a:off x="6510528" y="5056632"/>
            <a:ext cx="4937760" cy="274320"/>
          </a:xfrm>
          <a:prstGeom prst="rect">
            <a:avLst/>
          </a:prstGeom>
          <a:noFill/>
          <a:ln/>
        </p:spPr>
        <p:txBody>
          <a:bodyPr wrap="square" lIns="0" tIns="0" rIns="0" bIns="0" rtlCol="0" anchor="ctr"/>
          <a:lstStyle/>
          <a:p>
            <a:pPr indent="0" marL="0">
              <a:buNone/>
            </a:pPr>
            <a:r>
              <a:rPr lang="en-US" sz="1250" b="1" dirty="0">
                <a:solidFill>
                  <a:srgbClr val="12726B"/>
                </a:solidFill>
                <a:latin typeface="Calibri" pitchFamily="34" charset="0"/>
                <a:ea typeface="Calibri" pitchFamily="34" charset="-122"/>
                <a:cs typeface="Calibri" pitchFamily="34" charset="-120"/>
              </a:rPr>
              <a:t>Khi nào chọn</a:t>
            </a:r>
            <a:endParaRPr lang="en-US" sz="1250" dirty="0"/>
          </a:p>
        </p:txBody>
      </p:sp>
      <p:sp>
        <p:nvSpPr>
          <p:cNvPr id="39" name="Text 37"/>
          <p:cNvSpPr/>
          <p:nvPr/>
        </p:nvSpPr>
        <p:spPr>
          <a:xfrm>
            <a:off x="6510528" y="5330952"/>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Hệ thống có dữ liệu dùng chung tập trung: quản lý thư viện, ngân hàng, đặt vé, và chính hệ thống bãi xe SmartPark.</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8</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2-tier, 3-tier và N-tier (Chapter 15)</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“Tier” là đơn vị triển khai vật lý, khác với “layer” là đơn vị tổ chức logic</a:t>
            </a:r>
            <a:endParaRPr lang="en-US" sz="1300" dirty="0"/>
          </a:p>
        </p:txBody>
      </p:sp>
      <p:sp>
        <p:nvSpPr>
          <p:cNvPr id="6" name="Shape 4"/>
          <p:cNvSpPr/>
          <p:nvPr/>
        </p:nvSpPr>
        <p:spPr>
          <a:xfrm>
            <a:off x="502920" y="1325880"/>
            <a:ext cx="3566160" cy="4892040"/>
          </a:xfrm>
          <a:prstGeom prst="roundRect">
            <a:avLst>
              <a:gd name="adj" fmla="val 2051"/>
            </a:avLst>
          </a:prstGeom>
          <a:solidFill>
            <a:srgbClr val="F1F5F9"/>
          </a:solidFill>
          <a:ln w="12700">
            <a:solidFill>
              <a:srgbClr val="DCE4EC"/>
            </a:solidFill>
            <a:prstDash val="solid"/>
          </a:ln>
        </p:spPr>
      </p:sp>
      <p:sp>
        <p:nvSpPr>
          <p:cNvPr id="7" name="Shape 5"/>
          <p:cNvSpPr/>
          <p:nvPr/>
        </p:nvSpPr>
        <p:spPr>
          <a:xfrm>
            <a:off x="1554480" y="1481328"/>
            <a:ext cx="1463040" cy="310896"/>
          </a:xfrm>
          <a:prstGeom prst="roundRect">
            <a:avLst>
              <a:gd name="adj" fmla="val 20588"/>
            </a:avLst>
          </a:prstGeom>
          <a:solidFill>
            <a:srgbClr val="0B2545"/>
          </a:solidFill>
          <a:ln w="12700">
            <a:solidFill>
              <a:srgbClr val="0B2545"/>
            </a:solidFill>
            <a:prstDash val="solid"/>
          </a:ln>
        </p:spPr>
      </p:sp>
      <p:sp>
        <p:nvSpPr>
          <p:cNvPr id="8" name="Text 6"/>
          <p:cNvSpPr/>
          <p:nvPr/>
        </p:nvSpPr>
        <p:spPr>
          <a:xfrm>
            <a:off x="1554480" y="1481328"/>
            <a:ext cx="14630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2-TIER</a:t>
            </a:r>
            <a:endParaRPr lang="en-US" sz="900" dirty="0"/>
          </a:p>
        </p:txBody>
      </p:sp>
      <p:sp>
        <p:nvSpPr>
          <p:cNvPr id="9" name="Shape 7"/>
          <p:cNvSpPr/>
          <p:nvPr/>
        </p:nvSpPr>
        <p:spPr>
          <a:xfrm>
            <a:off x="822960" y="2011680"/>
            <a:ext cx="2926080" cy="621792"/>
          </a:xfrm>
          <a:prstGeom prst="roundRect">
            <a:avLst>
              <a:gd name="adj" fmla="val 10294"/>
            </a:avLst>
          </a:prstGeom>
          <a:solidFill>
            <a:srgbClr val="E8A317"/>
          </a:solidFill>
          <a:ln w="15240">
            <a:solidFill>
              <a:srgbClr val="E8A317"/>
            </a:solidFill>
            <a:prstDash val="solid"/>
          </a:ln>
        </p:spPr>
      </p:sp>
      <p:sp>
        <p:nvSpPr>
          <p:cNvPr id="10" name="Text 8"/>
          <p:cNvSpPr/>
          <p:nvPr/>
        </p:nvSpPr>
        <p:spPr>
          <a:xfrm>
            <a:off x="868680" y="2011680"/>
            <a:ext cx="2834640" cy="621792"/>
          </a:xfrm>
          <a:prstGeom prst="rect">
            <a:avLst/>
          </a:prstGeom>
          <a:noFill/>
          <a:ln/>
        </p:spPr>
        <p:txBody>
          <a:bodyPr wrap="square" lIns="0" tIns="0" rIns="0" bIns="0" rtlCol="0" anchor="ctr"/>
          <a:lstStyle/>
          <a:p>
            <a:pPr algn="ctr" indent="0" marL="0">
              <a:lnSpc>
                <a:spcPct val="95000"/>
              </a:lnSpc>
              <a:buNone/>
            </a:pPr>
            <a:r>
              <a:rPr lang="en-US" sz="1050" b="1" dirty="0">
                <a:solidFill>
                  <a:srgbClr val="0B2545"/>
                </a:solidFill>
                <a:latin typeface="Calibri" pitchFamily="34" charset="0"/>
                <a:ea typeface="Calibri" pitchFamily="34" charset="-122"/>
                <a:cs typeface="Calibri" pitchFamily="34" charset="-120"/>
              </a:rPr>
              <a:t>Client</a:t>
            </a:r>
            <a:endParaRPr lang="en-US" sz="1050" dirty="0"/>
          </a:p>
          <a:p>
            <a:pPr algn="ctr" indent="0" marL="0">
              <a:lnSpc>
                <a:spcPct val="95000"/>
              </a:lnSpc>
              <a:buNone/>
            </a:pPr>
            <a:r>
              <a:rPr lang="en-US" sz="1050" b="1" dirty="0">
                <a:solidFill>
                  <a:srgbClr val="0B2545"/>
                </a:solidFill>
                <a:latin typeface="Calibri" pitchFamily="34" charset="0"/>
                <a:ea typeface="Calibri" pitchFamily="34" charset="-122"/>
                <a:cs typeface="Calibri" pitchFamily="34" charset="-120"/>
              </a:rPr>
              <a:t>(giao diện + nghiệp vụ)</a:t>
            </a:r>
            <a:endParaRPr lang="en-US" sz="1050" dirty="0"/>
          </a:p>
        </p:txBody>
      </p:sp>
      <p:sp>
        <p:nvSpPr>
          <p:cNvPr id="11" name="Shape 9"/>
          <p:cNvSpPr/>
          <p:nvPr/>
        </p:nvSpPr>
        <p:spPr>
          <a:xfrm>
            <a:off x="2286000" y="2633472"/>
            <a:ext cx="0" cy="292608"/>
          </a:xfrm>
          <a:prstGeom prst="line">
            <a:avLst/>
          </a:prstGeom>
          <a:noFill/>
          <a:ln w="16510">
            <a:solidFill>
              <a:srgbClr val="3E5C76"/>
            </a:solidFill>
            <a:prstDash val="solid"/>
            <a:tailEnd type="triangle"/>
          </a:ln>
        </p:spPr>
      </p:sp>
      <p:sp>
        <p:nvSpPr>
          <p:cNvPr id="12" name="Shape 10"/>
          <p:cNvSpPr/>
          <p:nvPr/>
        </p:nvSpPr>
        <p:spPr>
          <a:xfrm>
            <a:off x="822960" y="2926080"/>
            <a:ext cx="2926080" cy="621792"/>
          </a:xfrm>
          <a:prstGeom prst="roundRect">
            <a:avLst>
              <a:gd name="adj" fmla="val 10294"/>
            </a:avLst>
          </a:prstGeom>
          <a:solidFill>
            <a:srgbClr val="12726B"/>
          </a:solidFill>
          <a:ln w="15240">
            <a:solidFill>
              <a:srgbClr val="12726B"/>
            </a:solidFill>
            <a:prstDash val="solid"/>
          </a:ln>
        </p:spPr>
      </p:sp>
      <p:sp>
        <p:nvSpPr>
          <p:cNvPr id="13" name="Text 11"/>
          <p:cNvSpPr/>
          <p:nvPr/>
        </p:nvSpPr>
        <p:spPr>
          <a:xfrm>
            <a:off x="868680" y="2926080"/>
            <a:ext cx="2834640" cy="62179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Database Server</a:t>
            </a:r>
            <a:endParaRPr lang="en-US" sz="1050" dirty="0"/>
          </a:p>
        </p:txBody>
      </p:sp>
      <p:sp>
        <p:nvSpPr>
          <p:cNvPr id="14" name="Text 12"/>
          <p:cNvSpPr/>
          <p:nvPr/>
        </p:nvSpPr>
        <p:spPr>
          <a:xfrm>
            <a:off x="731520" y="5029200"/>
            <a:ext cx="3154680" cy="960120"/>
          </a:xfrm>
          <a:prstGeom prst="rect">
            <a:avLst/>
          </a:prstGeom>
          <a:noFill/>
          <a:ln/>
        </p:spPr>
        <p:txBody>
          <a:bodyPr wrap="square" lIns="0" tIns="0" rIns="0" bIns="0" rtlCol="0" anchor="t"/>
          <a:lstStyle/>
          <a:p>
            <a:pPr indent="0" marL="0">
              <a:lnSpc>
                <a:spcPct val="110000"/>
              </a:lnSpc>
              <a:buNone/>
            </a:pPr>
            <a:r>
              <a:rPr lang="en-US" sz="1050" dirty="0">
                <a:solidFill>
                  <a:srgbClr val="13315C"/>
                </a:solidFill>
                <a:latin typeface="Calibri" pitchFamily="34" charset="0"/>
                <a:ea typeface="Calibri" pitchFamily="34" charset="-122"/>
                <a:cs typeface="Calibri" pitchFamily="34" charset="-120"/>
              </a:rPr>
              <a:t>Nghiệp vụ nằm ngay trong client (“fat client”). Đổi quy tắc nghiệp vụ phải cài lại toàn bộ máy khách.</a:t>
            </a:r>
            <a:endParaRPr lang="en-US" sz="1050" dirty="0"/>
          </a:p>
        </p:txBody>
      </p:sp>
      <p:sp>
        <p:nvSpPr>
          <p:cNvPr id="15" name="Shape 13"/>
          <p:cNvSpPr/>
          <p:nvPr/>
        </p:nvSpPr>
        <p:spPr>
          <a:xfrm>
            <a:off x="4297680" y="1325880"/>
            <a:ext cx="3566160" cy="4892040"/>
          </a:xfrm>
          <a:prstGeom prst="roundRect">
            <a:avLst>
              <a:gd name="adj" fmla="val 2051"/>
            </a:avLst>
          </a:prstGeom>
          <a:solidFill>
            <a:srgbClr val="FDF2DA"/>
          </a:solidFill>
          <a:ln w="12700">
            <a:solidFill>
              <a:srgbClr val="E8A317"/>
            </a:solidFill>
            <a:prstDash val="solid"/>
          </a:ln>
        </p:spPr>
      </p:sp>
      <p:sp>
        <p:nvSpPr>
          <p:cNvPr id="16" name="Shape 14"/>
          <p:cNvSpPr/>
          <p:nvPr/>
        </p:nvSpPr>
        <p:spPr>
          <a:xfrm>
            <a:off x="5349240" y="1481328"/>
            <a:ext cx="1463040" cy="310896"/>
          </a:xfrm>
          <a:prstGeom prst="roundRect">
            <a:avLst>
              <a:gd name="adj" fmla="val 20588"/>
            </a:avLst>
          </a:prstGeom>
          <a:solidFill>
            <a:srgbClr val="E8A317"/>
          </a:solidFill>
          <a:ln w="12700">
            <a:solidFill>
              <a:srgbClr val="E8A317"/>
            </a:solidFill>
            <a:prstDash val="solid"/>
          </a:ln>
        </p:spPr>
      </p:sp>
      <p:sp>
        <p:nvSpPr>
          <p:cNvPr id="17" name="Text 15"/>
          <p:cNvSpPr/>
          <p:nvPr/>
        </p:nvSpPr>
        <p:spPr>
          <a:xfrm>
            <a:off x="5349240" y="1481328"/>
            <a:ext cx="1463040" cy="310896"/>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3-TIER</a:t>
            </a:r>
            <a:endParaRPr lang="en-US" sz="900" dirty="0"/>
          </a:p>
        </p:txBody>
      </p:sp>
      <p:sp>
        <p:nvSpPr>
          <p:cNvPr id="18" name="Shape 16"/>
          <p:cNvSpPr/>
          <p:nvPr/>
        </p:nvSpPr>
        <p:spPr>
          <a:xfrm>
            <a:off x="4617720" y="2011680"/>
            <a:ext cx="2926080" cy="621792"/>
          </a:xfrm>
          <a:prstGeom prst="roundRect">
            <a:avLst>
              <a:gd name="adj" fmla="val 10294"/>
            </a:avLst>
          </a:prstGeom>
          <a:solidFill>
            <a:srgbClr val="E8A317"/>
          </a:solidFill>
          <a:ln w="15240">
            <a:solidFill>
              <a:srgbClr val="E8A317"/>
            </a:solidFill>
            <a:prstDash val="solid"/>
          </a:ln>
        </p:spPr>
      </p:sp>
      <p:sp>
        <p:nvSpPr>
          <p:cNvPr id="19" name="Text 17"/>
          <p:cNvSpPr/>
          <p:nvPr/>
        </p:nvSpPr>
        <p:spPr>
          <a:xfrm>
            <a:off x="4663440" y="2011680"/>
            <a:ext cx="2834640" cy="621792"/>
          </a:xfrm>
          <a:prstGeom prst="rect">
            <a:avLst/>
          </a:prstGeom>
          <a:noFill/>
          <a:ln/>
        </p:spPr>
        <p:txBody>
          <a:bodyPr wrap="square" lIns="0" tIns="0" rIns="0" bIns="0" rtlCol="0" anchor="ctr"/>
          <a:lstStyle/>
          <a:p>
            <a:pPr algn="ctr" indent="0" marL="0">
              <a:lnSpc>
                <a:spcPct val="95000"/>
              </a:lnSpc>
              <a:buNone/>
            </a:pPr>
            <a:r>
              <a:rPr lang="en-US" sz="1050" b="1" dirty="0">
                <a:solidFill>
                  <a:srgbClr val="0B2545"/>
                </a:solidFill>
                <a:latin typeface="Calibri" pitchFamily="34" charset="0"/>
                <a:ea typeface="Calibri" pitchFamily="34" charset="-122"/>
                <a:cs typeface="Calibri" pitchFamily="34" charset="-120"/>
              </a:rPr>
              <a:t>Client</a:t>
            </a:r>
            <a:endParaRPr lang="en-US" sz="1050" dirty="0"/>
          </a:p>
          <a:p>
            <a:pPr algn="ctr" indent="0" marL="0">
              <a:lnSpc>
                <a:spcPct val="95000"/>
              </a:lnSpc>
              <a:buNone/>
            </a:pPr>
            <a:r>
              <a:rPr lang="en-US" sz="1050" b="1" dirty="0">
                <a:solidFill>
                  <a:srgbClr val="0B2545"/>
                </a:solidFill>
                <a:latin typeface="Calibri" pitchFamily="34" charset="0"/>
                <a:ea typeface="Calibri" pitchFamily="34" charset="-122"/>
                <a:cs typeface="Calibri" pitchFamily="34" charset="-120"/>
              </a:rPr>
              <a:t>(chỉ giao diện)</a:t>
            </a:r>
            <a:endParaRPr lang="en-US" sz="1050" dirty="0"/>
          </a:p>
        </p:txBody>
      </p:sp>
      <p:sp>
        <p:nvSpPr>
          <p:cNvPr id="20" name="Shape 18"/>
          <p:cNvSpPr/>
          <p:nvPr/>
        </p:nvSpPr>
        <p:spPr>
          <a:xfrm>
            <a:off x="6080760" y="2633472"/>
            <a:ext cx="0" cy="292608"/>
          </a:xfrm>
          <a:prstGeom prst="line">
            <a:avLst/>
          </a:prstGeom>
          <a:noFill/>
          <a:ln w="16510">
            <a:solidFill>
              <a:srgbClr val="3E5C76"/>
            </a:solidFill>
            <a:prstDash val="solid"/>
            <a:tailEnd type="triangle"/>
          </a:ln>
        </p:spPr>
      </p:sp>
      <p:sp>
        <p:nvSpPr>
          <p:cNvPr id="21" name="Shape 19"/>
          <p:cNvSpPr/>
          <p:nvPr/>
        </p:nvSpPr>
        <p:spPr>
          <a:xfrm>
            <a:off x="4617720" y="2926080"/>
            <a:ext cx="2926080" cy="621792"/>
          </a:xfrm>
          <a:prstGeom prst="roundRect">
            <a:avLst>
              <a:gd name="adj" fmla="val 10294"/>
            </a:avLst>
          </a:prstGeom>
          <a:solidFill>
            <a:srgbClr val="0B2545"/>
          </a:solidFill>
          <a:ln w="15240">
            <a:solidFill>
              <a:srgbClr val="0B2545"/>
            </a:solidFill>
            <a:prstDash val="solid"/>
          </a:ln>
        </p:spPr>
      </p:sp>
      <p:sp>
        <p:nvSpPr>
          <p:cNvPr id="22" name="Text 20"/>
          <p:cNvSpPr/>
          <p:nvPr/>
        </p:nvSpPr>
        <p:spPr>
          <a:xfrm>
            <a:off x="4663440" y="2926080"/>
            <a:ext cx="2834640" cy="62179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Application Server</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(nghiệp vụ)</a:t>
            </a:r>
            <a:endParaRPr lang="en-US" sz="1050" dirty="0"/>
          </a:p>
        </p:txBody>
      </p:sp>
      <p:sp>
        <p:nvSpPr>
          <p:cNvPr id="23" name="Shape 21"/>
          <p:cNvSpPr/>
          <p:nvPr/>
        </p:nvSpPr>
        <p:spPr>
          <a:xfrm>
            <a:off x="6080760" y="3547872"/>
            <a:ext cx="0" cy="292608"/>
          </a:xfrm>
          <a:prstGeom prst="line">
            <a:avLst/>
          </a:prstGeom>
          <a:noFill/>
          <a:ln w="16510">
            <a:solidFill>
              <a:srgbClr val="3E5C76"/>
            </a:solidFill>
            <a:prstDash val="solid"/>
            <a:tailEnd type="triangle"/>
          </a:ln>
        </p:spPr>
      </p:sp>
      <p:sp>
        <p:nvSpPr>
          <p:cNvPr id="24" name="Shape 22"/>
          <p:cNvSpPr/>
          <p:nvPr/>
        </p:nvSpPr>
        <p:spPr>
          <a:xfrm>
            <a:off x="4617720" y="3840480"/>
            <a:ext cx="2926080" cy="621792"/>
          </a:xfrm>
          <a:prstGeom prst="roundRect">
            <a:avLst>
              <a:gd name="adj" fmla="val 10294"/>
            </a:avLst>
          </a:prstGeom>
          <a:solidFill>
            <a:srgbClr val="12726B"/>
          </a:solidFill>
          <a:ln w="15240">
            <a:solidFill>
              <a:srgbClr val="12726B"/>
            </a:solidFill>
            <a:prstDash val="solid"/>
          </a:ln>
        </p:spPr>
      </p:sp>
      <p:sp>
        <p:nvSpPr>
          <p:cNvPr id="25" name="Text 23"/>
          <p:cNvSpPr/>
          <p:nvPr/>
        </p:nvSpPr>
        <p:spPr>
          <a:xfrm>
            <a:off x="4663440" y="3840480"/>
            <a:ext cx="2834640" cy="62179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Database Server</a:t>
            </a:r>
            <a:endParaRPr lang="en-US" sz="1050" dirty="0"/>
          </a:p>
        </p:txBody>
      </p:sp>
      <p:sp>
        <p:nvSpPr>
          <p:cNvPr id="26" name="Text 24"/>
          <p:cNvSpPr/>
          <p:nvPr/>
        </p:nvSpPr>
        <p:spPr>
          <a:xfrm>
            <a:off x="4526280" y="5029200"/>
            <a:ext cx="3154680" cy="960120"/>
          </a:xfrm>
          <a:prstGeom prst="rect">
            <a:avLst/>
          </a:prstGeom>
          <a:noFill/>
          <a:ln/>
        </p:spPr>
        <p:txBody>
          <a:bodyPr wrap="square" lIns="0" tIns="0" rIns="0" bIns="0" rtlCol="0" anchor="t"/>
          <a:lstStyle/>
          <a:p>
            <a:pPr indent="0" marL="0">
              <a:lnSpc>
                <a:spcPct val="110000"/>
              </a:lnSpc>
              <a:buNone/>
            </a:pPr>
            <a:r>
              <a:rPr lang="en-US" sz="1050" dirty="0">
                <a:solidFill>
                  <a:srgbClr val="13315C"/>
                </a:solidFill>
                <a:latin typeface="Calibri" pitchFamily="34" charset="0"/>
                <a:ea typeface="Calibri" pitchFamily="34" charset="-122"/>
                <a:cs typeface="Calibri" pitchFamily="34" charset="-120"/>
              </a:rPr>
              <a:t>Tách nghiệp vụ ra tầng riêng. Đây là mô hình phổ biến nhất và cũng là thứ Layered Architecture ánh xạ tới.</a:t>
            </a:r>
            <a:endParaRPr lang="en-US" sz="1050" dirty="0"/>
          </a:p>
        </p:txBody>
      </p:sp>
      <p:sp>
        <p:nvSpPr>
          <p:cNvPr id="27" name="Shape 25"/>
          <p:cNvSpPr/>
          <p:nvPr/>
        </p:nvSpPr>
        <p:spPr>
          <a:xfrm>
            <a:off x="8092440" y="1325880"/>
            <a:ext cx="3566160" cy="4892040"/>
          </a:xfrm>
          <a:prstGeom prst="roundRect">
            <a:avLst>
              <a:gd name="adj" fmla="val 2051"/>
            </a:avLst>
          </a:prstGeom>
          <a:solidFill>
            <a:srgbClr val="F1F5F9"/>
          </a:solidFill>
          <a:ln w="12700">
            <a:solidFill>
              <a:srgbClr val="DCE4EC"/>
            </a:solidFill>
            <a:prstDash val="solid"/>
          </a:ln>
        </p:spPr>
      </p:sp>
      <p:sp>
        <p:nvSpPr>
          <p:cNvPr id="28" name="Shape 26"/>
          <p:cNvSpPr/>
          <p:nvPr/>
        </p:nvSpPr>
        <p:spPr>
          <a:xfrm>
            <a:off x="9144000" y="1481328"/>
            <a:ext cx="1463040" cy="310896"/>
          </a:xfrm>
          <a:prstGeom prst="roundRect">
            <a:avLst>
              <a:gd name="adj" fmla="val 20588"/>
            </a:avLst>
          </a:prstGeom>
          <a:solidFill>
            <a:srgbClr val="0B2545"/>
          </a:solidFill>
          <a:ln w="12700">
            <a:solidFill>
              <a:srgbClr val="0B2545"/>
            </a:solidFill>
            <a:prstDash val="solid"/>
          </a:ln>
        </p:spPr>
      </p:sp>
      <p:sp>
        <p:nvSpPr>
          <p:cNvPr id="29" name="Text 27"/>
          <p:cNvSpPr/>
          <p:nvPr/>
        </p:nvSpPr>
        <p:spPr>
          <a:xfrm>
            <a:off x="9144000" y="1481328"/>
            <a:ext cx="14630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N-TIER</a:t>
            </a:r>
            <a:endParaRPr lang="en-US" sz="900" dirty="0"/>
          </a:p>
        </p:txBody>
      </p:sp>
      <p:sp>
        <p:nvSpPr>
          <p:cNvPr id="30" name="Shape 28"/>
          <p:cNvSpPr/>
          <p:nvPr/>
        </p:nvSpPr>
        <p:spPr>
          <a:xfrm>
            <a:off x="8412480" y="2011680"/>
            <a:ext cx="2926080" cy="548640"/>
          </a:xfrm>
          <a:prstGeom prst="roundRect">
            <a:avLst>
              <a:gd name="adj" fmla="val 11667"/>
            </a:avLst>
          </a:prstGeom>
          <a:solidFill>
            <a:srgbClr val="E8A317"/>
          </a:solidFill>
          <a:ln w="15240">
            <a:solidFill>
              <a:srgbClr val="E8A317"/>
            </a:solidFill>
            <a:prstDash val="solid"/>
          </a:ln>
        </p:spPr>
      </p:sp>
      <p:sp>
        <p:nvSpPr>
          <p:cNvPr id="31" name="Text 29"/>
          <p:cNvSpPr/>
          <p:nvPr/>
        </p:nvSpPr>
        <p:spPr>
          <a:xfrm>
            <a:off x="8458200" y="2011680"/>
            <a:ext cx="2834640" cy="548640"/>
          </a:xfrm>
          <a:prstGeom prst="rect">
            <a:avLst/>
          </a:prstGeom>
          <a:noFill/>
          <a:ln/>
        </p:spPr>
        <p:txBody>
          <a:bodyPr wrap="square" lIns="0" tIns="0" rIns="0" bIns="0" rtlCol="0" anchor="ctr"/>
          <a:lstStyle/>
          <a:p>
            <a:pPr algn="ctr" indent="0" marL="0">
              <a:lnSpc>
                <a:spcPct val="95000"/>
              </a:lnSpc>
              <a:buNone/>
            </a:pPr>
            <a:r>
              <a:rPr lang="en-US" sz="1050" b="1" dirty="0">
                <a:solidFill>
                  <a:srgbClr val="0B2545"/>
                </a:solidFill>
                <a:latin typeface="Calibri" pitchFamily="34" charset="0"/>
                <a:ea typeface="Calibri" pitchFamily="34" charset="-122"/>
                <a:cs typeface="Calibri" pitchFamily="34" charset="-120"/>
              </a:rPr>
              <a:t>Client</a:t>
            </a:r>
            <a:endParaRPr lang="en-US" sz="1050" dirty="0"/>
          </a:p>
        </p:txBody>
      </p:sp>
      <p:sp>
        <p:nvSpPr>
          <p:cNvPr id="32" name="Shape 30"/>
          <p:cNvSpPr/>
          <p:nvPr/>
        </p:nvSpPr>
        <p:spPr>
          <a:xfrm>
            <a:off x="9875520" y="2560320"/>
            <a:ext cx="0" cy="201168"/>
          </a:xfrm>
          <a:prstGeom prst="line">
            <a:avLst/>
          </a:prstGeom>
          <a:noFill/>
          <a:ln w="16510">
            <a:solidFill>
              <a:srgbClr val="3E5C76"/>
            </a:solidFill>
            <a:prstDash val="solid"/>
            <a:tailEnd type="triangle"/>
          </a:ln>
        </p:spPr>
      </p:sp>
      <p:sp>
        <p:nvSpPr>
          <p:cNvPr id="33" name="Shape 31"/>
          <p:cNvSpPr/>
          <p:nvPr/>
        </p:nvSpPr>
        <p:spPr>
          <a:xfrm>
            <a:off x="8412480" y="2761488"/>
            <a:ext cx="2926080" cy="548640"/>
          </a:xfrm>
          <a:prstGeom prst="roundRect">
            <a:avLst>
              <a:gd name="adj" fmla="val 11667"/>
            </a:avLst>
          </a:prstGeom>
          <a:solidFill>
            <a:srgbClr val="1F4470"/>
          </a:solidFill>
          <a:ln w="15240">
            <a:solidFill>
              <a:srgbClr val="1F4470"/>
            </a:solidFill>
            <a:prstDash val="solid"/>
          </a:ln>
        </p:spPr>
      </p:sp>
      <p:sp>
        <p:nvSpPr>
          <p:cNvPr id="34" name="Text 32"/>
          <p:cNvSpPr/>
          <p:nvPr/>
        </p:nvSpPr>
        <p:spPr>
          <a:xfrm>
            <a:off x="8458200" y="2761488"/>
            <a:ext cx="2834640" cy="54864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Web / API Gateway</a:t>
            </a:r>
            <a:endParaRPr lang="en-US" sz="1050" dirty="0"/>
          </a:p>
        </p:txBody>
      </p:sp>
      <p:sp>
        <p:nvSpPr>
          <p:cNvPr id="35" name="Shape 33"/>
          <p:cNvSpPr/>
          <p:nvPr/>
        </p:nvSpPr>
        <p:spPr>
          <a:xfrm>
            <a:off x="9875520" y="3310128"/>
            <a:ext cx="0" cy="201168"/>
          </a:xfrm>
          <a:prstGeom prst="line">
            <a:avLst/>
          </a:prstGeom>
          <a:noFill/>
          <a:ln w="16510">
            <a:solidFill>
              <a:srgbClr val="3E5C76"/>
            </a:solidFill>
            <a:prstDash val="solid"/>
            <a:tailEnd type="triangle"/>
          </a:ln>
        </p:spPr>
      </p:sp>
      <p:sp>
        <p:nvSpPr>
          <p:cNvPr id="36" name="Shape 34"/>
          <p:cNvSpPr/>
          <p:nvPr/>
        </p:nvSpPr>
        <p:spPr>
          <a:xfrm>
            <a:off x="8412480" y="3511296"/>
            <a:ext cx="2926080" cy="548640"/>
          </a:xfrm>
          <a:prstGeom prst="roundRect">
            <a:avLst>
              <a:gd name="adj" fmla="val 11667"/>
            </a:avLst>
          </a:prstGeom>
          <a:solidFill>
            <a:srgbClr val="0B2545"/>
          </a:solidFill>
          <a:ln w="15240">
            <a:solidFill>
              <a:srgbClr val="0B2545"/>
            </a:solidFill>
            <a:prstDash val="solid"/>
          </a:ln>
        </p:spPr>
      </p:sp>
      <p:sp>
        <p:nvSpPr>
          <p:cNvPr id="37" name="Text 35"/>
          <p:cNvSpPr/>
          <p:nvPr/>
        </p:nvSpPr>
        <p:spPr>
          <a:xfrm>
            <a:off x="8458200" y="3511296"/>
            <a:ext cx="2834640" cy="54864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Application Server</a:t>
            </a:r>
            <a:endParaRPr lang="en-US" sz="1050" dirty="0"/>
          </a:p>
        </p:txBody>
      </p:sp>
      <p:sp>
        <p:nvSpPr>
          <p:cNvPr id="38" name="Shape 36"/>
          <p:cNvSpPr/>
          <p:nvPr/>
        </p:nvSpPr>
        <p:spPr>
          <a:xfrm>
            <a:off x="9875520" y="4059936"/>
            <a:ext cx="0" cy="201168"/>
          </a:xfrm>
          <a:prstGeom prst="line">
            <a:avLst/>
          </a:prstGeom>
          <a:noFill/>
          <a:ln w="16510">
            <a:solidFill>
              <a:srgbClr val="3E5C76"/>
            </a:solidFill>
            <a:prstDash val="solid"/>
            <a:tailEnd type="triangle"/>
          </a:ln>
        </p:spPr>
      </p:sp>
      <p:sp>
        <p:nvSpPr>
          <p:cNvPr id="39" name="Shape 37"/>
          <p:cNvSpPr/>
          <p:nvPr/>
        </p:nvSpPr>
        <p:spPr>
          <a:xfrm>
            <a:off x="8412480" y="4261104"/>
            <a:ext cx="2926080" cy="548640"/>
          </a:xfrm>
          <a:prstGeom prst="roundRect">
            <a:avLst>
              <a:gd name="adj" fmla="val 11667"/>
            </a:avLst>
          </a:prstGeom>
          <a:solidFill>
            <a:srgbClr val="12726B"/>
          </a:solidFill>
          <a:ln w="15240">
            <a:solidFill>
              <a:srgbClr val="12726B"/>
            </a:solidFill>
            <a:prstDash val="solid"/>
          </a:ln>
        </p:spPr>
      </p:sp>
      <p:sp>
        <p:nvSpPr>
          <p:cNvPr id="40" name="Text 38"/>
          <p:cNvSpPr/>
          <p:nvPr/>
        </p:nvSpPr>
        <p:spPr>
          <a:xfrm>
            <a:off x="8458200" y="4261104"/>
            <a:ext cx="2834640" cy="54864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Database Server</a:t>
            </a:r>
            <a:endParaRPr lang="en-US" sz="1050" dirty="0"/>
          </a:p>
        </p:txBody>
      </p:sp>
      <p:sp>
        <p:nvSpPr>
          <p:cNvPr id="41" name="Text 39"/>
          <p:cNvSpPr/>
          <p:nvPr/>
        </p:nvSpPr>
        <p:spPr>
          <a:xfrm>
            <a:off x="8321040" y="5120640"/>
            <a:ext cx="3154680" cy="960120"/>
          </a:xfrm>
          <a:prstGeom prst="rect">
            <a:avLst/>
          </a:prstGeom>
          <a:noFill/>
          <a:ln/>
        </p:spPr>
        <p:txBody>
          <a:bodyPr wrap="square" lIns="0" tIns="0" rIns="0" bIns="0" rtlCol="0" anchor="t"/>
          <a:lstStyle/>
          <a:p>
            <a:pPr indent="0" marL="0">
              <a:lnSpc>
                <a:spcPct val="110000"/>
              </a:lnSpc>
              <a:buNone/>
            </a:pPr>
            <a:r>
              <a:rPr lang="en-US" sz="1050" dirty="0">
                <a:solidFill>
                  <a:srgbClr val="13315C"/>
                </a:solidFill>
                <a:latin typeface="Calibri" pitchFamily="34" charset="0"/>
                <a:ea typeface="Calibri" pitchFamily="34" charset="-122"/>
                <a:cs typeface="Calibri" pitchFamily="34" charset="-120"/>
              </a:rPr>
              <a:t>Thêm các tầng chuyên trách: gateway, cache, message queue, báo cáo. Linh hoạt nhất nhưng vận hành phức tạp.</a:t>
            </a:r>
            <a:endParaRPr lang="en-US" sz="1050" dirty="0"/>
          </a:p>
        </p:txBody>
      </p:sp>
      <p:sp>
        <p:nvSpPr>
          <p:cNvPr id="42" name="Text 40"/>
          <p:cNvSpPr/>
          <p:nvPr/>
        </p:nvSpPr>
        <p:spPr>
          <a:xfrm>
            <a:off x="502920" y="6309360"/>
            <a:ext cx="11155680" cy="310896"/>
          </a:xfrm>
          <a:prstGeom prst="rect">
            <a:avLst/>
          </a:prstGeom>
          <a:noFill/>
          <a:ln/>
        </p:spPr>
        <p:txBody>
          <a:bodyPr wrap="square" lIns="0" tIns="0" rIns="0" bIns="0" rtlCol="0" anchor="ctr"/>
          <a:lstStyle/>
          <a:p>
            <a:pPr algn="ctr" indent="0" marL="0">
              <a:buNone/>
            </a:pPr>
            <a:r>
              <a:rPr lang="en-US" sz="1150" i="1" dirty="0">
                <a:solidFill>
                  <a:srgbClr val="12726B"/>
                </a:solidFill>
                <a:latin typeface="Calibri" pitchFamily="34" charset="0"/>
                <a:ea typeface="Calibri" pitchFamily="34" charset="-122"/>
                <a:cs typeface="Calibri" pitchFamily="34" charset="-120"/>
              </a:rPr>
              <a:t>Phân biệt phải nhớ: LAYER là cách tổ chức mã nguồn (logic), TIER là cách triển khai lên máy chủ (vật lý). Một hệ thống 3-layer hoàn toàn có thể chạy trên 1 tier duy nhất.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9</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Service-Oriented Architecture (Chapter 16)</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Dịch vụ tự trị, được đăng ký và khám phá thông qua registry</a:t>
            </a:r>
            <a:endParaRPr lang="en-US" sz="1300" dirty="0"/>
          </a:p>
        </p:txBody>
      </p:sp>
      <p:sp>
        <p:nvSpPr>
          <p:cNvPr id="6" name="Shape 4"/>
          <p:cNvSpPr/>
          <p:nvPr/>
        </p:nvSpPr>
        <p:spPr>
          <a:xfrm>
            <a:off x="525780" y="2743200"/>
            <a:ext cx="1691640" cy="640080"/>
          </a:xfrm>
          <a:prstGeom prst="roundRect">
            <a:avLst>
              <a:gd name="adj" fmla="val 10000"/>
            </a:avLst>
          </a:prstGeom>
          <a:solidFill>
            <a:srgbClr val="E8A317"/>
          </a:solidFill>
          <a:ln w="15240">
            <a:solidFill>
              <a:srgbClr val="E8A317"/>
            </a:solidFill>
            <a:prstDash val="solid"/>
          </a:ln>
        </p:spPr>
      </p:sp>
      <p:sp>
        <p:nvSpPr>
          <p:cNvPr id="7" name="Text 5"/>
          <p:cNvSpPr/>
          <p:nvPr/>
        </p:nvSpPr>
        <p:spPr>
          <a:xfrm>
            <a:off x="571500" y="2743200"/>
            <a:ext cx="1600200" cy="640080"/>
          </a:xfrm>
          <a:prstGeom prst="rect">
            <a:avLst/>
          </a:prstGeom>
          <a:noFill/>
          <a:ln/>
        </p:spPr>
        <p:txBody>
          <a:bodyPr wrap="square" lIns="0" tIns="0" rIns="0" bIns="0" rtlCol="0" anchor="ctr"/>
          <a:lstStyle/>
          <a:p>
            <a:pPr algn="ctr" indent="0" marL="0">
              <a:lnSpc>
                <a:spcPct val="95000"/>
              </a:lnSpc>
              <a:buNone/>
            </a:pPr>
            <a:r>
              <a:rPr lang="en-US" sz="1050" b="1" dirty="0">
                <a:solidFill>
                  <a:srgbClr val="0B2545"/>
                </a:solidFill>
                <a:latin typeface="Calibri" pitchFamily="34" charset="0"/>
                <a:ea typeface="Calibri" pitchFamily="34" charset="-122"/>
                <a:cs typeface="Calibri" pitchFamily="34" charset="-120"/>
              </a:rPr>
              <a:t>Service</a:t>
            </a:r>
            <a:endParaRPr lang="en-US" sz="1050" dirty="0"/>
          </a:p>
          <a:p>
            <a:pPr algn="ctr" indent="0" marL="0">
              <a:lnSpc>
                <a:spcPct val="95000"/>
              </a:lnSpc>
              <a:buNone/>
            </a:pPr>
            <a:r>
              <a:rPr lang="en-US" sz="1050" b="1" dirty="0">
                <a:solidFill>
                  <a:srgbClr val="0B2545"/>
                </a:solidFill>
                <a:latin typeface="Calibri" pitchFamily="34" charset="0"/>
                <a:ea typeface="Calibri" pitchFamily="34" charset="-122"/>
                <a:cs typeface="Calibri" pitchFamily="34" charset="-120"/>
              </a:rPr>
              <a:t>Requester</a:t>
            </a:r>
            <a:endParaRPr lang="en-US" sz="1050" dirty="0"/>
          </a:p>
        </p:txBody>
      </p:sp>
      <p:sp>
        <p:nvSpPr>
          <p:cNvPr id="8" name="Shape 6"/>
          <p:cNvSpPr/>
          <p:nvPr/>
        </p:nvSpPr>
        <p:spPr>
          <a:xfrm>
            <a:off x="2331720" y="1508760"/>
            <a:ext cx="1920240" cy="640080"/>
          </a:xfrm>
          <a:prstGeom prst="roundRect">
            <a:avLst>
              <a:gd name="adj" fmla="val 10000"/>
            </a:avLst>
          </a:prstGeom>
          <a:solidFill>
            <a:srgbClr val="0B2545"/>
          </a:solidFill>
          <a:ln w="15240">
            <a:solidFill>
              <a:srgbClr val="0B2545"/>
            </a:solidFill>
            <a:prstDash val="solid"/>
          </a:ln>
        </p:spPr>
      </p:sp>
      <p:sp>
        <p:nvSpPr>
          <p:cNvPr id="9" name="Text 7"/>
          <p:cNvSpPr/>
          <p:nvPr/>
        </p:nvSpPr>
        <p:spPr>
          <a:xfrm>
            <a:off x="2377440" y="1508760"/>
            <a:ext cx="1828800" cy="64008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Service Registry</a:t>
            </a:r>
            <a:endParaRPr lang="en-US" sz="1050" dirty="0"/>
          </a:p>
          <a:p>
            <a:pPr algn="ctr" indent="0" marL="0">
              <a:lnSpc>
                <a:spcPct val="95000"/>
              </a:lnSpc>
              <a:buNone/>
            </a:pPr>
            <a:r>
              <a:rPr lang="en-US" sz="900" i="1" dirty="0">
                <a:solidFill>
                  <a:srgbClr val="D6E2EE"/>
                </a:solidFill>
                <a:latin typeface="Calibri" pitchFamily="34" charset="0"/>
                <a:ea typeface="Calibri" pitchFamily="34" charset="-122"/>
                <a:cs typeface="Calibri" pitchFamily="34" charset="-120"/>
              </a:rPr>
              <a:t>danh bạ dịch vụ</a:t>
            </a:r>
            <a:endParaRPr lang="en-US" sz="1050" dirty="0"/>
          </a:p>
        </p:txBody>
      </p:sp>
      <p:sp>
        <p:nvSpPr>
          <p:cNvPr id="10" name="Shape 8"/>
          <p:cNvSpPr/>
          <p:nvPr/>
        </p:nvSpPr>
        <p:spPr>
          <a:xfrm>
            <a:off x="4274820" y="2240280"/>
            <a:ext cx="1691640" cy="548640"/>
          </a:xfrm>
          <a:prstGeom prst="roundRect">
            <a:avLst>
              <a:gd name="adj" fmla="val 11667"/>
            </a:avLst>
          </a:prstGeom>
          <a:solidFill>
            <a:srgbClr val="12726B"/>
          </a:solidFill>
          <a:ln w="15240">
            <a:solidFill>
              <a:srgbClr val="12726B"/>
            </a:solidFill>
            <a:prstDash val="solid"/>
          </a:ln>
        </p:spPr>
      </p:sp>
      <p:sp>
        <p:nvSpPr>
          <p:cNvPr id="11" name="Text 9"/>
          <p:cNvSpPr/>
          <p:nvPr/>
        </p:nvSpPr>
        <p:spPr>
          <a:xfrm>
            <a:off x="4320540" y="2240280"/>
            <a:ext cx="1600200" cy="54864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Payment Service</a:t>
            </a:r>
            <a:endParaRPr lang="en-US" sz="950" dirty="0"/>
          </a:p>
        </p:txBody>
      </p:sp>
      <p:sp>
        <p:nvSpPr>
          <p:cNvPr id="12" name="Shape 10"/>
          <p:cNvSpPr/>
          <p:nvPr/>
        </p:nvSpPr>
        <p:spPr>
          <a:xfrm>
            <a:off x="4274820" y="2971800"/>
            <a:ext cx="1691640" cy="548640"/>
          </a:xfrm>
          <a:prstGeom prst="roundRect">
            <a:avLst>
              <a:gd name="adj" fmla="val 11667"/>
            </a:avLst>
          </a:prstGeom>
          <a:solidFill>
            <a:srgbClr val="12726B"/>
          </a:solidFill>
          <a:ln w="15240">
            <a:solidFill>
              <a:srgbClr val="12726B"/>
            </a:solidFill>
            <a:prstDash val="solid"/>
          </a:ln>
        </p:spPr>
      </p:sp>
      <p:sp>
        <p:nvSpPr>
          <p:cNvPr id="13" name="Text 11"/>
          <p:cNvSpPr/>
          <p:nvPr/>
        </p:nvSpPr>
        <p:spPr>
          <a:xfrm>
            <a:off x="4320540" y="2971800"/>
            <a:ext cx="1600200" cy="54864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Parking Service</a:t>
            </a:r>
            <a:endParaRPr lang="en-US" sz="950" dirty="0"/>
          </a:p>
        </p:txBody>
      </p:sp>
      <p:sp>
        <p:nvSpPr>
          <p:cNvPr id="14" name="Shape 12"/>
          <p:cNvSpPr/>
          <p:nvPr/>
        </p:nvSpPr>
        <p:spPr>
          <a:xfrm>
            <a:off x="4274820" y="3703320"/>
            <a:ext cx="1691640" cy="548640"/>
          </a:xfrm>
          <a:prstGeom prst="roundRect">
            <a:avLst>
              <a:gd name="adj" fmla="val 11667"/>
            </a:avLst>
          </a:prstGeom>
          <a:solidFill>
            <a:srgbClr val="12726B"/>
          </a:solidFill>
          <a:ln w="15240">
            <a:solidFill>
              <a:srgbClr val="12726B"/>
            </a:solidFill>
            <a:prstDash val="solid"/>
          </a:ln>
        </p:spPr>
      </p:sp>
      <p:sp>
        <p:nvSpPr>
          <p:cNvPr id="15" name="Text 13"/>
          <p:cNvSpPr/>
          <p:nvPr/>
        </p:nvSpPr>
        <p:spPr>
          <a:xfrm>
            <a:off x="4320540" y="3703320"/>
            <a:ext cx="1600200" cy="54864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Report Service</a:t>
            </a:r>
            <a:endParaRPr lang="en-US" sz="950" dirty="0"/>
          </a:p>
        </p:txBody>
      </p:sp>
      <p:sp>
        <p:nvSpPr>
          <p:cNvPr id="16" name="Shape 14"/>
          <p:cNvSpPr/>
          <p:nvPr/>
        </p:nvSpPr>
        <p:spPr>
          <a:xfrm>
            <a:off x="1371600" y="1828800"/>
            <a:ext cx="0" cy="914400"/>
          </a:xfrm>
          <a:prstGeom prst="line">
            <a:avLst/>
          </a:prstGeom>
          <a:noFill/>
          <a:ln w="16510">
            <a:solidFill>
              <a:srgbClr val="0B2545"/>
            </a:solidFill>
            <a:prstDash val="solid"/>
          </a:ln>
        </p:spPr>
      </p:sp>
      <p:sp>
        <p:nvSpPr>
          <p:cNvPr id="17" name="Shape 15"/>
          <p:cNvSpPr/>
          <p:nvPr/>
        </p:nvSpPr>
        <p:spPr>
          <a:xfrm>
            <a:off x="1371600" y="1828800"/>
            <a:ext cx="960120" cy="0"/>
          </a:xfrm>
          <a:prstGeom prst="line">
            <a:avLst/>
          </a:prstGeom>
          <a:noFill/>
          <a:ln w="16510">
            <a:solidFill>
              <a:srgbClr val="0B2545"/>
            </a:solidFill>
            <a:prstDash val="solid"/>
            <a:tailEnd type="triangle"/>
          </a:ln>
        </p:spPr>
      </p:sp>
      <p:sp>
        <p:nvSpPr>
          <p:cNvPr id="18" name="Text 16"/>
          <p:cNvSpPr/>
          <p:nvPr/>
        </p:nvSpPr>
        <p:spPr>
          <a:xfrm>
            <a:off x="932688" y="2103120"/>
            <a:ext cx="1371600" cy="201168"/>
          </a:xfrm>
          <a:prstGeom prst="rect">
            <a:avLst/>
          </a:prstGeom>
          <a:noFill/>
          <a:ln/>
        </p:spPr>
        <p:txBody>
          <a:bodyPr wrap="square" lIns="0" tIns="0" rIns="0" bIns="0" rtlCol="0" anchor="ctr"/>
          <a:lstStyle/>
          <a:p>
            <a:pPr indent="0" marL="0">
              <a:buNone/>
            </a:pPr>
            <a:r>
              <a:rPr lang="en-US" sz="850" i="1" dirty="0">
                <a:solidFill>
                  <a:srgbClr val="0B2545"/>
                </a:solidFill>
                <a:latin typeface="Calibri" pitchFamily="34" charset="0"/>
                <a:ea typeface="Calibri" pitchFamily="34" charset="-122"/>
                <a:cs typeface="Calibri" pitchFamily="34" charset="-120"/>
              </a:rPr>
              <a:t>1: tìm dịch vụ</a:t>
            </a:r>
            <a:endParaRPr lang="en-US" sz="850" dirty="0"/>
          </a:p>
        </p:txBody>
      </p:sp>
      <p:sp>
        <p:nvSpPr>
          <p:cNvPr id="19" name="Shape 17"/>
          <p:cNvSpPr/>
          <p:nvPr/>
        </p:nvSpPr>
        <p:spPr>
          <a:xfrm>
            <a:off x="4251960" y="1828800"/>
            <a:ext cx="868680" cy="0"/>
          </a:xfrm>
          <a:prstGeom prst="line">
            <a:avLst/>
          </a:prstGeom>
          <a:noFill/>
          <a:ln w="16510">
            <a:solidFill>
              <a:srgbClr val="3E5C76"/>
            </a:solidFill>
            <a:prstDash val="dash"/>
          </a:ln>
        </p:spPr>
      </p:sp>
      <p:sp>
        <p:nvSpPr>
          <p:cNvPr id="20" name="Shape 18"/>
          <p:cNvSpPr/>
          <p:nvPr/>
        </p:nvSpPr>
        <p:spPr>
          <a:xfrm>
            <a:off x="5120640" y="1828800"/>
            <a:ext cx="0" cy="411480"/>
          </a:xfrm>
          <a:prstGeom prst="line">
            <a:avLst/>
          </a:prstGeom>
          <a:noFill/>
          <a:ln w="16510">
            <a:solidFill>
              <a:srgbClr val="3E5C76"/>
            </a:solidFill>
            <a:prstDash val="dash"/>
            <a:tailEnd type="triangle"/>
          </a:ln>
        </p:spPr>
      </p:sp>
      <p:sp>
        <p:nvSpPr>
          <p:cNvPr id="21" name="Text 19"/>
          <p:cNvSpPr/>
          <p:nvPr/>
        </p:nvSpPr>
        <p:spPr>
          <a:xfrm>
            <a:off x="4297680" y="1572768"/>
            <a:ext cx="1188720" cy="201168"/>
          </a:xfrm>
          <a:prstGeom prst="rect">
            <a:avLst/>
          </a:prstGeom>
          <a:noFill/>
          <a:ln/>
        </p:spPr>
        <p:txBody>
          <a:bodyPr wrap="square" lIns="0" tIns="0" rIns="0" bIns="0" rtlCol="0" anchor="ctr"/>
          <a:lstStyle/>
          <a:p>
            <a:pPr indent="0" marL="0">
              <a:buNone/>
            </a:pPr>
            <a:r>
              <a:rPr lang="en-US" sz="850" i="1" dirty="0">
                <a:solidFill>
                  <a:srgbClr val="6B7A8F"/>
                </a:solidFill>
                <a:latin typeface="Calibri" pitchFamily="34" charset="0"/>
                <a:ea typeface="Calibri" pitchFamily="34" charset="-122"/>
                <a:cs typeface="Calibri" pitchFamily="34" charset="-120"/>
              </a:rPr>
              <a:t>2: đăng ký</a:t>
            </a:r>
            <a:endParaRPr lang="en-US" sz="850" dirty="0"/>
          </a:p>
        </p:txBody>
      </p:sp>
      <p:sp>
        <p:nvSpPr>
          <p:cNvPr id="22" name="Shape 20"/>
          <p:cNvSpPr/>
          <p:nvPr/>
        </p:nvSpPr>
        <p:spPr>
          <a:xfrm>
            <a:off x="2221992" y="3063240"/>
            <a:ext cx="2057400" cy="182880"/>
          </a:xfrm>
          <a:prstGeom prst="line">
            <a:avLst/>
          </a:prstGeom>
          <a:noFill/>
          <a:ln w="20320">
            <a:solidFill>
              <a:srgbClr val="12726B"/>
            </a:solidFill>
            <a:prstDash val="solid"/>
            <a:tailEnd type="triangle"/>
          </a:ln>
        </p:spPr>
      </p:sp>
      <p:sp>
        <p:nvSpPr>
          <p:cNvPr id="23" name="Text 21"/>
          <p:cNvSpPr/>
          <p:nvPr/>
        </p:nvSpPr>
        <p:spPr>
          <a:xfrm>
            <a:off x="2377440" y="3255264"/>
            <a:ext cx="1737360" cy="201168"/>
          </a:xfrm>
          <a:prstGeom prst="rect">
            <a:avLst/>
          </a:prstGeom>
          <a:noFill/>
          <a:ln/>
        </p:spPr>
        <p:txBody>
          <a:bodyPr wrap="square" lIns="0" tIns="0" rIns="0" bIns="0" rtlCol="0" anchor="ctr"/>
          <a:lstStyle/>
          <a:p>
            <a:pPr algn="ctr" indent="0" marL="0">
              <a:buNone/>
            </a:pPr>
            <a:r>
              <a:rPr lang="en-US" sz="850" i="1" dirty="0">
                <a:solidFill>
                  <a:srgbClr val="12726B"/>
                </a:solidFill>
                <a:latin typeface="Calibri" pitchFamily="34" charset="0"/>
                <a:ea typeface="Calibri" pitchFamily="34" charset="-122"/>
                <a:cs typeface="Calibri" pitchFamily="34" charset="-120"/>
              </a:rPr>
              <a:t>3: gọi trực tiếp</a:t>
            </a:r>
            <a:endParaRPr lang="en-US" sz="850" dirty="0"/>
          </a:p>
        </p:txBody>
      </p:sp>
      <p:sp>
        <p:nvSpPr>
          <p:cNvPr id="24" name="Shape 22"/>
          <p:cNvSpPr/>
          <p:nvPr/>
        </p:nvSpPr>
        <p:spPr>
          <a:xfrm>
            <a:off x="502920" y="4526280"/>
            <a:ext cx="5532120" cy="1691640"/>
          </a:xfrm>
          <a:prstGeom prst="roundRect">
            <a:avLst>
              <a:gd name="adj" fmla="val 4324"/>
            </a:avLst>
          </a:prstGeom>
          <a:solidFill>
            <a:srgbClr val="FDF2DA"/>
          </a:solidFill>
          <a:ln w="12700">
            <a:solidFill>
              <a:srgbClr val="E8A317"/>
            </a:solidFill>
            <a:prstDash val="solid"/>
          </a:ln>
        </p:spPr>
      </p:sp>
      <p:sp>
        <p:nvSpPr>
          <p:cNvPr id="25" name="Text 23"/>
          <p:cNvSpPr/>
          <p:nvPr/>
        </p:nvSpPr>
        <p:spPr>
          <a:xfrm>
            <a:off x="713232" y="4617720"/>
            <a:ext cx="5120640" cy="2743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Bốn mẫu giao tiếp thường đi kèm SOA</a:t>
            </a:r>
            <a:endParaRPr lang="en-US" sz="1300" dirty="0"/>
          </a:p>
        </p:txBody>
      </p:sp>
      <p:sp>
        <p:nvSpPr>
          <p:cNvPr id="26" name="Text 24"/>
          <p:cNvSpPr/>
          <p:nvPr/>
        </p:nvSpPr>
        <p:spPr>
          <a:xfrm>
            <a:off x="713232" y="4919472"/>
            <a:ext cx="5166360" cy="1234440"/>
          </a:xfrm>
          <a:prstGeom prst="rect">
            <a:avLst/>
          </a:prstGeom>
          <a:noFill/>
          <a:ln/>
        </p:spPr>
        <p:txBody>
          <a:bodyPr wrap="square" lIns="0" tIns="0" rIns="0" bIns="0" rtlCol="0" anchor="t"/>
          <a:lstStyle/>
          <a:p>
            <a:pPr indent="0" marL="0">
              <a:lnSpc>
                <a:spcPct val="108000"/>
              </a:lnSpc>
              <a:buNone/>
            </a:pPr>
            <a:r>
              <a:rPr lang="en-US" sz="1000" b="1" dirty="0">
                <a:solidFill>
                  <a:srgbClr val="13315C"/>
                </a:solidFill>
                <a:latin typeface="Calibri" pitchFamily="34" charset="0"/>
                <a:ea typeface="Calibri" pitchFamily="34" charset="-122"/>
                <a:cs typeface="Calibri" pitchFamily="34" charset="-120"/>
              </a:rPr>
              <a:t>Service Discovery</a:t>
            </a:r>
            <a:pPr indent="0" marL="0">
              <a:lnSpc>
                <a:spcPct val="108000"/>
              </a:lnSpc>
              <a:buNone/>
            </a:pPr>
            <a:r>
              <a:rPr lang="en-US" sz="1000" dirty="0">
                <a:solidFill>
                  <a:srgbClr val="3E5C76"/>
                </a:solidFill>
                <a:latin typeface="Calibri" pitchFamily="34" charset="0"/>
                <a:ea typeface="Calibri" pitchFamily="34" charset="-122"/>
                <a:cs typeface="Calibri" pitchFamily="34" charset="-120"/>
              </a:rPr>
              <a:t> — hỏi registry ai cung cấp dịch vụ mình cần.</a:t>
            </a:r>
            <a:endParaRPr lang="en-US" sz="1000" dirty="0"/>
          </a:p>
          <a:p>
            <a:pPr indent="0" marL="0">
              <a:lnSpc>
                <a:spcPct val="108000"/>
              </a:lnSpc>
              <a:buNone/>
            </a:pPr>
            <a:r>
              <a:rPr lang="en-US" sz="1000" b="1" dirty="0">
                <a:solidFill>
                  <a:srgbClr val="13315C"/>
                </a:solidFill>
                <a:latin typeface="Calibri" pitchFamily="34" charset="0"/>
                <a:ea typeface="Calibri" pitchFamily="34" charset="-122"/>
                <a:cs typeface="Calibri" pitchFamily="34" charset="-120"/>
              </a:rPr>
              <a:t>Broker Handle</a:t>
            </a:r>
            <a:pPr indent="0" marL="0">
              <a:lnSpc>
                <a:spcPct val="108000"/>
              </a:lnSpc>
              <a:buNone/>
            </a:pPr>
            <a:r>
              <a:rPr lang="en-US" sz="1000" dirty="0">
                <a:solidFill>
                  <a:srgbClr val="3E5C76"/>
                </a:solidFill>
                <a:latin typeface="Calibri" pitchFamily="34" charset="0"/>
                <a:ea typeface="Calibri" pitchFamily="34" charset="-122"/>
                <a:cs typeface="Calibri" pitchFamily="34" charset="-120"/>
              </a:rPr>
              <a:t> — broker trả về “địa chỉ”, client tự gọi thẳng dịch vụ.</a:t>
            </a:r>
            <a:endParaRPr lang="en-US" sz="1000" dirty="0"/>
          </a:p>
          <a:p>
            <a:pPr indent="0" marL="0">
              <a:lnSpc>
                <a:spcPct val="108000"/>
              </a:lnSpc>
              <a:buNone/>
            </a:pPr>
            <a:r>
              <a:rPr lang="en-US" sz="1000" b="1" dirty="0">
                <a:solidFill>
                  <a:srgbClr val="13315C"/>
                </a:solidFill>
                <a:latin typeface="Calibri" pitchFamily="34" charset="0"/>
                <a:ea typeface="Calibri" pitchFamily="34" charset="-122"/>
                <a:cs typeface="Calibri" pitchFamily="34" charset="-120"/>
              </a:rPr>
              <a:t>Broker Forwarding</a:t>
            </a:r>
            <a:pPr indent="0" marL="0">
              <a:lnSpc>
                <a:spcPct val="108000"/>
              </a:lnSpc>
              <a:buNone/>
            </a:pPr>
            <a:r>
              <a:rPr lang="en-US" sz="1000" dirty="0">
                <a:solidFill>
                  <a:srgbClr val="3E5C76"/>
                </a:solidFill>
                <a:latin typeface="Calibri" pitchFamily="34" charset="0"/>
                <a:ea typeface="Calibri" pitchFamily="34" charset="-122"/>
                <a:cs typeface="Calibri" pitchFamily="34" charset="-120"/>
              </a:rPr>
              <a:t> — broker nhận yêu cầu và chuyển tiếp hộ, client không biết dịch vụ ở đâu.</a:t>
            </a:r>
            <a:endParaRPr lang="en-US" sz="1000" dirty="0"/>
          </a:p>
          <a:p>
            <a:pPr indent="0" marL="0">
              <a:lnSpc>
                <a:spcPct val="108000"/>
              </a:lnSpc>
              <a:buNone/>
            </a:pPr>
            <a:r>
              <a:rPr lang="en-US" sz="1000" b="1" dirty="0">
                <a:solidFill>
                  <a:srgbClr val="13315C"/>
                </a:solidFill>
                <a:latin typeface="Calibri" pitchFamily="34" charset="0"/>
                <a:ea typeface="Calibri" pitchFamily="34" charset="-122"/>
                <a:cs typeface="Calibri" pitchFamily="34" charset="-120"/>
              </a:rPr>
              <a:t>Subscription / Notification</a:t>
            </a:r>
            <a:pPr indent="0" marL="0">
              <a:lnSpc>
                <a:spcPct val="108000"/>
              </a:lnSpc>
              <a:buNone/>
            </a:pPr>
            <a:r>
              <a:rPr lang="en-US" sz="1000" dirty="0">
                <a:solidFill>
                  <a:srgbClr val="3E5C76"/>
                </a:solidFill>
                <a:latin typeface="Calibri" pitchFamily="34" charset="0"/>
                <a:ea typeface="Calibri" pitchFamily="34" charset="-122"/>
                <a:cs typeface="Calibri" pitchFamily="34" charset="-120"/>
              </a:rPr>
              <a:t> — đăng ký nhận sự kiện thay vì hỏi liên tục.</a:t>
            </a:r>
            <a:endParaRPr lang="en-US" sz="1000" dirty="0"/>
          </a:p>
        </p:txBody>
      </p:sp>
      <p:sp>
        <p:nvSpPr>
          <p:cNvPr id="27" name="Shape 25"/>
          <p:cNvSpPr/>
          <p:nvPr/>
        </p:nvSpPr>
        <p:spPr>
          <a:xfrm>
            <a:off x="6309360" y="1325880"/>
            <a:ext cx="5349240" cy="1115568"/>
          </a:xfrm>
          <a:prstGeom prst="roundRect">
            <a:avLst>
              <a:gd name="adj" fmla="val 6557"/>
            </a:avLst>
          </a:prstGeom>
          <a:solidFill>
            <a:srgbClr val="F1F5F9"/>
          </a:solidFill>
          <a:ln w="12700">
            <a:solidFill>
              <a:srgbClr val="DCE4EC"/>
            </a:solidFill>
            <a:prstDash val="solid"/>
          </a:ln>
        </p:spPr>
      </p:sp>
      <p:sp>
        <p:nvSpPr>
          <p:cNvPr id="28" name="Text 26"/>
          <p:cNvSpPr/>
          <p:nvPr/>
        </p:nvSpPr>
        <p:spPr>
          <a:xfrm>
            <a:off x="6510528" y="1380744"/>
            <a:ext cx="493776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Ý tưởng cốt lõi</a:t>
            </a:r>
            <a:endParaRPr lang="en-US" sz="1250" dirty="0"/>
          </a:p>
        </p:txBody>
      </p:sp>
      <p:sp>
        <p:nvSpPr>
          <p:cNvPr id="29" name="Text 27"/>
          <p:cNvSpPr/>
          <p:nvPr/>
        </p:nvSpPr>
        <p:spPr>
          <a:xfrm>
            <a:off x="6510528" y="1655064"/>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Mỗi dịch vụ tự trị, có hợp đồng (contract) rõ ràng, không phụ thuộc ngôn ngữ hay nền tảng. Bên gọi tìm dịch vụ qua registry chứ không hard-code địa chỉ.</a:t>
            </a:r>
            <a:endParaRPr lang="en-US" sz="1050" dirty="0"/>
          </a:p>
        </p:txBody>
      </p:sp>
      <p:sp>
        <p:nvSpPr>
          <p:cNvPr id="30" name="Shape 28"/>
          <p:cNvSpPr/>
          <p:nvPr/>
        </p:nvSpPr>
        <p:spPr>
          <a:xfrm>
            <a:off x="6309360" y="2551176"/>
            <a:ext cx="5349240" cy="1115568"/>
          </a:xfrm>
          <a:prstGeom prst="roundRect">
            <a:avLst>
              <a:gd name="adj" fmla="val 6557"/>
            </a:avLst>
          </a:prstGeom>
          <a:solidFill>
            <a:srgbClr val="FFFFFF"/>
          </a:solidFill>
          <a:ln w="12700">
            <a:solidFill>
              <a:srgbClr val="DCE4EC"/>
            </a:solidFill>
            <a:prstDash val="solid"/>
          </a:ln>
        </p:spPr>
      </p:sp>
      <p:sp>
        <p:nvSpPr>
          <p:cNvPr id="31" name="Text 29"/>
          <p:cNvSpPr/>
          <p:nvPr/>
        </p:nvSpPr>
        <p:spPr>
          <a:xfrm>
            <a:off x="6510528" y="2606040"/>
            <a:ext cx="4937760" cy="274320"/>
          </a:xfrm>
          <a:prstGeom prst="rect">
            <a:avLst/>
          </a:prstGeom>
          <a:noFill/>
          <a:ln/>
        </p:spPr>
        <p:txBody>
          <a:bodyPr wrap="square" lIns="0" tIns="0" rIns="0" bIns="0" rtlCol="0" anchor="ctr"/>
          <a:lstStyle/>
          <a:p>
            <a:pPr indent="0" marL="0">
              <a:buNone/>
            </a:pPr>
            <a:r>
              <a:rPr lang="en-US" sz="1250" b="1" dirty="0">
                <a:solidFill>
                  <a:srgbClr val="1E7A44"/>
                </a:solidFill>
                <a:latin typeface="Calibri" pitchFamily="34" charset="0"/>
                <a:ea typeface="Calibri" pitchFamily="34" charset="-122"/>
                <a:cs typeface="Calibri" pitchFamily="34" charset="-120"/>
              </a:rPr>
              <a:t>Ưu điểm</a:t>
            </a:r>
            <a:endParaRPr lang="en-US" sz="1250" dirty="0"/>
          </a:p>
        </p:txBody>
      </p:sp>
      <p:sp>
        <p:nvSpPr>
          <p:cNvPr id="32" name="Text 30"/>
          <p:cNvSpPr/>
          <p:nvPr/>
        </p:nvSpPr>
        <p:spPr>
          <a:xfrm>
            <a:off x="6510528" y="2880360"/>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Tái sử dụng dịch vụ cho nhiều ứng dụng; thay thế một dịch vụ mà không ảnh hưởng bên gọi; tích hợp được các hệ thống viết bằng công nghệ khác nhau.</a:t>
            </a:r>
            <a:endParaRPr lang="en-US" sz="1050" dirty="0"/>
          </a:p>
        </p:txBody>
      </p:sp>
      <p:sp>
        <p:nvSpPr>
          <p:cNvPr id="33" name="Shape 31"/>
          <p:cNvSpPr/>
          <p:nvPr/>
        </p:nvSpPr>
        <p:spPr>
          <a:xfrm>
            <a:off x="6309360" y="3776472"/>
            <a:ext cx="5349240" cy="1115568"/>
          </a:xfrm>
          <a:prstGeom prst="roundRect">
            <a:avLst>
              <a:gd name="adj" fmla="val 6557"/>
            </a:avLst>
          </a:prstGeom>
          <a:solidFill>
            <a:srgbClr val="F1F5F9"/>
          </a:solidFill>
          <a:ln w="12700">
            <a:solidFill>
              <a:srgbClr val="DCE4EC"/>
            </a:solidFill>
            <a:prstDash val="solid"/>
          </a:ln>
        </p:spPr>
      </p:sp>
      <p:sp>
        <p:nvSpPr>
          <p:cNvPr id="34" name="Text 32"/>
          <p:cNvSpPr/>
          <p:nvPr/>
        </p:nvSpPr>
        <p:spPr>
          <a:xfrm>
            <a:off x="6510528" y="3831336"/>
            <a:ext cx="4937760" cy="274320"/>
          </a:xfrm>
          <a:prstGeom prst="rect">
            <a:avLst/>
          </a:prstGeom>
          <a:noFill/>
          <a:ln/>
        </p:spPr>
        <p:txBody>
          <a:bodyPr wrap="square" lIns="0" tIns="0" rIns="0" bIns="0" rtlCol="0" anchor="ctr"/>
          <a:lstStyle/>
          <a:p>
            <a:pPr indent="0" marL="0">
              <a:buNone/>
            </a:pPr>
            <a:r>
              <a:rPr lang="en-US" sz="1250" b="1" dirty="0">
                <a:solidFill>
                  <a:srgbClr val="B23A32"/>
                </a:solidFill>
                <a:latin typeface="Calibri" pitchFamily="34" charset="0"/>
                <a:ea typeface="Calibri" pitchFamily="34" charset="-122"/>
                <a:cs typeface="Calibri" pitchFamily="34" charset="-120"/>
              </a:rPr>
              <a:t>Nhược điểm</a:t>
            </a:r>
            <a:endParaRPr lang="en-US" sz="1250" dirty="0"/>
          </a:p>
        </p:txBody>
      </p:sp>
      <p:sp>
        <p:nvSpPr>
          <p:cNvPr id="35" name="Text 33"/>
          <p:cNvSpPr/>
          <p:nvPr/>
        </p:nvSpPr>
        <p:spPr>
          <a:xfrm>
            <a:off x="6510528" y="4105656"/>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Registry và broker thành điểm phụ thuộc mới; giao tiếp qua mạng làm chậm; quản trị phiên bản hợp đồng dịch vụ rất phiền.</a:t>
            </a:r>
            <a:endParaRPr lang="en-US" sz="1050" dirty="0"/>
          </a:p>
        </p:txBody>
      </p:sp>
      <p:sp>
        <p:nvSpPr>
          <p:cNvPr id="36" name="Shape 34"/>
          <p:cNvSpPr/>
          <p:nvPr/>
        </p:nvSpPr>
        <p:spPr>
          <a:xfrm>
            <a:off x="6309360" y="5001768"/>
            <a:ext cx="5349240" cy="1115568"/>
          </a:xfrm>
          <a:prstGeom prst="roundRect">
            <a:avLst>
              <a:gd name="adj" fmla="val 6557"/>
            </a:avLst>
          </a:prstGeom>
          <a:solidFill>
            <a:srgbClr val="FFFFFF"/>
          </a:solidFill>
          <a:ln w="12700">
            <a:solidFill>
              <a:srgbClr val="DCE4EC"/>
            </a:solidFill>
            <a:prstDash val="solid"/>
          </a:ln>
        </p:spPr>
      </p:sp>
      <p:sp>
        <p:nvSpPr>
          <p:cNvPr id="37" name="Text 35"/>
          <p:cNvSpPr/>
          <p:nvPr/>
        </p:nvSpPr>
        <p:spPr>
          <a:xfrm>
            <a:off x="6510528" y="5056632"/>
            <a:ext cx="4937760" cy="274320"/>
          </a:xfrm>
          <a:prstGeom prst="rect">
            <a:avLst/>
          </a:prstGeom>
          <a:noFill/>
          <a:ln/>
        </p:spPr>
        <p:txBody>
          <a:bodyPr wrap="square" lIns="0" tIns="0" rIns="0" bIns="0" rtlCol="0" anchor="ctr"/>
          <a:lstStyle/>
          <a:p>
            <a:pPr indent="0" marL="0">
              <a:buNone/>
            </a:pPr>
            <a:r>
              <a:rPr lang="en-US" sz="1250" b="1" dirty="0">
                <a:solidFill>
                  <a:srgbClr val="12726B"/>
                </a:solidFill>
                <a:latin typeface="Calibri" pitchFamily="34" charset="0"/>
                <a:ea typeface="Calibri" pitchFamily="34" charset="-122"/>
                <a:cs typeface="Calibri" pitchFamily="34" charset="-120"/>
              </a:rPr>
              <a:t>Khi nào chọn</a:t>
            </a:r>
            <a:endParaRPr lang="en-US" sz="1250" dirty="0"/>
          </a:p>
        </p:txBody>
      </p:sp>
      <p:sp>
        <p:nvSpPr>
          <p:cNvPr id="38" name="Text 36"/>
          <p:cNvSpPr/>
          <p:nvPr/>
        </p:nvSpPr>
        <p:spPr>
          <a:xfrm>
            <a:off x="6510528" y="5330952"/>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Doanh nghiệp có nhiều hệ thống cũ cần tích hợp, hoặc cùng một nghiệp vụ được nhiều ứng dụng khác nhau dùng lại.</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10</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Component-Based Architecture (Chapter 17)</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Lắp ghép hệ thống từ các khối có sẵn, mỗi khối khai báo rõ “cho gì” và “cần gì”</a:t>
            </a:r>
            <a:endParaRPr lang="en-US" sz="1300" dirty="0"/>
          </a:p>
        </p:txBody>
      </p:sp>
      <p:sp>
        <p:nvSpPr>
          <p:cNvPr id="6" name="Shape 4"/>
          <p:cNvSpPr/>
          <p:nvPr/>
        </p:nvSpPr>
        <p:spPr>
          <a:xfrm>
            <a:off x="1417320" y="1828800"/>
            <a:ext cx="3017520" cy="1188720"/>
          </a:xfrm>
          <a:prstGeom prst="rect">
            <a:avLst/>
          </a:prstGeom>
          <a:solidFill>
            <a:srgbClr val="FFFFFF"/>
          </a:solidFill>
          <a:ln w="17780">
            <a:solidFill>
              <a:srgbClr val="0B2545"/>
            </a:solidFill>
            <a:prstDash val="solid"/>
          </a:ln>
        </p:spPr>
      </p:sp>
      <p:sp>
        <p:nvSpPr>
          <p:cNvPr id="7" name="Shape 5"/>
          <p:cNvSpPr/>
          <p:nvPr/>
        </p:nvSpPr>
        <p:spPr>
          <a:xfrm>
            <a:off x="4069080" y="1938528"/>
            <a:ext cx="256032" cy="164592"/>
          </a:xfrm>
          <a:prstGeom prst="rect">
            <a:avLst/>
          </a:prstGeom>
          <a:solidFill>
            <a:srgbClr val="0B2545"/>
          </a:solidFill>
          <a:ln w="12700">
            <a:solidFill>
              <a:srgbClr val="0B2545"/>
            </a:solidFill>
            <a:prstDash val="solid"/>
          </a:ln>
        </p:spPr>
      </p:sp>
      <p:sp>
        <p:nvSpPr>
          <p:cNvPr id="8" name="Shape 6"/>
          <p:cNvSpPr/>
          <p:nvPr/>
        </p:nvSpPr>
        <p:spPr>
          <a:xfrm>
            <a:off x="4069080" y="2157984"/>
            <a:ext cx="256032" cy="164592"/>
          </a:xfrm>
          <a:prstGeom prst="rect">
            <a:avLst/>
          </a:prstGeom>
          <a:solidFill>
            <a:srgbClr val="0B2545"/>
          </a:solidFill>
          <a:ln w="12700">
            <a:solidFill>
              <a:srgbClr val="0B2545"/>
            </a:solidFill>
            <a:prstDash val="solid"/>
          </a:ln>
        </p:spPr>
      </p:sp>
      <p:sp>
        <p:nvSpPr>
          <p:cNvPr id="9" name="Text 7"/>
          <p:cNvSpPr/>
          <p:nvPr/>
        </p:nvSpPr>
        <p:spPr>
          <a:xfrm>
            <a:off x="1463040" y="1874520"/>
            <a:ext cx="2926080" cy="1097280"/>
          </a:xfrm>
          <a:prstGeom prst="rect">
            <a:avLst/>
          </a:prstGeom>
          <a:noFill/>
          <a:ln/>
        </p:spPr>
        <p:txBody>
          <a:bodyPr wrap="square" lIns="0" tIns="0" rIns="0" bIns="0" rtlCol="0" anchor="ctr"/>
          <a:lstStyle/>
          <a:p>
            <a:pPr algn="ctr" indent="0" marL="0">
              <a:lnSpc>
                <a:spcPct val="100000"/>
              </a:lnSpc>
              <a:buNone/>
            </a:pPr>
            <a:r>
              <a:rPr lang="en-US" sz="900" i="1" dirty="0">
                <a:solidFill>
                  <a:srgbClr val="6B7A8F"/>
                </a:solidFill>
                <a:latin typeface="Calibri" pitchFamily="34" charset="0"/>
                <a:ea typeface="Calibri" pitchFamily="34" charset="-122"/>
                <a:cs typeface="Calibri" pitchFamily="34" charset="-120"/>
              </a:rPr>
              <a:t>«component»</a:t>
            </a:r>
            <a:endParaRPr lang="en-US" sz="900" dirty="0"/>
          </a:p>
          <a:p>
            <a:pPr algn="ctr" indent="0" marL="0">
              <a:lnSpc>
                <a:spcPct val="100000"/>
              </a:lnSpc>
              <a:buNone/>
            </a:pPr>
            <a:r>
              <a:rPr lang="en-US" sz="1200" b="1" dirty="0">
                <a:solidFill>
                  <a:srgbClr val="0B2545"/>
                </a:solidFill>
                <a:latin typeface="Calibri" pitchFamily="34" charset="0"/>
                <a:ea typeface="Calibri" pitchFamily="34" charset="-122"/>
                <a:cs typeface="Calibri" pitchFamily="34" charset="-120"/>
              </a:rPr>
              <a:t>PaymentComponent</a:t>
            </a:r>
            <a:endParaRPr lang="en-US" sz="900" dirty="0"/>
          </a:p>
        </p:txBody>
      </p:sp>
      <p:sp>
        <p:nvSpPr>
          <p:cNvPr id="10" name="Shape 8"/>
          <p:cNvSpPr/>
          <p:nvPr/>
        </p:nvSpPr>
        <p:spPr>
          <a:xfrm>
            <a:off x="4434840" y="2148840"/>
            <a:ext cx="502920" cy="0"/>
          </a:xfrm>
          <a:prstGeom prst="line">
            <a:avLst/>
          </a:prstGeom>
          <a:noFill/>
          <a:ln w="19050">
            <a:solidFill>
              <a:srgbClr val="12726B"/>
            </a:solidFill>
            <a:prstDash val="solid"/>
          </a:ln>
        </p:spPr>
      </p:sp>
      <p:sp>
        <p:nvSpPr>
          <p:cNvPr id="11" name="Shape 9"/>
          <p:cNvSpPr/>
          <p:nvPr/>
        </p:nvSpPr>
        <p:spPr>
          <a:xfrm>
            <a:off x="4937760" y="2029968"/>
            <a:ext cx="237744" cy="237744"/>
          </a:xfrm>
          <a:prstGeom prst="ellipse">
            <a:avLst/>
          </a:prstGeom>
          <a:solidFill>
            <a:srgbClr val="FFFFFF"/>
          </a:solidFill>
          <a:ln w="19050">
            <a:solidFill>
              <a:srgbClr val="12726B"/>
            </a:solidFill>
            <a:prstDash val="solid"/>
          </a:ln>
        </p:spPr>
      </p:sp>
      <p:sp>
        <p:nvSpPr>
          <p:cNvPr id="12" name="Text 10"/>
          <p:cNvSpPr/>
          <p:nvPr/>
        </p:nvSpPr>
        <p:spPr>
          <a:xfrm>
            <a:off x="4572000" y="1755648"/>
            <a:ext cx="1463040" cy="219456"/>
          </a:xfrm>
          <a:prstGeom prst="rect">
            <a:avLst/>
          </a:prstGeom>
          <a:noFill/>
          <a:ln/>
        </p:spPr>
        <p:txBody>
          <a:bodyPr wrap="square" lIns="0" tIns="0" rIns="0" bIns="0" rtlCol="0" anchor="ctr"/>
          <a:lstStyle/>
          <a:p>
            <a:pPr indent="0" marL="0">
              <a:buNone/>
            </a:pPr>
            <a:r>
              <a:rPr lang="en-US" sz="900" b="1" dirty="0">
                <a:solidFill>
                  <a:srgbClr val="12726B"/>
                </a:solidFill>
                <a:latin typeface="Courier New" pitchFamily="34" charset="0"/>
                <a:ea typeface="Courier New" pitchFamily="34" charset="-122"/>
                <a:cs typeface="Courier New" pitchFamily="34" charset="-120"/>
              </a:rPr>
              <a:t>IPayment</a:t>
            </a:r>
            <a:endParaRPr lang="en-US" sz="900" dirty="0"/>
          </a:p>
        </p:txBody>
      </p:sp>
      <p:sp>
        <p:nvSpPr>
          <p:cNvPr id="13" name="Text 11"/>
          <p:cNvSpPr/>
          <p:nvPr/>
        </p:nvSpPr>
        <p:spPr>
          <a:xfrm>
            <a:off x="4526280" y="2331720"/>
            <a:ext cx="1645920" cy="457200"/>
          </a:xfrm>
          <a:prstGeom prst="rect">
            <a:avLst/>
          </a:prstGeom>
          <a:noFill/>
          <a:ln/>
        </p:spPr>
        <p:txBody>
          <a:bodyPr wrap="square" lIns="0" tIns="0" rIns="0" bIns="0" rtlCol="0" anchor="ctr"/>
          <a:lstStyle/>
          <a:p>
            <a:pPr indent="0" marL="0">
              <a:lnSpc>
                <a:spcPct val="100000"/>
              </a:lnSpc>
              <a:buNone/>
            </a:pPr>
            <a:r>
              <a:rPr lang="en-US" sz="850" i="1" dirty="0">
                <a:solidFill>
                  <a:srgbClr val="12726B"/>
                </a:solidFill>
                <a:latin typeface="Calibri" pitchFamily="34" charset="0"/>
                <a:ea typeface="Calibri" pitchFamily="34" charset="-122"/>
                <a:cs typeface="Calibri" pitchFamily="34" charset="-120"/>
              </a:rPr>
              <a:t>provided interface</a:t>
            </a:r>
            <a:endParaRPr lang="en-US" sz="850" dirty="0"/>
          </a:p>
          <a:p>
            <a:pPr indent="0" marL="0">
              <a:lnSpc>
                <a:spcPct val="100000"/>
              </a:lnSpc>
              <a:buNone/>
            </a:pPr>
            <a:r>
              <a:rPr lang="en-US" sz="850" i="1" dirty="0">
                <a:solidFill>
                  <a:srgbClr val="12726B"/>
                </a:solidFill>
                <a:latin typeface="Calibri" pitchFamily="34" charset="0"/>
                <a:ea typeface="Calibri" pitchFamily="34" charset="-122"/>
                <a:cs typeface="Calibri" pitchFamily="34" charset="-120"/>
              </a:rPr>
              <a:t>(cái tôi CUNG CẤP)</a:t>
            </a:r>
            <a:endParaRPr lang="en-US" sz="850" dirty="0"/>
          </a:p>
        </p:txBody>
      </p:sp>
      <p:sp>
        <p:nvSpPr>
          <p:cNvPr id="14" name="Shape 12"/>
          <p:cNvSpPr/>
          <p:nvPr/>
        </p:nvSpPr>
        <p:spPr>
          <a:xfrm>
            <a:off x="914400" y="2651760"/>
            <a:ext cx="502920" cy="0"/>
          </a:xfrm>
          <a:prstGeom prst="line">
            <a:avLst/>
          </a:prstGeom>
          <a:noFill/>
          <a:ln w="19050">
            <a:solidFill>
              <a:srgbClr val="E8A317"/>
            </a:solidFill>
            <a:prstDash val="solid"/>
          </a:ln>
        </p:spPr>
      </p:sp>
      <p:sp>
        <p:nvSpPr>
          <p:cNvPr id="15" name="Shape 13"/>
          <p:cNvSpPr/>
          <p:nvPr/>
        </p:nvSpPr>
        <p:spPr>
          <a:xfrm>
            <a:off x="658368" y="2505456"/>
            <a:ext cx="292608" cy="292608"/>
          </a:xfrm>
          <a:prstGeom prst="ellipse">
            <a:avLst/>
          </a:prstGeom>
          <a:ln w="20320">
            <a:solidFill>
              <a:srgbClr val="E8A317"/>
            </a:solidFill>
            <a:prstDash val="solid"/>
          </a:ln>
        </p:spPr>
      </p:sp>
      <p:sp>
        <p:nvSpPr>
          <p:cNvPr id="16" name="Text 14"/>
          <p:cNvSpPr/>
          <p:nvPr/>
        </p:nvSpPr>
        <p:spPr>
          <a:xfrm>
            <a:off x="548640" y="2240280"/>
            <a:ext cx="1097280" cy="219456"/>
          </a:xfrm>
          <a:prstGeom prst="rect">
            <a:avLst/>
          </a:prstGeom>
          <a:noFill/>
          <a:ln/>
        </p:spPr>
        <p:txBody>
          <a:bodyPr wrap="square" lIns="0" tIns="0" rIns="0" bIns="0" rtlCol="0" anchor="ctr"/>
          <a:lstStyle/>
          <a:p>
            <a:pPr algn="ctr" indent="0" marL="0">
              <a:buNone/>
            </a:pPr>
            <a:r>
              <a:rPr lang="en-US" sz="900" b="1" dirty="0">
                <a:solidFill>
                  <a:srgbClr val="E8A317"/>
                </a:solidFill>
                <a:latin typeface="Courier New" pitchFamily="34" charset="0"/>
                <a:ea typeface="Courier New" pitchFamily="34" charset="-122"/>
                <a:cs typeface="Courier New" pitchFamily="34" charset="-120"/>
              </a:rPr>
              <a:t>IBank</a:t>
            </a:r>
            <a:endParaRPr lang="en-US" sz="900" dirty="0"/>
          </a:p>
        </p:txBody>
      </p:sp>
      <p:sp>
        <p:nvSpPr>
          <p:cNvPr id="17" name="Text 15"/>
          <p:cNvSpPr/>
          <p:nvPr/>
        </p:nvSpPr>
        <p:spPr>
          <a:xfrm>
            <a:off x="548640" y="2834640"/>
            <a:ext cx="1463040" cy="457200"/>
          </a:xfrm>
          <a:prstGeom prst="rect">
            <a:avLst/>
          </a:prstGeom>
          <a:noFill/>
          <a:ln/>
        </p:spPr>
        <p:txBody>
          <a:bodyPr wrap="square" lIns="0" tIns="0" rIns="0" bIns="0" rtlCol="0" anchor="ctr"/>
          <a:lstStyle/>
          <a:p>
            <a:pPr indent="0" marL="0">
              <a:lnSpc>
                <a:spcPct val="100000"/>
              </a:lnSpc>
              <a:buNone/>
            </a:pPr>
            <a:r>
              <a:rPr lang="en-US" sz="850" i="1" dirty="0">
                <a:solidFill>
                  <a:srgbClr val="E8A317"/>
                </a:solidFill>
                <a:latin typeface="Calibri" pitchFamily="34" charset="0"/>
                <a:ea typeface="Calibri" pitchFamily="34" charset="-122"/>
                <a:cs typeface="Calibri" pitchFamily="34" charset="-120"/>
              </a:rPr>
              <a:t>required interface</a:t>
            </a:r>
            <a:endParaRPr lang="en-US" sz="850" dirty="0"/>
          </a:p>
          <a:p>
            <a:pPr indent="0" marL="0">
              <a:lnSpc>
                <a:spcPct val="100000"/>
              </a:lnSpc>
              <a:buNone/>
            </a:pPr>
            <a:r>
              <a:rPr lang="en-US" sz="850" i="1" dirty="0">
                <a:solidFill>
                  <a:srgbClr val="E8A317"/>
                </a:solidFill>
                <a:latin typeface="Calibri" pitchFamily="34" charset="0"/>
                <a:ea typeface="Calibri" pitchFamily="34" charset="-122"/>
                <a:cs typeface="Calibri" pitchFamily="34" charset="-120"/>
              </a:rPr>
              <a:t>(cái tôi CẦN)</a:t>
            </a:r>
            <a:endParaRPr lang="en-US" sz="850" dirty="0"/>
          </a:p>
        </p:txBody>
      </p:sp>
      <p:sp>
        <p:nvSpPr>
          <p:cNvPr id="18" name="Shape 16"/>
          <p:cNvSpPr/>
          <p:nvPr/>
        </p:nvSpPr>
        <p:spPr>
          <a:xfrm>
            <a:off x="502920" y="3566160"/>
            <a:ext cx="5532120" cy="2651760"/>
          </a:xfrm>
          <a:prstGeom prst="roundRect">
            <a:avLst>
              <a:gd name="adj" fmla="val 2759"/>
            </a:avLst>
          </a:prstGeom>
          <a:solidFill>
            <a:srgbClr val="F1F5F9"/>
          </a:solidFill>
          <a:ln w="12700">
            <a:solidFill>
              <a:srgbClr val="DCE4EC"/>
            </a:solidFill>
            <a:prstDash val="solid"/>
          </a:ln>
        </p:spPr>
      </p:sp>
      <p:sp>
        <p:nvSpPr>
          <p:cNvPr id="19" name="Text 17"/>
          <p:cNvSpPr/>
          <p:nvPr/>
        </p:nvSpPr>
        <p:spPr>
          <a:xfrm>
            <a:off x="713232" y="3657600"/>
            <a:ext cx="5120640" cy="274320"/>
          </a:xfrm>
          <a:prstGeom prst="rect">
            <a:avLst/>
          </a:prstGeom>
          <a:noFill/>
          <a:ln/>
        </p:spPr>
        <p:txBody>
          <a:bodyPr wrap="square" lIns="0" tIns="0" rIns="0" bIns="0" rtlCol="0" anchor="ctr"/>
          <a:lstStyle/>
          <a:p>
            <a:pPr indent="0" marL="0">
              <a:buNone/>
            </a:pPr>
            <a:r>
              <a:rPr lang="en-US" sz="1300" b="1" dirty="0">
                <a:solidFill>
                  <a:srgbClr val="12726B"/>
                </a:solidFill>
                <a:latin typeface="Calibri" pitchFamily="34" charset="0"/>
                <a:ea typeface="Calibri" pitchFamily="34" charset="-122"/>
                <a:cs typeface="Calibri" pitchFamily="34" charset="-120"/>
              </a:rPr>
              <a:t>Component khác Class ở chỗ nào?</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13232" y="3986784"/>
          <a:ext cx="5138928" cy="914400"/>
        </p:xfrm>
        <a:graphic>
          <a:graphicData uri="http://schemas.openxmlformats.org/drawingml/2006/table">
            <a:tbl>
              <a:tblPr/>
              <a:tblGrid>
                <a:gridCol w="2423160"/>
                <a:gridCol w="2715768"/>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Class</a:t>
                      </a:r>
                      <a:endParaRPr lang="en-US" sz="10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3E5C7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Component</a:t>
                      </a:r>
                      <a:endParaRPr lang="en-US" sz="10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r>
              <a:tr h="329184">
                <a:tc>
                  <a:txBody>
                    <a:bodyPr/>
                    <a:lstStyle/>
                    <a:p>
                      <a:pPr indent="0" marL="0">
                        <a:buNone/>
                      </a:pPr>
                      <a:r>
                        <a:rPr lang="en-US" sz="1000" dirty="0">
                          <a:solidFill>
                            <a:srgbClr val="13315C"/>
                          </a:solidFill>
                          <a:latin typeface="Calibri" pitchFamily="34" charset="0"/>
                          <a:ea typeface="Calibri" pitchFamily="34" charset="-122"/>
                          <a:cs typeface="Calibri" pitchFamily="34" charset="-120"/>
                        </a:rPr>
                        <a:t>Đơn vị của mã nguồn</a:t>
                      </a:r>
                      <a:endParaRPr lang="en-US" sz="10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3315C"/>
                          </a:solidFill>
                          <a:latin typeface="Calibri" pitchFamily="34" charset="0"/>
                          <a:ea typeface="Calibri" pitchFamily="34" charset="-122"/>
                          <a:cs typeface="Calibri" pitchFamily="34" charset="-120"/>
                        </a:rPr>
                        <a:t>Đơn vị của triển khai (deployable)</a:t>
                      </a:r>
                      <a:endParaRPr lang="en-US" sz="10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3315C"/>
                          </a:solidFill>
                          <a:latin typeface="Calibri" pitchFamily="34" charset="0"/>
                          <a:ea typeface="Calibri" pitchFamily="34" charset="-122"/>
                          <a:cs typeface="Calibri" pitchFamily="34" charset="-120"/>
                        </a:rPr>
                        <a:t>Nhỏ, một trách nhiệm</a:t>
                      </a:r>
                      <a:endParaRPr lang="en-US" sz="10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3315C"/>
                          </a:solidFill>
                          <a:latin typeface="Calibri" pitchFamily="34" charset="0"/>
                          <a:ea typeface="Calibri" pitchFamily="34" charset="-122"/>
                          <a:cs typeface="Calibri" pitchFamily="34" charset="-120"/>
                        </a:rPr>
                        <a:t>Lớn, gói nhiều lớp bên trong</a:t>
                      </a:r>
                      <a:endParaRPr lang="en-US" sz="10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3315C"/>
                          </a:solidFill>
                          <a:latin typeface="Calibri" pitchFamily="34" charset="0"/>
                          <a:ea typeface="Calibri" pitchFamily="34" charset="-122"/>
                          <a:cs typeface="Calibri" pitchFamily="34" charset="-120"/>
                        </a:rPr>
                        <a:t>Interface ngầm định qua public method</a:t>
                      </a:r>
                      <a:endParaRPr lang="en-US" sz="10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3315C"/>
                          </a:solidFill>
                          <a:latin typeface="Calibri" pitchFamily="34" charset="0"/>
                          <a:ea typeface="Calibri" pitchFamily="34" charset="-122"/>
                          <a:cs typeface="Calibri" pitchFamily="34" charset="-120"/>
                        </a:rPr>
                        <a:t>Interface khai báo TƯỜNG MINH: provided + required</a:t>
                      </a:r>
                      <a:endParaRPr lang="en-US" sz="10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3315C"/>
                          </a:solidFill>
                          <a:latin typeface="Calibri" pitchFamily="34" charset="0"/>
                          <a:ea typeface="Calibri" pitchFamily="34" charset="-122"/>
                          <a:cs typeface="Calibri" pitchFamily="34" charset="-120"/>
                        </a:rPr>
                        <a:t>Thay thế phải sửa mã</a:t>
                      </a:r>
                      <a:endParaRPr lang="en-US" sz="10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3315C"/>
                          </a:solidFill>
                          <a:latin typeface="Calibri" pitchFamily="34" charset="0"/>
                          <a:ea typeface="Calibri" pitchFamily="34" charset="-122"/>
                          <a:cs typeface="Calibri" pitchFamily="34" charset="-120"/>
                        </a:rPr>
                        <a:t>Thay thế bằng cách lắp component khác cùng interface</a:t>
                      </a:r>
                      <a:endParaRPr lang="en-US" sz="10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bl>
          </a:graphicData>
        </a:graphic>
      </p:graphicFrame>
      <p:sp>
        <p:nvSpPr>
          <p:cNvPr id="21" name="Shape 18"/>
          <p:cNvSpPr/>
          <p:nvPr/>
        </p:nvSpPr>
        <p:spPr>
          <a:xfrm>
            <a:off x="6309360" y="1325880"/>
            <a:ext cx="5349240" cy="1115568"/>
          </a:xfrm>
          <a:prstGeom prst="roundRect">
            <a:avLst>
              <a:gd name="adj" fmla="val 6557"/>
            </a:avLst>
          </a:prstGeom>
          <a:solidFill>
            <a:srgbClr val="F1F5F9"/>
          </a:solidFill>
          <a:ln w="12700">
            <a:solidFill>
              <a:srgbClr val="DCE4EC"/>
            </a:solidFill>
            <a:prstDash val="solid"/>
          </a:ln>
        </p:spPr>
      </p:sp>
      <p:sp>
        <p:nvSpPr>
          <p:cNvPr id="22" name="Text 19"/>
          <p:cNvSpPr/>
          <p:nvPr/>
        </p:nvSpPr>
        <p:spPr>
          <a:xfrm>
            <a:off x="6510528" y="1380744"/>
            <a:ext cx="493776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Ý tưởng cốt lõi</a:t>
            </a:r>
            <a:endParaRPr lang="en-US" sz="1250" dirty="0"/>
          </a:p>
        </p:txBody>
      </p:sp>
      <p:sp>
        <p:nvSpPr>
          <p:cNvPr id="23" name="Text 20"/>
          <p:cNvSpPr/>
          <p:nvPr/>
        </p:nvSpPr>
        <p:spPr>
          <a:xfrm>
            <a:off x="6510528" y="1655064"/>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Hệ thống là tập hợp component lắp ghép. Component chỉ lộ ra interface, giấu hoàn toàn phần cài đặt bên trong — nguyên tắc information hiding của Parnas.</a:t>
            </a:r>
            <a:endParaRPr lang="en-US" sz="1050" dirty="0"/>
          </a:p>
        </p:txBody>
      </p:sp>
      <p:sp>
        <p:nvSpPr>
          <p:cNvPr id="24" name="Shape 21"/>
          <p:cNvSpPr/>
          <p:nvPr/>
        </p:nvSpPr>
        <p:spPr>
          <a:xfrm>
            <a:off x="6309360" y="2551176"/>
            <a:ext cx="5349240" cy="1115568"/>
          </a:xfrm>
          <a:prstGeom prst="roundRect">
            <a:avLst>
              <a:gd name="adj" fmla="val 6557"/>
            </a:avLst>
          </a:prstGeom>
          <a:solidFill>
            <a:srgbClr val="FFFFFF"/>
          </a:solidFill>
          <a:ln w="12700">
            <a:solidFill>
              <a:srgbClr val="DCE4EC"/>
            </a:solidFill>
            <a:prstDash val="solid"/>
          </a:ln>
        </p:spPr>
      </p:sp>
      <p:sp>
        <p:nvSpPr>
          <p:cNvPr id="25" name="Text 22"/>
          <p:cNvSpPr/>
          <p:nvPr/>
        </p:nvSpPr>
        <p:spPr>
          <a:xfrm>
            <a:off x="6510528" y="2606040"/>
            <a:ext cx="4937760" cy="274320"/>
          </a:xfrm>
          <a:prstGeom prst="rect">
            <a:avLst/>
          </a:prstGeom>
          <a:noFill/>
          <a:ln/>
        </p:spPr>
        <p:txBody>
          <a:bodyPr wrap="square" lIns="0" tIns="0" rIns="0" bIns="0" rtlCol="0" anchor="ctr"/>
          <a:lstStyle/>
          <a:p>
            <a:pPr indent="0" marL="0">
              <a:buNone/>
            </a:pPr>
            <a:r>
              <a:rPr lang="en-US" sz="1250" b="1" dirty="0">
                <a:solidFill>
                  <a:srgbClr val="1E7A44"/>
                </a:solidFill>
                <a:latin typeface="Calibri" pitchFamily="34" charset="0"/>
                <a:ea typeface="Calibri" pitchFamily="34" charset="-122"/>
                <a:cs typeface="Calibri" pitchFamily="34" charset="-120"/>
              </a:rPr>
              <a:t>Ưu điểm</a:t>
            </a:r>
            <a:endParaRPr lang="en-US" sz="1250" dirty="0"/>
          </a:p>
        </p:txBody>
      </p:sp>
      <p:sp>
        <p:nvSpPr>
          <p:cNvPr id="26" name="Text 23"/>
          <p:cNvSpPr/>
          <p:nvPr/>
        </p:nvSpPr>
        <p:spPr>
          <a:xfrm>
            <a:off x="6510528" y="2880360"/>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Tái sử dụng cao nhất trong các mẫu; phát triển song song vì mỗi đội một component; thay thế hoặc nâng cấp từng khối mà không đụng phần còn lại.</a:t>
            </a:r>
            <a:endParaRPr lang="en-US" sz="1050" dirty="0"/>
          </a:p>
        </p:txBody>
      </p:sp>
      <p:sp>
        <p:nvSpPr>
          <p:cNvPr id="27" name="Shape 24"/>
          <p:cNvSpPr/>
          <p:nvPr/>
        </p:nvSpPr>
        <p:spPr>
          <a:xfrm>
            <a:off x="6309360" y="3776472"/>
            <a:ext cx="5349240" cy="1115568"/>
          </a:xfrm>
          <a:prstGeom prst="roundRect">
            <a:avLst>
              <a:gd name="adj" fmla="val 6557"/>
            </a:avLst>
          </a:prstGeom>
          <a:solidFill>
            <a:srgbClr val="F1F5F9"/>
          </a:solidFill>
          <a:ln w="12700">
            <a:solidFill>
              <a:srgbClr val="DCE4EC"/>
            </a:solidFill>
            <a:prstDash val="solid"/>
          </a:ln>
        </p:spPr>
      </p:sp>
      <p:sp>
        <p:nvSpPr>
          <p:cNvPr id="28" name="Text 25"/>
          <p:cNvSpPr/>
          <p:nvPr/>
        </p:nvSpPr>
        <p:spPr>
          <a:xfrm>
            <a:off x="6510528" y="3831336"/>
            <a:ext cx="4937760" cy="274320"/>
          </a:xfrm>
          <a:prstGeom prst="rect">
            <a:avLst/>
          </a:prstGeom>
          <a:noFill/>
          <a:ln/>
        </p:spPr>
        <p:txBody>
          <a:bodyPr wrap="square" lIns="0" tIns="0" rIns="0" bIns="0" rtlCol="0" anchor="ctr"/>
          <a:lstStyle/>
          <a:p>
            <a:pPr indent="0" marL="0">
              <a:buNone/>
            </a:pPr>
            <a:r>
              <a:rPr lang="en-US" sz="1250" b="1" dirty="0">
                <a:solidFill>
                  <a:srgbClr val="B23A32"/>
                </a:solidFill>
                <a:latin typeface="Calibri" pitchFamily="34" charset="0"/>
                <a:ea typeface="Calibri" pitchFamily="34" charset="-122"/>
                <a:cs typeface="Calibri" pitchFamily="34" charset="-120"/>
              </a:rPr>
              <a:t>Nhược điểm</a:t>
            </a:r>
            <a:endParaRPr lang="en-US" sz="1250" dirty="0"/>
          </a:p>
        </p:txBody>
      </p:sp>
      <p:sp>
        <p:nvSpPr>
          <p:cNvPr id="29" name="Text 26"/>
          <p:cNvSpPr/>
          <p:nvPr/>
        </p:nvSpPr>
        <p:spPr>
          <a:xfrm>
            <a:off x="6510528" y="4105656"/>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Thiết kế interface tốt rất khó và tốn thời gian ban đầu; dễ sinh phụ thuộc vòng nếu không kỷ luật; kiểm thử tích hợp phức tạp.</a:t>
            </a:r>
            <a:endParaRPr lang="en-US" sz="1050" dirty="0"/>
          </a:p>
        </p:txBody>
      </p:sp>
      <p:sp>
        <p:nvSpPr>
          <p:cNvPr id="30" name="Shape 27"/>
          <p:cNvSpPr/>
          <p:nvPr/>
        </p:nvSpPr>
        <p:spPr>
          <a:xfrm>
            <a:off x="6309360" y="5001768"/>
            <a:ext cx="5349240" cy="1115568"/>
          </a:xfrm>
          <a:prstGeom prst="roundRect">
            <a:avLst>
              <a:gd name="adj" fmla="val 6557"/>
            </a:avLst>
          </a:prstGeom>
          <a:solidFill>
            <a:srgbClr val="FFFFFF"/>
          </a:solidFill>
          <a:ln w="12700">
            <a:solidFill>
              <a:srgbClr val="DCE4EC"/>
            </a:solidFill>
            <a:prstDash val="solid"/>
          </a:ln>
        </p:spPr>
      </p:sp>
      <p:sp>
        <p:nvSpPr>
          <p:cNvPr id="31" name="Text 28"/>
          <p:cNvSpPr/>
          <p:nvPr/>
        </p:nvSpPr>
        <p:spPr>
          <a:xfrm>
            <a:off x="6510528" y="5056632"/>
            <a:ext cx="4937760" cy="274320"/>
          </a:xfrm>
          <a:prstGeom prst="rect">
            <a:avLst/>
          </a:prstGeom>
          <a:noFill/>
          <a:ln/>
        </p:spPr>
        <p:txBody>
          <a:bodyPr wrap="square" lIns="0" tIns="0" rIns="0" bIns="0" rtlCol="0" anchor="ctr"/>
          <a:lstStyle/>
          <a:p>
            <a:pPr indent="0" marL="0">
              <a:buNone/>
            </a:pPr>
            <a:r>
              <a:rPr lang="en-US" sz="1250" b="1" dirty="0">
                <a:solidFill>
                  <a:srgbClr val="12726B"/>
                </a:solidFill>
                <a:latin typeface="Calibri" pitchFamily="34" charset="0"/>
                <a:ea typeface="Calibri" pitchFamily="34" charset="-122"/>
                <a:cs typeface="Calibri" pitchFamily="34" charset="-120"/>
              </a:rPr>
              <a:t>Khi nào chọn</a:t>
            </a:r>
            <a:endParaRPr lang="en-US" sz="1250" dirty="0"/>
          </a:p>
        </p:txBody>
      </p:sp>
      <p:sp>
        <p:nvSpPr>
          <p:cNvPr id="32" name="Text 29"/>
          <p:cNvSpPr/>
          <p:nvPr/>
        </p:nvSpPr>
        <p:spPr>
          <a:xfrm>
            <a:off x="6510528" y="5330952"/>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Sản phẩm cần bán lại từng phần, dòng sản phẩm (product line), hoặc hệ thống lớn nhiều đội cùng làm.</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11</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Concurrent &amp; Real-Time Architecture (Chapter 18)</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Khi hệ thống phải phản ứng với thế giới thực trong một khoảng thời gian ràng buộc</a:t>
            </a:r>
            <a:endParaRPr lang="en-US" sz="1300" dirty="0"/>
          </a:p>
        </p:txBody>
      </p:sp>
      <p:sp>
        <p:nvSpPr>
          <p:cNvPr id="6" name="Shape 4"/>
          <p:cNvSpPr/>
          <p:nvPr/>
        </p:nvSpPr>
        <p:spPr>
          <a:xfrm>
            <a:off x="502920" y="1600200"/>
            <a:ext cx="1737360" cy="502920"/>
          </a:xfrm>
          <a:prstGeom prst="roundRect">
            <a:avLst>
              <a:gd name="adj" fmla="val 12727"/>
            </a:avLst>
          </a:prstGeom>
          <a:solidFill>
            <a:srgbClr val="3E5C76"/>
          </a:solidFill>
          <a:ln w="15240">
            <a:solidFill>
              <a:srgbClr val="3E5C76"/>
            </a:solidFill>
            <a:prstDash val="solid"/>
          </a:ln>
        </p:spPr>
      </p:sp>
      <p:sp>
        <p:nvSpPr>
          <p:cNvPr id="7" name="Text 5"/>
          <p:cNvSpPr/>
          <p:nvPr/>
        </p:nvSpPr>
        <p:spPr>
          <a:xfrm>
            <a:off x="548640" y="1600200"/>
            <a:ext cx="1645920" cy="502920"/>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Cảm biến</a:t>
            </a:r>
            <a:endParaRPr lang="en-US" sz="1000" dirty="0"/>
          </a:p>
        </p:txBody>
      </p:sp>
      <p:sp>
        <p:nvSpPr>
          <p:cNvPr id="8" name="Shape 6"/>
          <p:cNvSpPr/>
          <p:nvPr/>
        </p:nvSpPr>
        <p:spPr>
          <a:xfrm>
            <a:off x="502920" y="2331720"/>
            <a:ext cx="1737360" cy="502920"/>
          </a:xfrm>
          <a:prstGeom prst="roundRect">
            <a:avLst>
              <a:gd name="adj" fmla="val 12727"/>
            </a:avLst>
          </a:prstGeom>
          <a:solidFill>
            <a:srgbClr val="3E5C76"/>
          </a:solidFill>
          <a:ln w="15240">
            <a:solidFill>
              <a:srgbClr val="3E5C76"/>
            </a:solidFill>
            <a:prstDash val="solid"/>
          </a:ln>
        </p:spPr>
      </p:sp>
      <p:sp>
        <p:nvSpPr>
          <p:cNvPr id="9" name="Text 7"/>
          <p:cNvSpPr/>
          <p:nvPr/>
        </p:nvSpPr>
        <p:spPr>
          <a:xfrm>
            <a:off x="548640" y="2331720"/>
            <a:ext cx="1645920" cy="502920"/>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Camera</a:t>
            </a:r>
            <a:endParaRPr lang="en-US" sz="1000" dirty="0"/>
          </a:p>
        </p:txBody>
      </p:sp>
      <p:sp>
        <p:nvSpPr>
          <p:cNvPr id="10" name="Shape 8"/>
          <p:cNvSpPr/>
          <p:nvPr/>
        </p:nvSpPr>
        <p:spPr>
          <a:xfrm>
            <a:off x="2788920" y="1600200"/>
            <a:ext cx="1920240" cy="502920"/>
          </a:xfrm>
          <a:prstGeom prst="roundRect">
            <a:avLst>
              <a:gd name="adj" fmla="val 12727"/>
            </a:avLst>
          </a:prstGeom>
          <a:solidFill>
            <a:srgbClr val="E8A317"/>
          </a:solidFill>
          <a:ln w="15240">
            <a:solidFill>
              <a:srgbClr val="E8A317"/>
            </a:solidFill>
            <a:prstDash val="solid"/>
          </a:ln>
        </p:spPr>
      </p:sp>
      <p:sp>
        <p:nvSpPr>
          <p:cNvPr id="11" name="Text 9"/>
          <p:cNvSpPr/>
          <p:nvPr/>
        </p:nvSpPr>
        <p:spPr>
          <a:xfrm>
            <a:off x="2834640" y="1600200"/>
            <a:ext cx="1828800" cy="502920"/>
          </a:xfrm>
          <a:prstGeom prst="rect">
            <a:avLst/>
          </a:prstGeom>
          <a:noFill/>
          <a:ln/>
        </p:spPr>
        <p:txBody>
          <a:bodyPr wrap="square" lIns="0" tIns="0" rIns="0" bIns="0" rtlCol="0" anchor="ctr"/>
          <a:lstStyle/>
          <a:p>
            <a:pPr algn="ctr" indent="0" marL="0">
              <a:lnSpc>
                <a:spcPct val="95000"/>
              </a:lnSpc>
              <a:buNone/>
            </a:pPr>
            <a:r>
              <a:rPr lang="en-US" sz="1000" b="1" dirty="0">
                <a:solidFill>
                  <a:srgbClr val="0B2545"/>
                </a:solidFill>
                <a:latin typeface="Calibri" pitchFamily="34" charset="0"/>
                <a:ea typeface="Calibri" pitchFamily="34" charset="-122"/>
                <a:cs typeface="Calibri" pitchFamily="34" charset="-120"/>
              </a:rPr>
              <a:t>Input Task</a:t>
            </a:r>
            <a:endParaRPr lang="en-US" sz="1000" dirty="0"/>
          </a:p>
          <a:p>
            <a:pPr algn="ctr" indent="0" marL="0">
              <a:lnSpc>
                <a:spcPct val="95000"/>
              </a:lnSpc>
              <a:buNone/>
            </a:pPr>
            <a:r>
              <a:rPr lang="en-US" sz="850" i="1" dirty="0">
                <a:solidFill>
                  <a:srgbClr val="D6E2EE"/>
                </a:solidFill>
                <a:latin typeface="Calibri" pitchFamily="34" charset="0"/>
                <a:ea typeface="Calibri" pitchFamily="34" charset="-122"/>
                <a:cs typeface="Calibri" pitchFamily="34" charset="-120"/>
              </a:rPr>
              <a:t>đọc thiết bị</a:t>
            </a:r>
            <a:endParaRPr lang="en-US" sz="1000" dirty="0"/>
          </a:p>
        </p:txBody>
      </p:sp>
      <p:sp>
        <p:nvSpPr>
          <p:cNvPr id="12" name="Shape 10"/>
          <p:cNvSpPr/>
          <p:nvPr/>
        </p:nvSpPr>
        <p:spPr>
          <a:xfrm>
            <a:off x="2788920" y="2331720"/>
            <a:ext cx="1920240" cy="502920"/>
          </a:xfrm>
          <a:prstGeom prst="roundRect">
            <a:avLst>
              <a:gd name="adj" fmla="val 12727"/>
            </a:avLst>
          </a:prstGeom>
          <a:solidFill>
            <a:srgbClr val="E8A317"/>
          </a:solidFill>
          <a:ln w="15240">
            <a:solidFill>
              <a:srgbClr val="E8A317"/>
            </a:solidFill>
            <a:prstDash val="solid"/>
          </a:ln>
        </p:spPr>
      </p:sp>
      <p:sp>
        <p:nvSpPr>
          <p:cNvPr id="13" name="Text 11"/>
          <p:cNvSpPr/>
          <p:nvPr/>
        </p:nvSpPr>
        <p:spPr>
          <a:xfrm>
            <a:off x="2834640" y="2331720"/>
            <a:ext cx="1828800" cy="502920"/>
          </a:xfrm>
          <a:prstGeom prst="rect">
            <a:avLst/>
          </a:prstGeom>
          <a:noFill/>
          <a:ln/>
        </p:spPr>
        <p:txBody>
          <a:bodyPr wrap="square" lIns="0" tIns="0" rIns="0" bIns="0" rtlCol="0" anchor="ctr"/>
          <a:lstStyle/>
          <a:p>
            <a:pPr algn="ctr" indent="0" marL="0">
              <a:lnSpc>
                <a:spcPct val="95000"/>
              </a:lnSpc>
              <a:buNone/>
            </a:pPr>
            <a:r>
              <a:rPr lang="en-US" sz="1000" b="1" dirty="0">
                <a:solidFill>
                  <a:srgbClr val="0B2545"/>
                </a:solidFill>
                <a:latin typeface="Calibri" pitchFamily="34" charset="0"/>
                <a:ea typeface="Calibri" pitchFamily="34" charset="-122"/>
                <a:cs typeface="Calibri" pitchFamily="34" charset="-120"/>
              </a:rPr>
              <a:t>Input Task</a:t>
            </a:r>
            <a:endParaRPr lang="en-US" sz="1000" dirty="0"/>
          </a:p>
          <a:p>
            <a:pPr algn="ctr" indent="0" marL="0">
              <a:lnSpc>
                <a:spcPct val="95000"/>
              </a:lnSpc>
              <a:buNone/>
            </a:pPr>
            <a:r>
              <a:rPr lang="en-US" sz="850" i="1" dirty="0">
                <a:solidFill>
                  <a:srgbClr val="D6E2EE"/>
                </a:solidFill>
                <a:latin typeface="Calibri" pitchFamily="34" charset="0"/>
                <a:ea typeface="Calibri" pitchFamily="34" charset="-122"/>
                <a:cs typeface="Calibri" pitchFamily="34" charset="-120"/>
              </a:rPr>
              <a:t>đọc ảnh</a:t>
            </a:r>
            <a:endParaRPr lang="en-US" sz="1000" dirty="0"/>
          </a:p>
        </p:txBody>
      </p:sp>
      <p:sp>
        <p:nvSpPr>
          <p:cNvPr id="14" name="Shape 12"/>
          <p:cNvSpPr/>
          <p:nvPr/>
        </p:nvSpPr>
        <p:spPr>
          <a:xfrm>
            <a:off x="2788920" y="3108960"/>
            <a:ext cx="1920240" cy="548640"/>
          </a:xfrm>
          <a:prstGeom prst="roundRect">
            <a:avLst>
              <a:gd name="adj" fmla="val 11667"/>
            </a:avLst>
          </a:prstGeom>
          <a:solidFill>
            <a:srgbClr val="E8A317"/>
          </a:solidFill>
          <a:ln w="15240">
            <a:solidFill>
              <a:srgbClr val="E8A317"/>
            </a:solidFill>
            <a:prstDash val="solid"/>
          </a:ln>
        </p:spPr>
      </p:sp>
      <p:sp>
        <p:nvSpPr>
          <p:cNvPr id="15" name="Text 13"/>
          <p:cNvSpPr/>
          <p:nvPr/>
        </p:nvSpPr>
        <p:spPr>
          <a:xfrm>
            <a:off x="2834640" y="3108960"/>
            <a:ext cx="1828800" cy="548640"/>
          </a:xfrm>
          <a:prstGeom prst="rect">
            <a:avLst/>
          </a:prstGeom>
          <a:noFill/>
          <a:ln/>
        </p:spPr>
        <p:txBody>
          <a:bodyPr wrap="square" lIns="0" tIns="0" rIns="0" bIns="0" rtlCol="0" anchor="ctr"/>
          <a:lstStyle/>
          <a:p>
            <a:pPr algn="ctr" indent="0" marL="0">
              <a:lnSpc>
                <a:spcPct val="95000"/>
              </a:lnSpc>
              <a:buNone/>
            </a:pPr>
            <a:r>
              <a:rPr lang="en-US" sz="1000" b="1" dirty="0">
                <a:solidFill>
                  <a:srgbClr val="0B2545"/>
                </a:solidFill>
                <a:latin typeface="Calibri" pitchFamily="34" charset="0"/>
                <a:ea typeface="Calibri" pitchFamily="34" charset="-122"/>
                <a:cs typeface="Calibri" pitchFamily="34" charset="-120"/>
              </a:rPr>
              <a:t>Timer Task</a:t>
            </a:r>
            <a:endParaRPr lang="en-US" sz="1000" dirty="0"/>
          </a:p>
          <a:p>
            <a:pPr algn="ctr" indent="0" marL="0">
              <a:lnSpc>
                <a:spcPct val="95000"/>
              </a:lnSpc>
              <a:buNone/>
            </a:pPr>
            <a:r>
              <a:rPr lang="en-US" sz="850" i="1" dirty="0">
                <a:solidFill>
                  <a:srgbClr val="D6E2EE"/>
                </a:solidFill>
                <a:latin typeface="Calibri" pitchFamily="34" charset="0"/>
                <a:ea typeface="Calibri" pitchFamily="34" charset="-122"/>
                <a:cs typeface="Calibri" pitchFamily="34" charset="-120"/>
              </a:rPr>
              <a:t>định kỳ</a:t>
            </a:r>
            <a:endParaRPr lang="en-US" sz="1000" dirty="0"/>
          </a:p>
        </p:txBody>
      </p:sp>
      <p:sp>
        <p:nvSpPr>
          <p:cNvPr id="16" name="Shape 14"/>
          <p:cNvSpPr/>
          <p:nvPr/>
        </p:nvSpPr>
        <p:spPr>
          <a:xfrm>
            <a:off x="5257800" y="2194560"/>
            <a:ext cx="1828800" cy="1051560"/>
          </a:xfrm>
          <a:prstGeom prst="roundRect">
            <a:avLst>
              <a:gd name="adj" fmla="val 6087"/>
            </a:avLst>
          </a:prstGeom>
          <a:solidFill>
            <a:srgbClr val="0B2545"/>
          </a:solidFill>
          <a:ln w="15240">
            <a:solidFill>
              <a:srgbClr val="0B2545"/>
            </a:solidFill>
            <a:prstDash val="solid"/>
          </a:ln>
        </p:spPr>
      </p:sp>
      <p:sp>
        <p:nvSpPr>
          <p:cNvPr id="17" name="Text 15"/>
          <p:cNvSpPr/>
          <p:nvPr/>
        </p:nvSpPr>
        <p:spPr>
          <a:xfrm>
            <a:off x="5303520" y="2194560"/>
            <a:ext cx="1737360" cy="1051560"/>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Control Task</a:t>
            </a:r>
            <a:endParaRPr lang="en-US" sz="1100" dirty="0"/>
          </a:p>
          <a:p>
            <a:pPr algn="ctr" indent="0" marL="0">
              <a:lnSpc>
                <a:spcPct val="95000"/>
              </a:lnSpc>
              <a:buNone/>
            </a:pPr>
            <a:r>
              <a:rPr lang="en-US" sz="950" i="1" dirty="0">
                <a:solidFill>
                  <a:srgbClr val="D6E2EE"/>
                </a:solidFill>
                <a:latin typeface="Calibri" pitchFamily="34" charset="0"/>
                <a:ea typeface="Calibri" pitchFamily="34" charset="-122"/>
                <a:cs typeface="Calibri" pitchFamily="34" charset="-120"/>
              </a:rPr>
              <a:t>statechart điều phối</a:t>
            </a:r>
            <a:endParaRPr lang="en-US" sz="1100" dirty="0"/>
          </a:p>
        </p:txBody>
      </p:sp>
      <p:sp>
        <p:nvSpPr>
          <p:cNvPr id="18" name="Shape 16"/>
          <p:cNvSpPr/>
          <p:nvPr/>
        </p:nvSpPr>
        <p:spPr>
          <a:xfrm>
            <a:off x="5257800" y="3794760"/>
            <a:ext cx="1828800" cy="502920"/>
          </a:xfrm>
          <a:prstGeom prst="roundRect">
            <a:avLst>
              <a:gd name="adj" fmla="val 12727"/>
            </a:avLst>
          </a:prstGeom>
          <a:solidFill>
            <a:srgbClr val="12726B"/>
          </a:solidFill>
          <a:ln w="15240">
            <a:solidFill>
              <a:srgbClr val="12726B"/>
            </a:solidFill>
            <a:prstDash val="solid"/>
          </a:ln>
        </p:spPr>
      </p:sp>
      <p:sp>
        <p:nvSpPr>
          <p:cNvPr id="19" name="Text 17"/>
          <p:cNvSpPr/>
          <p:nvPr/>
        </p:nvSpPr>
        <p:spPr>
          <a:xfrm>
            <a:off x="5303520" y="3794760"/>
            <a:ext cx="1737360" cy="502920"/>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Output Task</a:t>
            </a:r>
            <a:endParaRPr lang="en-US" sz="1000" dirty="0"/>
          </a:p>
          <a:p>
            <a:pPr algn="ctr" indent="0" marL="0">
              <a:lnSpc>
                <a:spcPct val="95000"/>
              </a:lnSpc>
              <a:buNone/>
            </a:pPr>
            <a:r>
              <a:rPr lang="en-US" sz="850" i="1" dirty="0">
                <a:solidFill>
                  <a:srgbClr val="D6E2EE"/>
                </a:solidFill>
                <a:latin typeface="Calibri" pitchFamily="34" charset="0"/>
                <a:ea typeface="Calibri" pitchFamily="34" charset="-122"/>
                <a:cs typeface="Calibri" pitchFamily="34" charset="-120"/>
              </a:rPr>
              <a:t>mở barie</a:t>
            </a:r>
            <a:endParaRPr lang="en-US" sz="1000" dirty="0"/>
          </a:p>
        </p:txBody>
      </p:sp>
      <p:sp>
        <p:nvSpPr>
          <p:cNvPr id="20" name="Shape 18"/>
          <p:cNvSpPr/>
          <p:nvPr/>
        </p:nvSpPr>
        <p:spPr>
          <a:xfrm>
            <a:off x="2240280" y="1847088"/>
            <a:ext cx="548640" cy="0"/>
          </a:xfrm>
          <a:prstGeom prst="line">
            <a:avLst/>
          </a:prstGeom>
          <a:noFill/>
          <a:ln w="16510">
            <a:solidFill>
              <a:srgbClr val="3E5C76"/>
            </a:solidFill>
            <a:prstDash val="solid"/>
            <a:tailEnd type="triangle"/>
          </a:ln>
        </p:spPr>
      </p:sp>
      <p:sp>
        <p:nvSpPr>
          <p:cNvPr id="21" name="Shape 19"/>
          <p:cNvSpPr/>
          <p:nvPr/>
        </p:nvSpPr>
        <p:spPr>
          <a:xfrm>
            <a:off x="2240280" y="2578608"/>
            <a:ext cx="548640" cy="0"/>
          </a:xfrm>
          <a:prstGeom prst="line">
            <a:avLst/>
          </a:prstGeom>
          <a:noFill/>
          <a:ln w="16510">
            <a:solidFill>
              <a:srgbClr val="3E5C76"/>
            </a:solidFill>
            <a:prstDash val="solid"/>
            <a:tailEnd type="triangle"/>
          </a:ln>
        </p:spPr>
      </p:sp>
      <p:sp>
        <p:nvSpPr>
          <p:cNvPr id="22" name="Shape 20"/>
          <p:cNvSpPr/>
          <p:nvPr/>
        </p:nvSpPr>
        <p:spPr>
          <a:xfrm>
            <a:off x="4709160" y="1847088"/>
            <a:ext cx="548640" cy="0"/>
          </a:xfrm>
          <a:prstGeom prst="line">
            <a:avLst/>
          </a:prstGeom>
          <a:noFill/>
          <a:ln w="16510">
            <a:solidFill>
              <a:srgbClr val="0B2545"/>
            </a:solidFill>
            <a:prstDash val="solid"/>
          </a:ln>
        </p:spPr>
      </p:sp>
      <p:sp>
        <p:nvSpPr>
          <p:cNvPr id="23" name="Shape 21"/>
          <p:cNvSpPr/>
          <p:nvPr/>
        </p:nvSpPr>
        <p:spPr>
          <a:xfrm>
            <a:off x="5257800" y="1847088"/>
            <a:ext cx="0" cy="530352"/>
          </a:xfrm>
          <a:prstGeom prst="line">
            <a:avLst/>
          </a:prstGeom>
          <a:noFill/>
          <a:ln w="16510">
            <a:solidFill>
              <a:srgbClr val="0B2545"/>
            </a:solidFill>
            <a:prstDash val="solid"/>
            <a:tailEnd type="triangle"/>
          </a:ln>
        </p:spPr>
      </p:sp>
      <p:sp>
        <p:nvSpPr>
          <p:cNvPr id="24" name="Shape 22"/>
          <p:cNvSpPr/>
          <p:nvPr/>
        </p:nvSpPr>
        <p:spPr>
          <a:xfrm>
            <a:off x="4709160" y="2578608"/>
            <a:ext cx="548640" cy="0"/>
          </a:xfrm>
          <a:prstGeom prst="line">
            <a:avLst/>
          </a:prstGeom>
          <a:noFill/>
          <a:ln w="16510">
            <a:solidFill>
              <a:srgbClr val="0B2545"/>
            </a:solidFill>
            <a:prstDash val="solid"/>
            <a:tailEnd type="triangle"/>
          </a:ln>
        </p:spPr>
      </p:sp>
      <p:sp>
        <p:nvSpPr>
          <p:cNvPr id="25" name="Shape 23"/>
          <p:cNvSpPr/>
          <p:nvPr/>
        </p:nvSpPr>
        <p:spPr>
          <a:xfrm>
            <a:off x="4709160" y="3383280"/>
            <a:ext cx="548640" cy="0"/>
          </a:xfrm>
          <a:prstGeom prst="line">
            <a:avLst/>
          </a:prstGeom>
          <a:noFill/>
          <a:ln w="16510">
            <a:solidFill>
              <a:srgbClr val="0B2545"/>
            </a:solidFill>
            <a:prstDash val="solid"/>
          </a:ln>
        </p:spPr>
      </p:sp>
      <p:sp>
        <p:nvSpPr>
          <p:cNvPr id="26" name="Shape 24"/>
          <p:cNvSpPr/>
          <p:nvPr/>
        </p:nvSpPr>
        <p:spPr>
          <a:xfrm>
            <a:off x="5257800" y="2880360"/>
            <a:ext cx="0" cy="502920"/>
          </a:xfrm>
          <a:prstGeom prst="line">
            <a:avLst/>
          </a:prstGeom>
          <a:noFill/>
          <a:ln w="16510">
            <a:solidFill>
              <a:srgbClr val="0B2545"/>
            </a:solidFill>
            <a:prstDash val="solid"/>
            <a:headEnd type="triangle"/>
          </a:ln>
        </p:spPr>
      </p:sp>
      <p:sp>
        <p:nvSpPr>
          <p:cNvPr id="27" name="Shape 25"/>
          <p:cNvSpPr/>
          <p:nvPr/>
        </p:nvSpPr>
        <p:spPr>
          <a:xfrm>
            <a:off x="6172200" y="3246120"/>
            <a:ext cx="0" cy="548640"/>
          </a:xfrm>
          <a:prstGeom prst="line">
            <a:avLst/>
          </a:prstGeom>
          <a:noFill/>
          <a:ln w="16510">
            <a:solidFill>
              <a:srgbClr val="12726B"/>
            </a:solidFill>
            <a:prstDash val="solid"/>
            <a:tailEnd type="triangle"/>
          </a:ln>
        </p:spPr>
      </p:sp>
      <p:sp>
        <p:nvSpPr>
          <p:cNvPr id="28" name="Shape 26"/>
          <p:cNvSpPr/>
          <p:nvPr/>
        </p:nvSpPr>
        <p:spPr>
          <a:xfrm>
            <a:off x="502920" y="4526280"/>
            <a:ext cx="5532120" cy="1691640"/>
          </a:xfrm>
          <a:prstGeom prst="roundRect">
            <a:avLst>
              <a:gd name="adj" fmla="val 4324"/>
            </a:avLst>
          </a:prstGeom>
          <a:solidFill>
            <a:srgbClr val="FDF2DA"/>
          </a:solidFill>
          <a:ln w="12700">
            <a:solidFill>
              <a:srgbClr val="E8A317"/>
            </a:solidFill>
            <a:prstDash val="solid"/>
          </a:ln>
        </p:spPr>
      </p:sp>
      <p:sp>
        <p:nvSpPr>
          <p:cNvPr id="29" name="Text 27"/>
          <p:cNvSpPr/>
          <p:nvPr/>
        </p:nvSpPr>
        <p:spPr>
          <a:xfrm>
            <a:off x="713232" y="4617720"/>
            <a:ext cx="5120640" cy="2743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Task Structuring Criteria (Gomaa)</a:t>
            </a:r>
            <a:endParaRPr lang="en-US" sz="1300" dirty="0"/>
          </a:p>
        </p:txBody>
      </p:sp>
      <p:sp>
        <p:nvSpPr>
          <p:cNvPr id="30" name="Text 28"/>
          <p:cNvSpPr/>
          <p:nvPr/>
        </p:nvSpPr>
        <p:spPr>
          <a:xfrm>
            <a:off x="713232" y="4919472"/>
            <a:ext cx="5166360" cy="1234440"/>
          </a:xfrm>
          <a:prstGeom prst="rect">
            <a:avLst/>
          </a:prstGeom>
          <a:noFill/>
          <a:ln/>
        </p:spPr>
        <p:txBody>
          <a:bodyPr wrap="square" lIns="0" tIns="0" rIns="0" bIns="0" rtlCol="0" anchor="t"/>
          <a:lstStyle/>
          <a:p>
            <a:pPr indent="0" marL="0">
              <a:lnSpc>
                <a:spcPct val="108000"/>
              </a:lnSpc>
              <a:buNone/>
            </a:pPr>
            <a:r>
              <a:rPr lang="en-US" sz="1000" b="1" dirty="0">
                <a:solidFill>
                  <a:srgbClr val="13315C"/>
                </a:solidFill>
                <a:latin typeface="Calibri" pitchFamily="34" charset="0"/>
                <a:ea typeface="Calibri" pitchFamily="34" charset="-122"/>
                <a:cs typeface="Calibri" pitchFamily="34" charset="-120"/>
              </a:rPr>
              <a:t>I/O Task</a:t>
            </a:r>
            <a:pPr indent="0" marL="0">
              <a:lnSpc>
                <a:spcPct val="108000"/>
              </a:lnSpc>
              <a:buNone/>
            </a:pPr>
            <a:r>
              <a:rPr lang="en-US" sz="1000" dirty="0">
                <a:solidFill>
                  <a:srgbClr val="3E5C76"/>
                </a:solidFill>
                <a:latin typeface="Calibri" pitchFamily="34" charset="0"/>
                <a:ea typeface="Calibri" pitchFamily="34" charset="-122"/>
                <a:cs typeface="Calibri" pitchFamily="34" charset="-120"/>
              </a:rPr>
              <a:t> — mỗi thiết bị vào/ra một task riêng.  </a:t>
            </a:r>
            <a:pPr indent="0" marL="0">
              <a:lnSpc>
                <a:spcPct val="108000"/>
              </a:lnSpc>
              <a:buNone/>
            </a:pPr>
            <a:r>
              <a:rPr lang="en-US" sz="1000" b="1" dirty="0">
                <a:solidFill>
                  <a:srgbClr val="13315C"/>
                </a:solidFill>
                <a:latin typeface="Calibri" pitchFamily="34" charset="0"/>
                <a:ea typeface="Calibri" pitchFamily="34" charset="-122"/>
                <a:cs typeface="Calibri" pitchFamily="34" charset="-120"/>
              </a:rPr>
              <a:t>Periodic Task</a:t>
            </a:r>
            <a:pPr indent="0" marL="0">
              <a:lnSpc>
                <a:spcPct val="108000"/>
              </a:lnSpc>
              <a:buNone/>
            </a:pPr>
            <a:r>
              <a:rPr lang="en-US" sz="1000" dirty="0">
                <a:solidFill>
                  <a:srgbClr val="3E5C76"/>
                </a:solidFill>
                <a:latin typeface="Calibri" pitchFamily="34" charset="0"/>
                <a:ea typeface="Calibri" pitchFamily="34" charset="-122"/>
                <a:cs typeface="Calibri" pitchFamily="34" charset="-120"/>
              </a:rPr>
              <a:t> — chạy lặp theo chu kỳ thời gian.</a:t>
            </a:r>
            <a:endParaRPr lang="en-US" sz="1000" dirty="0"/>
          </a:p>
          <a:p>
            <a:pPr indent="0" marL="0">
              <a:lnSpc>
                <a:spcPct val="108000"/>
              </a:lnSpc>
              <a:buNone/>
            </a:pPr>
            <a:r>
              <a:rPr lang="en-US" sz="1000" b="1" dirty="0">
                <a:solidFill>
                  <a:srgbClr val="13315C"/>
                </a:solidFill>
                <a:latin typeface="Calibri" pitchFamily="34" charset="0"/>
                <a:ea typeface="Calibri" pitchFamily="34" charset="-122"/>
                <a:cs typeface="Calibri" pitchFamily="34" charset="-120"/>
              </a:rPr>
              <a:t>Control Task</a:t>
            </a:r>
            <a:pPr indent="0" marL="0">
              <a:lnSpc>
                <a:spcPct val="108000"/>
              </a:lnSpc>
              <a:buNone/>
            </a:pPr>
            <a:r>
              <a:rPr lang="en-US" sz="1000" dirty="0">
                <a:solidFill>
                  <a:srgbClr val="3E5C76"/>
                </a:solidFill>
                <a:latin typeface="Calibri" pitchFamily="34" charset="0"/>
                <a:ea typeface="Calibri" pitchFamily="34" charset="-122"/>
                <a:cs typeface="Calibri" pitchFamily="34" charset="-120"/>
              </a:rPr>
              <a:t> — điều phối bằng statechart.  </a:t>
            </a:r>
            <a:pPr indent="0" marL="0">
              <a:lnSpc>
                <a:spcPct val="108000"/>
              </a:lnSpc>
              <a:buNone/>
            </a:pPr>
            <a:r>
              <a:rPr lang="en-US" sz="1000" b="1" dirty="0">
                <a:solidFill>
                  <a:srgbClr val="13315C"/>
                </a:solidFill>
                <a:latin typeface="Calibri" pitchFamily="34" charset="0"/>
                <a:ea typeface="Calibri" pitchFamily="34" charset="-122"/>
                <a:cs typeface="Calibri" pitchFamily="34" charset="-120"/>
              </a:rPr>
              <a:t>Coordinator Task</a:t>
            </a:r>
            <a:pPr indent="0" marL="0">
              <a:lnSpc>
                <a:spcPct val="108000"/>
              </a:lnSpc>
              <a:buNone/>
            </a:pPr>
            <a:r>
              <a:rPr lang="en-US" sz="1000" dirty="0">
                <a:solidFill>
                  <a:srgbClr val="3E5C76"/>
                </a:solidFill>
                <a:latin typeface="Calibri" pitchFamily="34" charset="0"/>
                <a:ea typeface="Calibri" pitchFamily="34" charset="-122"/>
                <a:cs typeface="Calibri" pitchFamily="34" charset="-120"/>
              </a:rPr>
              <a:t> — điều phối nhiều control task.</a:t>
            </a:r>
            <a:endParaRPr lang="en-US" sz="1000" dirty="0"/>
          </a:p>
          <a:p>
            <a:pPr indent="0" marL="0">
              <a:lnSpc>
                <a:spcPct val="108000"/>
              </a:lnSpc>
              <a:buNone/>
            </a:pPr>
            <a:endParaRPr lang="en-US" sz="1000" dirty="0"/>
          </a:p>
          <a:p>
            <a:pPr indent="0" marL="0">
              <a:lnSpc>
                <a:spcPct val="108000"/>
              </a:lnSpc>
              <a:buNone/>
            </a:pPr>
            <a:r>
              <a:rPr lang="en-US" sz="1000" i="1" dirty="0">
                <a:solidFill>
                  <a:srgbClr val="3E5C76"/>
                </a:solidFill>
                <a:latin typeface="Calibri" pitchFamily="34" charset="0"/>
                <a:ea typeface="Calibri" pitchFamily="34" charset="-122"/>
                <a:cs typeface="Calibri" pitchFamily="34" charset="-120"/>
              </a:rPr>
              <a:t>Hai task giao tiếp qua message queue (bất đồng bộ) hoặc vùng nhớ chung có khoá (đồng bộ).</a:t>
            </a:r>
            <a:endParaRPr lang="en-US" sz="1000" dirty="0"/>
          </a:p>
        </p:txBody>
      </p:sp>
      <p:sp>
        <p:nvSpPr>
          <p:cNvPr id="31" name="Shape 29"/>
          <p:cNvSpPr/>
          <p:nvPr/>
        </p:nvSpPr>
        <p:spPr>
          <a:xfrm>
            <a:off x="6309360" y="1325880"/>
            <a:ext cx="5349240" cy="1115568"/>
          </a:xfrm>
          <a:prstGeom prst="roundRect">
            <a:avLst>
              <a:gd name="adj" fmla="val 6557"/>
            </a:avLst>
          </a:prstGeom>
          <a:solidFill>
            <a:srgbClr val="F1F5F9"/>
          </a:solidFill>
          <a:ln w="12700">
            <a:solidFill>
              <a:srgbClr val="DCE4EC"/>
            </a:solidFill>
            <a:prstDash val="solid"/>
          </a:ln>
        </p:spPr>
      </p:sp>
      <p:sp>
        <p:nvSpPr>
          <p:cNvPr id="32" name="Text 30"/>
          <p:cNvSpPr/>
          <p:nvPr/>
        </p:nvSpPr>
        <p:spPr>
          <a:xfrm>
            <a:off x="6510528" y="1380744"/>
            <a:ext cx="4937760" cy="27432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Ý tưởng cốt lõi</a:t>
            </a:r>
            <a:endParaRPr lang="en-US" sz="1250" dirty="0"/>
          </a:p>
        </p:txBody>
      </p:sp>
      <p:sp>
        <p:nvSpPr>
          <p:cNvPr id="33" name="Text 31"/>
          <p:cNvSpPr/>
          <p:nvPr/>
        </p:nvSpPr>
        <p:spPr>
          <a:xfrm>
            <a:off x="6510528" y="1655064"/>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Hệ thống được chia thành các TASK chạy đồng thời, mỗi task một luồng điều khiển riêng. Đúng đắn không chỉ là “ra kết quả đúng” mà còn là “ra kết quả kịp hạn”.</a:t>
            </a:r>
            <a:endParaRPr lang="en-US" sz="1050" dirty="0"/>
          </a:p>
        </p:txBody>
      </p:sp>
      <p:sp>
        <p:nvSpPr>
          <p:cNvPr id="34" name="Shape 32"/>
          <p:cNvSpPr/>
          <p:nvPr/>
        </p:nvSpPr>
        <p:spPr>
          <a:xfrm>
            <a:off x="6309360" y="2551176"/>
            <a:ext cx="5349240" cy="1115568"/>
          </a:xfrm>
          <a:prstGeom prst="roundRect">
            <a:avLst>
              <a:gd name="adj" fmla="val 6557"/>
            </a:avLst>
          </a:prstGeom>
          <a:solidFill>
            <a:srgbClr val="FFFFFF"/>
          </a:solidFill>
          <a:ln w="12700">
            <a:solidFill>
              <a:srgbClr val="DCE4EC"/>
            </a:solidFill>
            <a:prstDash val="solid"/>
          </a:ln>
        </p:spPr>
      </p:sp>
      <p:sp>
        <p:nvSpPr>
          <p:cNvPr id="35" name="Text 33"/>
          <p:cNvSpPr/>
          <p:nvPr/>
        </p:nvSpPr>
        <p:spPr>
          <a:xfrm>
            <a:off x="6510528" y="2606040"/>
            <a:ext cx="4937760" cy="274320"/>
          </a:xfrm>
          <a:prstGeom prst="rect">
            <a:avLst/>
          </a:prstGeom>
          <a:noFill/>
          <a:ln/>
        </p:spPr>
        <p:txBody>
          <a:bodyPr wrap="square" lIns="0" tIns="0" rIns="0" bIns="0" rtlCol="0" anchor="ctr"/>
          <a:lstStyle/>
          <a:p>
            <a:pPr indent="0" marL="0">
              <a:buNone/>
            </a:pPr>
            <a:r>
              <a:rPr lang="en-US" sz="1250" b="1" dirty="0">
                <a:solidFill>
                  <a:srgbClr val="E8A317"/>
                </a:solidFill>
                <a:latin typeface="Calibri" pitchFamily="34" charset="0"/>
                <a:ea typeface="Calibri" pitchFamily="34" charset="-122"/>
                <a:cs typeface="Calibri" pitchFamily="34" charset="-120"/>
              </a:rPr>
              <a:t>Hard vs Soft real-time</a:t>
            </a:r>
            <a:endParaRPr lang="en-US" sz="1250" dirty="0"/>
          </a:p>
        </p:txBody>
      </p:sp>
      <p:sp>
        <p:nvSpPr>
          <p:cNvPr id="36" name="Text 34"/>
          <p:cNvSpPr/>
          <p:nvPr/>
        </p:nvSpPr>
        <p:spPr>
          <a:xfrm>
            <a:off x="6510528" y="2880360"/>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Hard: trễ hạn là thảm hoạ (phanh ABS, thiết bị y tế). Soft: trễ hạn làm giảm chất lượng nhưng chấp nhận được (video streaming, barie bãi xe).</a:t>
            </a:r>
            <a:endParaRPr lang="en-US" sz="1050" dirty="0"/>
          </a:p>
        </p:txBody>
      </p:sp>
      <p:sp>
        <p:nvSpPr>
          <p:cNvPr id="37" name="Shape 35"/>
          <p:cNvSpPr/>
          <p:nvPr/>
        </p:nvSpPr>
        <p:spPr>
          <a:xfrm>
            <a:off x="6309360" y="3776472"/>
            <a:ext cx="5349240" cy="1115568"/>
          </a:xfrm>
          <a:prstGeom prst="roundRect">
            <a:avLst>
              <a:gd name="adj" fmla="val 6557"/>
            </a:avLst>
          </a:prstGeom>
          <a:solidFill>
            <a:srgbClr val="F1F5F9"/>
          </a:solidFill>
          <a:ln w="12700">
            <a:solidFill>
              <a:srgbClr val="DCE4EC"/>
            </a:solidFill>
            <a:prstDash val="solid"/>
          </a:ln>
        </p:spPr>
      </p:sp>
      <p:sp>
        <p:nvSpPr>
          <p:cNvPr id="38" name="Text 36"/>
          <p:cNvSpPr/>
          <p:nvPr/>
        </p:nvSpPr>
        <p:spPr>
          <a:xfrm>
            <a:off x="6510528" y="3831336"/>
            <a:ext cx="4937760" cy="274320"/>
          </a:xfrm>
          <a:prstGeom prst="rect">
            <a:avLst/>
          </a:prstGeom>
          <a:noFill/>
          <a:ln/>
        </p:spPr>
        <p:txBody>
          <a:bodyPr wrap="square" lIns="0" tIns="0" rIns="0" bIns="0" rtlCol="0" anchor="ctr"/>
          <a:lstStyle/>
          <a:p>
            <a:pPr indent="0" marL="0">
              <a:buNone/>
            </a:pPr>
            <a:r>
              <a:rPr lang="en-US" sz="1250" b="1" dirty="0">
                <a:solidFill>
                  <a:srgbClr val="B23A32"/>
                </a:solidFill>
                <a:latin typeface="Calibri" pitchFamily="34" charset="0"/>
                <a:ea typeface="Calibri" pitchFamily="34" charset="-122"/>
                <a:cs typeface="Calibri" pitchFamily="34" charset="-120"/>
              </a:rPr>
              <a:t>Ưu / Nhược</a:t>
            </a:r>
            <a:endParaRPr lang="en-US" sz="1250" dirty="0"/>
          </a:p>
        </p:txBody>
      </p:sp>
      <p:sp>
        <p:nvSpPr>
          <p:cNvPr id="39" name="Text 37"/>
          <p:cNvSpPr/>
          <p:nvPr/>
        </p:nvSpPr>
        <p:spPr>
          <a:xfrm>
            <a:off x="6510528" y="4105656"/>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Ưu: phản ứng nhanh, tận dụng nhiều lõi, mô hình hoá sát thiết bị thật. Nhược: race condition, deadlock, và cực kỳ khó gỡ lỗi vì lỗi không lặp lại.</a:t>
            </a:r>
            <a:endParaRPr lang="en-US" sz="1050" dirty="0"/>
          </a:p>
        </p:txBody>
      </p:sp>
      <p:sp>
        <p:nvSpPr>
          <p:cNvPr id="40" name="Shape 38"/>
          <p:cNvSpPr/>
          <p:nvPr/>
        </p:nvSpPr>
        <p:spPr>
          <a:xfrm>
            <a:off x="6309360" y="5001768"/>
            <a:ext cx="5349240" cy="1115568"/>
          </a:xfrm>
          <a:prstGeom prst="roundRect">
            <a:avLst>
              <a:gd name="adj" fmla="val 6557"/>
            </a:avLst>
          </a:prstGeom>
          <a:solidFill>
            <a:srgbClr val="FFFFFF"/>
          </a:solidFill>
          <a:ln w="12700">
            <a:solidFill>
              <a:srgbClr val="DCE4EC"/>
            </a:solidFill>
            <a:prstDash val="solid"/>
          </a:ln>
        </p:spPr>
      </p:sp>
      <p:sp>
        <p:nvSpPr>
          <p:cNvPr id="41" name="Text 39"/>
          <p:cNvSpPr/>
          <p:nvPr/>
        </p:nvSpPr>
        <p:spPr>
          <a:xfrm>
            <a:off x="6510528" y="5056632"/>
            <a:ext cx="4937760" cy="274320"/>
          </a:xfrm>
          <a:prstGeom prst="rect">
            <a:avLst/>
          </a:prstGeom>
          <a:noFill/>
          <a:ln/>
        </p:spPr>
        <p:txBody>
          <a:bodyPr wrap="square" lIns="0" tIns="0" rIns="0" bIns="0" rtlCol="0" anchor="ctr"/>
          <a:lstStyle/>
          <a:p>
            <a:pPr indent="0" marL="0">
              <a:buNone/>
            </a:pPr>
            <a:r>
              <a:rPr lang="en-US" sz="1250" b="1" dirty="0">
                <a:solidFill>
                  <a:srgbClr val="12726B"/>
                </a:solidFill>
                <a:latin typeface="Calibri" pitchFamily="34" charset="0"/>
                <a:ea typeface="Calibri" pitchFamily="34" charset="-122"/>
                <a:cs typeface="Calibri" pitchFamily="34" charset="-120"/>
              </a:rPr>
              <a:t>Khi nào chọn</a:t>
            </a:r>
            <a:endParaRPr lang="en-US" sz="1250" dirty="0"/>
          </a:p>
        </p:txBody>
      </p:sp>
      <p:sp>
        <p:nvSpPr>
          <p:cNvPr id="42" name="Text 40"/>
          <p:cNvSpPr/>
          <p:nvPr/>
        </p:nvSpPr>
        <p:spPr>
          <a:xfrm>
            <a:off x="6510528" y="5330952"/>
            <a:ext cx="4983480" cy="731520"/>
          </a:xfrm>
          <a:prstGeom prst="rect">
            <a:avLst/>
          </a:prstGeom>
          <a:noFill/>
          <a:ln/>
        </p:spPr>
        <p:txBody>
          <a:bodyPr wrap="square" lIns="0" tIns="0" rIns="0" bIns="0" rtlCol="0" anchor="t"/>
          <a:lstStyle/>
          <a:p>
            <a:pPr indent="0" marL="0">
              <a:lnSpc>
                <a:spcPct val="106000"/>
              </a:lnSpc>
              <a:buNone/>
            </a:pPr>
            <a:r>
              <a:rPr lang="en-US" sz="1050" dirty="0">
                <a:solidFill>
                  <a:srgbClr val="3E5C76"/>
                </a:solidFill>
                <a:latin typeface="Calibri" pitchFamily="34" charset="0"/>
                <a:ea typeface="Calibri" pitchFamily="34" charset="-122"/>
                <a:cs typeface="Calibri" pitchFamily="34" charset="-120"/>
              </a:rPr>
              <a:t>Hệ thống nhúng, điều khiển công nghiệp, thiết bị IoT. Phần phần cứng của SmartPark (camera, cảm biến, barie) chính là một hệ real-time nhỏ.</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12</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Microservices Architecture</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Hậu duệ hiện đại của SOA — và là lựa chọn thứ hai mà đề Practical Exam cho phép</a:t>
            </a:r>
            <a:endParaRPr lang="en-US" sz="1300" dirty="0"/>
          </a:p>
        </p:txBody>
      </p:sp>
      <p:sp>
        <p:nvSpPr>
          <p:cNvPr id="6" name="Shape 4"/>
          <p:cNvSpPr/>
          <p:nvPr/>
        </p:nvSpPr>
        <p:spPr>
          <a:xfrm>
            <a:off x="548640" y="2286000"/>
            <a:ext cx="1645920" cy="548640"/>
          </a:xfrm>
          <a:prstGeom prst="roundRect">
            <a:avLst>
              <a:gd name="adj" fmla="val 11667"/>
            </a:avLst>
          </a:prstGeom>
          <a:solidFill>
            <a:srgbClr val="E8A317"/>
          </a:solidFill>
          <a:ln w="15240">
            <a:solidFill>
              <a:srgbClr val="E8A317"/>
            </a:solidFill>
            <a:prstDash val="solid"/>
          </a:ln>
        </p:spPr>
      </p:sp>
      <p:sp>
        <p:nvSpPr>
          <p:cNvPr id="7" name="Text 5"/>
          <p:cNvSpPr/>
          <p:nvPr/>
        </p:nvSpPr>
        <p:spPr>
          <a:xfrm>
            <a:off x="594360" y="2286000"/>
            <a:ext cx="1554480" cy="548640"/>
          </a:xfrm>
          <a:prstGeom prst="rect">
            <a:avLst/>
          </a:prstGeom>
          <a:noFill/>
          <a:ln/>
        </p:spPr>
        <p:txBody>
          <a:bodyPr wrap="square" lIns="0" tIns="0" rIns="0" bIns="0" rtlCol="0" anchor="ctr"/>
          <a:lstStyle/>
          <a:p>
            <a:pPr algn="ctr" indent="0" marL="0">
              <a:lnSpc>
                <a:spcPct val="95000"/>
              </a:lnSpc>
              <a:buNone/>
            </a:pPr>
            <a:r>
              <a:rPr lang="en-US" sz="1100" b="1" dirty="0">
                <a:solidFill>
                  <a:srgbClr val="0B2545"/>
                </a:solidFill>
                <a:latin typeface="Calibri" pitchFamily="34" charset="0"/>
                <a:ea typeface="Calibri" pitchFamily="34" charset="-122"/>
                <a:cs typeface="Calibri" pitchFamily="34" charset="-120"/>
              </a:rPr>
              <a:t>Client</a:t>
            </a:r>
            <a:endParaRPr lang="en-US" sz="1100" dirty="0"/>
          </a:p>
        </p:txBody>
      </p:sp>
      <p:sp>
        <p:nvSpPr>
          <p:cNvPr id="8" name="Shape 6"/>
          <p:cNvSpPr/>
          <p:nvPr/>
        </p:nvSpPr>
        <p:spPr>
          <a:xfrm>
            <a:off x="2423160" y="2194560"/>
            <a:ext cx="1737360" cy="731520"/>
          </a:xfrm>
          <a:prstGeom prst="roundRect">
            <a:avLst>
              <a:gd name="adj" fmla="val 8750"/>
            </a:avLst>
          </a:prstGeom>
          <a:solidFill>
            <a:srgbClr val="0B2545"/>
          </a:solidFill>
          <a:ln w="15240">
            <a:solidFill>
              <a:srgbClr val="0B2545"/>
            </a:solidFill>
            <a:prstDash val="solid"/>
          </a:ln>
        </p:spPr>
      </p:sp>
      <p:sp>
        <p:nvSpPr>
          <p:cNvPr id="9" name="Text 7"/>
          <p:cNvSpPr/>
          <p:nvPr/>
        </p:nvSpPr>
        <p:spPr>
          <a:xfrm>
            <a:off x="2468880" y="2194560"/>
            <a:ext cx="1645920" cy="731520"/>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10" name="Shape 8"/>
          <p:cNvSpPr/>
          <p:nvPr/>
        </p:nvSpPr>
        <p:spPr>
          <a:xfrm>
            <a:off x="2194560" y="2560320"/>
            <a:ext cx="228600" cy="0"/>
          </a:xfrm>
          <a:prstGeom prst="line">
            <a:avLst/>
          </a:prstGeom>
          <a:noFill/>
          <a:ln w="16510">
            <a:solidFill>
              <a:srgbClr val="0B2545"/>
            </a:solidFill>
            <a:prstDash val="solid"/>
            <a:tailEnd type="triangle"/>
          </a:ln>
        </p:spPr>
      </p:sp>
      <p:sp>
        <p:nvSpPr>
          <p:cNvPr id="11" name="Shape 9"/>
          <p:cNvSpPr/>
          <p:nvPr/>
        </p:nvSpPr>
        <p:spPr>
          <a:xfrm>
            <a:off x="4754880" y="1417320"/>
            <a:ext cx="1737360" cy="777240"/>
          </a:xfrm>
          <a:prstGeom prst="roundRect">
            <a:avLst>
              <a:gd name="adj" fmla="val 8235"/>
            </a:avLst>
          </a:prstGeom>
          <a:solidFill>
            <a:srgbClr val="12726B"/>
          </a:solidFill>
          <a:ln w="15240">
            <a:solidFill>
              <a:srgbClr val="12726B"/>
            </a:solidFill>
            <a:prstDash val="solid"/>
          </a:ln>
        </p:spPr>
      </p:sp>
      <p:sp>
        <p:nvSpPr>
          <p:cNvPr id="12" name="Text 10"/>
          <p:cNvSpPr/>
          <p:nvPr/>
        </p:nvSpPr>
        <p:spPr>
          <a:xfrm>
            <a:off x="4800600" y="1417320"/>
            <a:ext cx="1645920" cy="777240"/>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Parking</a:t>
            </a:r>
            <a:endParaRPr lang="en-US" sz="1000" dirty="0"/>
          </a:p>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Service</a:t>
            </a:r>
            <a:endParaRPr lang="en-US" sz="1000" dirty="0"/>
          </a:p>
        </p:txBody>
      </p:sp>
      <p:sp>
        <p:nvSpPr>
          <p:cNvPr id="13" name="Shape 11"/>
          <p:cNvSpPr/>
          <p:nvPr/>
        </p:nvSpPr>
        <p:spPr>
          <a:xfrm>
            <a:off x="6949440" y="1527048"/>
            <a:ext cx="1371600" cy="548640"/>
          </a:xfrm>
          <a:prstGeom prst="roundRect">
            <a:avLst>
              <a:gd name="adj" fmla="val 11667"/>
            </a:avLst>
          </a:prstGeom>
          <a:solidFill>
            <a:srgbClr val="3E5C76"/>
          </a:solidFill>
          <a:ln w="15240">
            <a:solidFill>
              <a:srgbClr val="3E5C76"/>
            </a:solidFill>
            <a:prstDash val="solid"/>
          </a:ln>
        </p:spPr>
      </p:sp>
      <p:sp>
        <p:nvSpPr>
          <p:cNvPr id="14" name="Text 12"/>
          <p:cNvSpPr/>
          <p:nvPr/>
        </p:nvSpPr>
        <p:spPr>
          <a:xfrm>
            <a:off x="6995160" y="1527048"/>
            <a:ext cx="1280160" cy="54864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DB</a:t>
            </a:r>
            <a:endParaRPr lang="en-US" sz="950" dirty="0"/>
          </a:p>
        </p:txBody>
      </p:sp>
      <p:sp>
        <p:nvSpPr>
          <p:cNvPr id="15" name="Shape 13"/>
          <p:cNvSpPr/>
          <p:nvPr/>
        </p:nvSpPr>
        <p:spPr>
          <a:xfrm>
            <a:off x="4160520" y="2560320"/>
            <a:ext cx="411480" cy="0"/>
          </a:xfrm>
          <a:prstGeom prst="line">
            <a:avLst/>
          </a:prstGeom>
          <a:noFill/>
          <a:ln w="16510">
            <a:solidFill>
              <a:srgbClr val="0B2545"/>
            </a:solidFill>
            <a:prstDash val="solid"/>
          </a:ln>
        </p:spPr>
      </p:sp>
      <p:sp>
        <p:nvSpPr>
          <p:cNvPr id="16" name="Shape 14"/>
          <p:cNvSpPr/>
          <p:nvPr/>
        </p:nvSpPr>
        <p:spPr>
          <a:xfrm>
            <a:off x="4572000" y="1801368"/>
            <a:ext cx="0" cy="758952"/>
          </a:xfrm>
          <a:prstGeom prst="line">
            <a:avLst/>
          </a:prstGeom>
          <a:noFill/>
          <a:ln w="16510">
            <a:solidFill>
              <a:srgbClr val="0B2545"/>
            </a:solidFill>
            <a:prstDash val="solid"/>
          </a:ln>
        </p:spPr>
      </p:sp>
      <p:sp>
        <p:nvSpPr>
          <p:cNvPr id="17" name="Shape 15"/>
          <p:cNvSpPr/>
          <p:nvPr/>
        </p:nvSpPr>
        <p:spPr>
          <a:xfrm>
            <a:off x="4572000" y="1801368"/>
            <a:ext cx="182880" cy="0"/>
          </a:xfrm>
          <a:prstGeom prst="line">
            <a:avLst/>
          </a:prstGeom>
          <a:noFill/>
          <a:ln w="16510">
            <a:solidFill>
              <a:srgbClr val="0B2545"/>
            </a:solidFill>
            <a:prstDash val="solid"/>
            <a:tailEnd type="triangle"/>
          </a:ln>
        </p:spPr>
      </p:sp>
      <p:sp>
        <p:nvSpPr>
          <p:cNvPr id="18" name="Shape 16"/>
          <p:cNvSpPr/>
          <p:nvPr/>
        </p:nvSpPr>
        <p:spPr>
          <a:xfrm>
            <a:off x="6492240" y="1801368"/>
            <a:ext cx="457200" cy="0"/>
          </a:xfrm>
          <a:prstGeom prst="line">
            <a:avLst/>
          </a:prstGeom>
          <a:noFill/>
          <a:ln w="16510">
            <a:solidFill>
              <a:srgbClr val="12726B"/>
            </a:solidFill>
            <a:prstDash val="solid"/>
            <a:tailEnd type="triangle"/>
          </a:ln>
        </p:spPr>
      </p:sp>
      <p:sp>
        <p:nvSpPr>
          <p:cNvPr id="19" name="Shape 17"/>
          <p:cNvSpPr/>
          <p:nvPr/>
        </p:nvSpPr>
        <p:spPr>
          <a:xfrm>
            <a:off x="4754880" y="2468880"/>
            <a:ext cx="1737360" cy="777240"/>
          </a:xfrm>
          <a:prstGeom prst="roundRect">
            <a:avLst>
              <a:gd name="adj" fmla="val 8235"/>
            </a:avLst>
          </a:prstGeom>
          <a:solidFill>
            <a:srgbClr val="12726B"/>
          </a:solidFill>
          <a:ln w="15240">
            <a:solidFill>
              <a:srgbClr val="12726B"/>
            </a:solidFill>
            <a:prstDash val="solid"/>
          </a:ln>
        </p:spPr>
      </p:sp>
      <p:sp>
        <p:nvSpPr>
          <p:cNvPr id="20" name="Text 18"/>
          <p:cNvSpPr/>
          <p:nvPr/>
        </p:nvSpPr>
        <p:spPr>
          <a:xfrm>
            <a:off x="4800600" y="2468880"/>
            <a:ext cx="1645920" cy="777240"/>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Payment</a:t>
            </a:r>
            <a:endParaRPr lang="en-US" sz="1000" dirty="0"/>
          </a:p>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Service</a:t>
            </a:r>
            <a:endParaRPr lang="en-US" sz="1000" dirty="0"/>
          </a:p>
        </p:txBody>
      </p:sp>
      <p:sp>
        <p:nvSpPr>
          <p:cNvPr id="21" name="Shape 19"/>
          <p:cNvSpPr/>
          <p:nvPr/>
        </p:nvSpPr>
        <p:spPr>
          <a:xfrm>
            <a:off x="6949440" y="2578608"/>
            <a:ext cx="1371600" cy="548640"/>
          </a:xfrm>
          <a:prstGeom prst="roundRect">
            <a:avLst>
              <a:gd name="adj" fmla="val 11667"/>
            </a:avLst>
          </a:prstGeom>
          <a:solidFill>
            <a:srgbClr val="3E5C76"/>
          </a:solidFill>
          <a:ln w="15240">
            <a:solidFill>
              <a:srgbClr val="3E5C76"/>
            </a:solidFill>
            <a:prstDash val="solid"/>
          </a:ln>
        </p:spPr>
      </p:sp>
      <p:sp>
        <p:nvSpPr>
          <p:cNvPr id="22" name="Text 20"/>
          <p:cNvSpPr/>
          <p:nvPr/>
        </p:nvSpPr>
        <p:spPr>
          <a:xfrm>
            <a:off x="6995160" y="2578608"/>
            <a:ext cx="1280160" cy="54864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DB</a:t>
            </a:r>
            <a:endParaRPr lang="en-US" sz="950" dirty="0"/>
          </a:p>
        </p:txBody>
      </p:sp>
      <p:sp>
        <p:nvSpPr>
          <p:cNvPr id="23" name="Shape 21"/>
          <p:cNvSpPr/>
          <p:nvPr/>
        </p:nvSpPr>
        <p:spPr>
          <a:xfrm>
            <a:off x="4160520" y="2560320"/>
            <a:ext cx="411480" cy="0"/>
          </a:xfrm>
          <a:prstGeom prst="line">
            <a:avLst/>
          </a:prstGeom>
          <a:noFill/>
          <a:ln w="16510">
            <a:solidFill>
              <a:srgbClr val="0B2545"/>
            </a:solidFill>
            <a:prstDash val="solid"/>
          </a:ln>
        </p:spPr>
      </p:sp>
      <p:sp>
        <p:nvSpPr>
          <p:cNvPr id="24" name="Shape 22"/>
          <p:cNvSpPr/>
          <p:nvPr/>
        </p:nvSpPr>
        <p:spPr>
          <a:xfrm>
            <a:off x="4572000" y="2560320"/>
            <a:ext cx="0" cy="292608"/>
          </a:xfrm>
          <a:prstGeom prst="line">
            <a:avLst/>
          </a:prstGeom>
          <a:noFill/>
          <a:ln w="16510">
            <a:solidFill>
              <a:srgbClr val="0B2545"/>
            </a:solidFill>
            <a:prstDash val="solid"/>
          </a:ln>
        </p:spPr>
      </p:sp>
      <p:sp>
        <p:nvSpPr>
          <p:cNvPr id="25" name="Shape 23"/>
          <p:cNvSpPr/>
          <p:nvPr/>
        </p:nvSpPr>
        <p:spPr>
          <a:xfrm>
            <a:off x="4572000" y="2852928"/>
            <a:ext cx="182880" cy="0"/>
          </a:xfrm>
          <a:prstGeom prst="line">
            <a:avLst/>
          </a:prstGeom>
          <a:noFill/>
          <a:ln w="16510">
            <a:solidFill>
              <a:srgbClr val="0B2545"/>
            </a:solidFill>
            <a:prstDash val="solid"/>
            <a:tailEnd type="triangle"/>
          </a:ln>
        </p:spPr>
      </p:sp>
      <p:sp>
        <p:nvSpPr>
          <p:cNvPr id="26" name="Shape 24"/>
          <p:cNvSpPr/>
          <p:nvPr/>
        </p:nvSpPr>
        <p:spPr>
          <a:xfrm>
            <a:off x="6492240" y="2852928"/>
            <a:ext cx="457200" cy="0"/>
          </a:xfrm>
          <a:prstGeom prst="line">
            <a:avLst/>
          </a:prstGeom>
          <a:noFill/>
          <a:ln w="16510">
            <a:solidFill>
              <a:srgbClr val="12726B"/>
            </a:solidFill>
            <a:prstDash val="solid"/>
            <a:tailEnd type="triangle"/>
          </a:ln>
        </p:spPr>
      </p:sp>
      <p:sp>
        <p:nvSpPr>
          <p:cNvPr id="27" name="Shape 25"/>
          <p:cNvSpPr/>
          <p:nvPr/>
        </p:nvSpPr>
        <p:spPr>
          <a:xfrm>
            <a:off x="4754880" y="3520440"/>
            <a:ext cx="1737360" cy="777240"/>
          </a:xfrm>
          <a:prstGeom prst="roundRect">
            <a:avLst>
              <a:gd name="adj" fmla="val 8235"/>
            </a:avLst>
          </a:prstGeom>
          <a:solidFill>
            <a:srgbClr val="12726B"/>
          </a:solidFill>
          <a:ln w="15240">
            <a:solidFill>
              <a:srgbClr val="12726B"/>
            </a:solidFill>
            <a:prstDash val="solid"/>
          </a:ln>
        </p:spPr>
      </p:sp>
      <p:sp>
        <p:nvSpPr>
          <p:cNvPr id="28" name="Text 26"/>
          <p:cNvSpPr/>
          <p:nvPr/>
        </p:nvSpPr>
        <p:spPr>
          <a:xfrm>
            <a:off x="4800600" y="3520440"/>
            <a:ext cx="1645920" cy="777240"/>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Ticket</a:t>
            </a:r>
            <a:endParaRPr lang="en-US" sz="1000" dirty="0"/>
          </a:p>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Service</a:t>
            </a:r>
            <a:endParaRPr lang="en-US" sz="1000" dirty="0"/>
          </a:p>
        </p:txBody>
      </p:sp>
      <p:sp>
        <p:nvSpPr>
          <p:cNvPr id="29" name="Shape 27"/>
          <p:cNvSpPr/>
          <p:nvPr/>
        </p:nvSpPr>
        <p:spPr>
          <a:xfrm>
            <a:off x="6949440" y="3630168"/>
            <a:ext cx="1371600" cy="548640"/>
          </a:xfrm>
          <a:prstGeom prst="roundRect">
            <a:avLst>
              <a:gd name="adj" fmla="val 11667"/>
            </a:avLst>
          </a:prstGeom>
          <a:solidFill>
            <a:srgbClr val="3E5C76"/>
          </a:solidFill>
          <a:ln w="15240">
            <a:solidFill>
              <a:srgbClr val="3E5C76"/>
            </a:solidFill>
            <a:prstDash val="solid"/>
          </a:ln>
        </p:spPr>
      </p:sp>
      <p:sp>
        <p:nvSpPr>
          <p:cNvPr id="30" name="Text 28"/>
          <p:cNvSpPr/>
          <p:nvPr/>
        </p:nvSpPr>
        <p:spPr>
          <a:xfrm>
            <a:off x="6995160" y="3630168"/>
            <a:ext cx="1280160" cy="54864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DB</a:t>
            </a:r>
            <a:endParaRPr lang="en-US" sz="950" dirty="0"/>
          </a:p>
        </p:txBody>
      </p:sp>
      <p:sp>
        <p:nvSpPr>
          <p:cNvPr id="31" name="Shape 29"/>
          <p:cNvSpPr/>
          <p:nvPr/>
        </p:nvSpPr>
        <p:spPr>
          <a:xfrm>
            <a:off x="4160520" y="2560320"/>
            <a:ext cx="411480" cy="0"/>
          </a:xfrm>
          <a:prstGeom prst="line">
            <a:avLst/>
          </a:prstGeom>
          <a:noFill/>
          <a:ln w="16510">
            <a:solidFill>
              <a:srgbClr val="0B2545"/>
            </a:solidFill>
            <a:prstDash val="solid"/>
          </a:ln>
        </p:spPr>
      </p:sp>
      <p:sp>
        <p:nvSpPr>
          <p:cNvPr id="32" name="Shape 30"/>
          <p:cNvSpPr/>
          <p:nvPr/>
        </p:nvSpPr>
        <p:spPr>
          <a:xfrm>
            <a:off x="4572000" y="2560320"/>
            <a:ext cx="0" cy="1344168"/>
          </a:xfrm>
          <a:prstGeom prst="line">
            <a:avLst/>
          </a:prstGeom>
          <a:noFill/>
          <a:ln w="16510">
            <a:solidFill>
              <a:srgbClr val="0B2545"/>
            </a:solidFill>
            <a:prstDash val="solid"/>
          </a:ln>
        </p:spPr>
      </p:sp>
      <p:sp>
        <p:nvSpPr>
          <p:cNvPr id="33" name="Shape 31"/>
          <p:cNvSpPr/>
          <p:nvPr/>
        </p:nvSpPr>
        <p:spPr>
          <a:xfrm>
            <a:off x="4572000" y="3904488"/>
            <a:ext cx="182880" cy="0"/>
          </a:xfrm>
          <a:prstGeom prst="line">
            <a:avLst/>
          </a:prstGeom>
          <a:noFill/>
          <a:ln w="16510">
            <a:solidFill>
              <a:srgbClr val="0B2545"/>
            </a:solidFill>
            <a:prstDash val="solid"/>
            <a:tailEnd type="triangle"/>
          </a:ln>
        </p:spPr>
      </p:sp>
      <p:sp>
        <p:nvSpPr>
          <p:cNvPr id="34" name="Shape 32"/>
          <p:cNvSpPr/>
          <p:nvPr/>
        </p:nvSpPr>
        <p:spPr>
          <a:xfrm>
            <a:off x="6492240" y="3904488"/>
            <a:ext cx="457200" cy="0"/>
          </a:xfrm>
          <a:prstGeom prst="line">
            <a:avLst/>
          </a:prstGeom>
          <a:noFill/>
          <a:ln w="16510">
            <a:solidFill>
              <a:srgbClr val="12726B"/>
            </a:solidFill>
            <a:prstDash val="solid"/>
            <a:tailEnd type="triangle"/>
          </a:ln>
        </p:spPr>
      </p:sp>
      <p:sp>
        <p:nvSpPr>
          <p:cNvPr id="35" name="Text 33"/>
          <p:cNvSpPr/>
          <p:nvPr/>
        </p:nvSpPr>
        <p:spPr>
          <a:xfrm>
            <a:off x="6858000" y="1097280"/>
            <a:ext cx="2194560" cy="274320"/>
          </a:xfrm>
          <a:prstGeom prst="rect">
            <a:avLst/>
          </a:prstGeom>
          <a:noFill/>
          <a:ln/>
        </p:spPr>
        <p:txBody>
          <a:bodyPr wrap="square" lIns="0" tIns="0" rIns="0" bIns="0" rtlCol="0" anchor="ctr"/>
          <a:lstStyle/>
          <a:p>
            <a:pPr algn="ctr" indent="0" marL="0">
              <a:buNone/>
            </a:pPr>
            <a:r>
              <a:rPr lang="en-US" sz="950" b="1" i="1" dirty="0">
                <a:solidFill>
                  <a:srgbClr val="B23A32"/>
                </a:solidFill>
                <a:latin typeface="Calibri" pitchFamily="34" charset="0"/>
                <a:ea typeface="Calibri" pitchFamily="34" charset="-122"/>
                <a:cs typeface="Calibri" pitchFamily="34" charset="-120"/>
              </a:rPr>
              <a:t>Mỗi service có CSDL RIÊNG</a:t>
            </a:r>
            <a:endParaRPr lang="en-US" sz="950" dirty="0"/>
          </a:p>
        </p:txBody>
      </p:sp>
      <p:sp>
        <p:nvSpPr>
          <p:cNvPr id="36" name="Shape 34"/>
          <p:cNvSpPr/>
          <p:nvPr/>
        </p:nvSpPr>
        <p:spPr>
          <a:xfrm>
            <a:off x="502920" y="4572000"/>
            <a:ext cx="8229600" cy="1645920"/>
          </a:xfrm>
          <a:prstGeom prst="roundRect">
            <a:avLst>
              <a:gd name="adj" fmla="val 4444"/>
            </a:avLst>
          </a:prstGeom>
          <a:solidFill>
            <a:srgbClr val="FDF2DA"/>
          </a:solidFill>
          <a:ln w="12700">
            <a:solidFill>
              <a:srgbClr val="E8A317"/>
            </a:solidFill>
            <a:prstDash val="solid"/>
          </a:ln>
        </p:spPr>
      </p:sp>
      <p:sp>
        <p:nvSpPr>
          <p:cNvPr id="37" name="Text 35"/>
          <p:cNvSpPr/>
          <p:nvPr/>
        </p:nvSpPr>
        <p:spPr>
          <a:xfrm>
            <a:off x="713232" y="4663440"/>
            <a:ext cx="7772400" cy="2743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Năm đặc trưng bắt buộc phải nêu được</a:t>
            </a:r>
            <a:endParaRPr lang="en-US" sz="1300" dirty="0"/>
          </a:p>
        </p:txBody>
      </p:sp>
      <p:sp>
        <p:nvSpPr>
          <p:cNvPr id="38" name="Text 36"/>
          <p:cNvSpPr/>
          <p:nvPr/>
        </p:nvSpPr>
        <p:spPr>
          <a:xfrm>
            <a:off x="713232" y="4956048"/>
            <a:ext cx="7863840" cy="1188720"/>
          </a:xfrm>
          <a:prstGeom prst="rect">
            <a:avLst/>
          </a:prstGeom>
          <a:noFill/>
          <a:ln/>
        </p:spPr>
        <p:txBody>
          <a:bodyPr wrap="square" lIns="0" tIns="0" rIns="0" bIns="0" rtlCol="0" anchor="t"/>
          <a:lstStyle/>
          <a:p>
            <a:pPr indent="0" marL="0">
              <a:lnSpc>
                <a:spcPct val="110000"/>
              </a:lnSpc>
              <a:buNone/>
            </a:pPr>
            <a:r>
              <a:rPr lang="en-US" sz="1050" dirty="0">
                <a:solidFill>
                  <a:srgbClr val="13315C"/>
                </a:solidFill>
                <a:latin typeface="Calibri" pitchFamily="34" charset="0"/>
                <a:ea typeface="Calibri" pitchFamily="34" charset="-122"/>
                <a:cs typeface="Calibri" pitchFamily="34" charset="-120"/>
              </a:rPr>
              <a:t>① Mỗi service quản lý một năng lực nghiệp vụ (business capability) và có CƠ SỞ DỮ LIỆU RIÊNG — đây là điểm phân biệt rõ nhất với SOA.</a:t>
            </a:r>
            <a:endParaRPr lang="en-US" sz="1050" dirty="0"/>
          </a:p>
          <a:p>
            <a:pPr indent="0" marL="0">
              <a:lnSpc>
                <a:spcPct val="110000"/>
              </a:lnSpc>
              <a:buNone/>
            </a:pPr>
            <a:r>
              <a:rPr lang="en-US" sz="1050" dirty="0">
                <a:solidFill>
                  <a:srgbClr val="13315C"/>
                </a:solidFill>
                <a:latin typeface="Calibri" pitchFamily="34" charset="0"/>
                <a:ea typeface="Calibri" pitchFamily="34" charset="-122"/>
                <a:cs typeface="Calibri" pitchFamily="34" charset="-120"/>
              </a:rPr>
              <a:t>② Triển khai độc lập: cập nhật Payment Service không cần dừng Parking Service.</a:t>
            </a:r>
            <a:endParaRPr lang="en-US" sz="1050" dirty="0"/>
          </a:p>
          <a:p>
            <a:pPr indent="0" marL="0">
              <a:lnSpc>
                <a:spcPct val="110000"/>
              </a:lnSpc>
              <a:buNone/>
            </a:pPr>
            <a:r>
              <a:rPr lang="en-US" sz="1050" dirty="0">
                <a:solidFill>
                  <a:srgbClr val="13315C"/>
                </a:solidFill>
                <a:latin typeface="Calibri" pitchFamily="34" charset="0"/>
                <a:ea typeface="Calibri" pitchFamily="34" charset="-122"/>
                <a:cs typeface="Calibri" pitchFamily="34" charset="-120"/>
              </a:rPr>
              <a:t>③ Giao tiếp nhẹ qua REST/HTTP hoặc message queue, không dùng ESB nặng như SOA truyền thống.</a:t>
            </a:r>
            <a:endParaRPr lang="en-US" sz="1050" dirty="0"/>
          </a:p>
          <a:p>
            <a:pPr indent="0" marL="0">
              <a:lnSpc>
                <a:spcPct val="110000"/>
              </a:lnSpc>
              <a:buNone/>
            </a:pPr>
            <a:r>
              <a:rPr lang="en-US" sz="1050" dirty="0">
                <a:solidFill>
                  <a:srgbClr val="13315C"/>
                </a:solidFill>
                <a:latin typeface="Calibri" pitchFamily="34" charset="0"/>
                <a:ea typeface="Calibri" pitchFamily="34" charset="-122"/>
                <a:cs typeface="Calibri" pitchFamily="34" charset="-120"/>
              </a:rPr>
              <a:t>④ API Gateway làm cửa ngõ duy nhất cho client.   ⑤ Mỗi service có thể dùng ngôn ngữ và công nghệ khác nhau.</a:t>
            </a:r>
            <a:endParaRPr lang="en-US" sz="1050" dirty="0"/>
          </a:p>
        </p:txBody>
      </p:sp>
      <p:sp>
        <p:nvSpPr>
          <p:cNvPr id="39" name="Shape 37"/>
          <p:cNvSpPr/>
          <p:nvPr/>
        </p:nvSpPr>
        <p:spPr>
          <a:xfrm>
            <a:off x="9006840" y="1325880"/>
            <a:ext cx="2651760" cy="4892040"/>
          </a:xfrm>
          <a:prstGeom prst="roundRect">
            <a:avLst>
              <a:gd name="adj" fmla="val 2759"/>
            </a:avLst>
          </a:prstGeom>
          <a:solidFill>
            <a:srgbClr val="0B2545"/>
          </a:solidFill>
          <a:ln w="12700">
            <a:solidFill>
              <a:srgbClr val="0B2545"/>
            </a:solidFill>
            <a:prstDash val="solid"/>
          </a:ln>
        </p:spPr>
      </p:sp>
      <p:sp>
        <p:nvSpPr>
          <p:cNvPr id="40" name="Text 38"/>
          <p:cNvSpPr/>
          <p:nvPr/>
        </p:nvSpPr>
        <p:spPr>
          <a:xfrm>
            <a:off x="9189720" y="1426464"/>
            <a:ext cx="2286000" cy="274320"/>
          </a:xfrm>
          <a:prstGeom prst="rect">
            <a:avLst/>
          </a:prstGeom>
          <a:noFill/>
          <a:ln/>
        </p:spPr>
        <p:txBody>
          <a:bodyPr wrap="square" lIns="0" tIns="0" rIns="0" bIns="0" rtlCol="0" anchor="ctr"/>
          <a:lstStyle/>
          <a:p>
            <a:pPr indent="0" marL="0">
              <a:buNone/>
            </a:pPr>
            <a:r>
              <a:rPr lang="en-US" sz="1350" b="1" dirty="0">
                <a:solidFill>
                  <a:srgbClr val="E8A317"/>
                </a:solidFill>
                <a:latin typeface="Calibri" pitchFamily="34" charset="0"/>
                <a:ea typeface="Calibri" pitchFamily="34" charset="-122"/>
                <a:cs typeface="Calibri" pitchFamily="34" charset="-120"/>
              </a:rPr>
              <a:t>Cái giá phải trả</a:t>
            </a:r>
            <a:endParaRPr lang="en-US" sz="1350" dirty="0"/>
          </a:p>
        </p:txBody>
      </p:sp>
      <p:sp>
        <p:nvSpPr>
          <p:cNvPr id="41" name="Text 39"/>
          <p:cNvSpPr/>
          <p:nvPr/>
        </p:nvSpPr>
        <p:spPr>
          <a:xfrm>
            <a:off x="9189720" y="1828800"/>
            <a:ext cx="22860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Nhất quán dữ liệu</a:t>
            </a:r>
            <a:endParaRPr lang="en-US" sz="1150" dirty="0"/>
          </a:p>
        </p:txBody>
      </p:sp>
      <p:sp>
        <p:nvSpPr>
          <p:cNvPr id="42" name="Text 40"/>
          <p:cNvSpPr/>
          <p:nvPr/>
        </p:nvSpPr>
        <p:spPr>
          <a:xfrm>
            <a:off x="9189720" y="2103120"/>
            <a:ext cx="2331720" cy="777240"/>
          </a:xfrm>
          <a:prstGeom prst="rect">
            <a:avLst/>
          </a:prstGeom>
          <a:noFill/>
          <a:ln/>
        </p:spPr>
        <p:txBody>
          <a:bodyPr wrap="square" lIns="0" tIns="0" rIns="0" bIns="0" rtlCol="0" anchor="t"/>
          <a:lstStyle/>
          <a:p>
            <a:pPr indent="0" marL="0">
              <a:lnSpc>
                <a:spcPct val="106000"/>
              </a:lnSpc>
              <a:buNone/>
            </a:pPr>
            <a:r>
              <a:rPr lang="en-US" sz="950" dirty="0">
                <a:solidFill>
                  <a:srgbClr val="C3D5E8"/>
                </a:solidFill>
                <a:latin typeface="Calibri" pitchFamily="34" charset="0"/>
                <a:ea typeface="Calibri" pitchFamily="34" charset="-122"/>
                <a:cs typeface="Calibri" pitchFamily="34" charset="-120"/>
              </a:rPr>
              <a:t>Không còn transaction xuyên hệ thống. Phải chấp nhận eventual consistency hoặc dùng saga pattern.</a:t>
            </a:r>
            <a:endParaRPr lang="en-US" sz="950" dirty="0"/>
          </a:p>
        </p:txBody>
      </p:sp>
      <p:sp>
        <p:nvSpPr>
          <p:cNvPr id="43" name="Text 41"/>
          <p:cNvSpPr/>
          <p:nvPr/>
        </p:nvSpPr>
        <p:spPr>
          <a:xfrm>
            <a:off x="9189720" y="2926080"/>
            <a:ext cx="22860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Gỡ lỗi phân tán</a:t>
            </a:r>
            <a:endParaRPr lang="en-US" sz="1150" dirty="0"/>
          </a:p>
        </p:txBody>
      </p:sp>
      <p:sp>
        <p:nvSpPr>
          <p:cNvPr id="44" name="Text 42"/>
          <p:cNvSpPr/>
          <p:nvPr/>
        </p:nvSpPr>
        <p:spPr>
          <a:xfrm>
            <a:off x="9189720" y="3200400"/>
            <a:ext cx="2331720" cy="777240"/>
          </a:xfrm>
          <a:prstGeom prst="rect">
            <a:avLst/>
          </a:prstGeom>
          <a:noFill/>
          <a:ln/>
        </p:spPr>
        <p:txBody>
          <a:bodyPr wrap="square" lIns="0" tIns="0" rIns="0" bIns="0" rtlCol="0" anchor="t"/>
          <a:lstStyle/>
          <a:p>
            <a:pPr indent="0" marL="0">
              <a:lnSpc>
                <a:spcPct val="106000"/>
              </a:lnSpc>
              <a:buNone/>
            </a:pPr>
            <a:r>
              <a:rPr lang="en-US" sz="950" dirty="0">
                <a:solidFill>
                  <a:srgbClr val="C3D5E8"/>
                </a:solidFill>
                <a:latin typeface="Calibri" pitchFamily="34" charset="0"/>
                <a:ea typeface="Calibri" pitchFamily="34" charset="-122"/>
                <a:cs typeface="Calibri" pitchFamily="34" charset="-120"/>
              </a:rPr>
              <a:t>Một yêu cầu đi qua 5 service; muốn lần vết phải có distributed tracing.</a:t>
            </a:r>
            <a:endParaRPr lang="en-US" sz="950" dirty="0"/>
          </a:p>
        </p:txBody>
      </p:sp>
      <p:sp>
        <p:nvSpPr>
          <p:cNvPr id="45" name="Text 43"/>
          <p:cNvSpPr/>
          <p:nvPr/>
        </p:nvSpPr>
        <p:spPr>
          <a:xfrm>
            <a:off x="9189720" y="4023360"/>
            <a:ext cx="22860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Chi phí vận hành</a:t>
            </a:r>
            <a:endParaRPr lang="en-US" sz="1150" dirty="0"/>
          </a:p>
        </p:txBody>
      </p:sp>
      <p:sp>
        <p:nvSpPr>
          <p:cNvPr id="46" name="Text 44"/>
          <p:cNvSpPr/>
          <p:nvPr/>
        </p:nvSpPr>
        <p:spPr>
          <a:xfrm>
            <a:off x="9189720" y="4297680"/>
            <a:ext cx="2331720" cy="777240"/>
          </a:xfrm>
          <a:prstGeom prst="rect">
            <a:avLst/>
          </a:prstGeom>
          <a:noFill/>
          <a:ln/>
        </p:spPr>
        <p:txBody>
          <a:bodyPr wrap="square" lIns="0" tIns="0" rIns="0" bIns="0" rtlCol="0" anchor="t"/>
          <a:lstStyle/>
          <a:p>
            <a:pPr indent="0" marL="0">
              <a:lnSpc>
                <a:spcPct val="106000"/>
              </a:lnSpc>
              <a:buNone/>
            </a:pPr>
            <a:r>
              <a:rPr lang="en-US" sz="950" dirty="0">
                <a:solidFill>
                  <a:srgbClr val="C3D5E8"/>
                </a:solidFill>
                <a:latin typeface="Calibri" pitchFamily="34" charset="0"/>
                <a:ea typeface="Calibri" pitchFamily="34" charset="-122"/>
                <a:cs typeface="Calibri" pitchFamily="34" charset="-120"/>
              </a:rPr>
              <a:t>CI/CD, container, monitoring cho hàng chục service — cần cả một đội DevOps.</a:t>
            </a:r>
            <a:endParaRPr lang="en-US" sz="950" dirty="0"/>
          </a:p>
        </p:txBody>
      </p:sp>
      <p:sp>
        <p:nvSpPr>
          <p:cNvPr id="47" name="Text 45"/>
          <p:cNvSpPr/>
          <p:nvPr/>
        </p:nvSpPr>
        <p:spPr>
          <a:xfrm>
            <a:off x="9189720" y="5120640"/>
            <a:ext cx="22860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Độ trễ mạng</a:t>
            </a:r>
            <a:endParaRPr lang="en-US" sz="1150" dirty="0"/>
          </a:p>
        </p:txBody>
      </p:sp>
      <p:sp>
        <p:nvSpPr>
          <p:cNvPr id="48" name="Text 46"/>
          <p:cNvSpPr/>
          <p:nvPr/>
        </p:nvSpPr>
        <p:spPr>
          <a:xfrm>
            <a:off x="9189720" y="5394960"/>
            <a:ext cx="2331720" cy="777240"/>
          </a:xfrm>
          <a:prstGeom prst="rect">
            <a:avLst/>
          </a:prstGeom>
          <a:noFill/>
          <a:ln/>
        </p:spPr>
        <p:txBody>
          <a:bodyPr wrap="square" lIns="0" tIns="0" rIns="0" bIns="0" rtlCol="0" anchor="t"/>
          <a:lstStyle/>
          <a:p>
            <a:pPr indent="0" marL="0">
              <a:lnSpc>
                <a:spcPct val="106000"/>
              </a:lnSpc>
              <a:buNone/>
            </a:pPr>
            <a:r>
              <a:rPr lang="en-US" sz="950" dirty="0">
                <a:solidFill>
                  <a:srgbClr val="C3D5E8"/>
                </a:solidFill>
                <a:latin typeface="Calibri" pitchFamily="34" charset="0"/>
                <a:ea typeface="Calibri" pitchFamily="34" charset="-122"/>
                <a:cs typeface="Calibri" pitchFamily="34" charset="-120"/>
              </a:rPr>
              <a:t>Mỗi lời gọi nội bộ giờ là một lời gọi mạng, chậm hơn hàng nghìn lần so với gọi hàm.</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13</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SOA và Microservices khác nhau chỗ nào?</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Câu hỏi rất hay gặp trong Theory Exam vì hai khái niệm nghe rất giống nhau</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55680" cy="914400"/>
        </p:xfrm>
        <a:graphic>
          <a:graphicData uri="http://schemas.openxmlformats.org/drawingml/2006/table">
            <a:tbl>
              <a:tblPr/>
              <a:tblGrid>
                <a:gridCol w="2194560"/>
                <a:gridCol w="4480560"/>
                <a:gridCol w="448056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Tiêu chí</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SOA (Chapter 16)</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Microservices</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r>
              <a:tr h="548640">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Phạm vi dịch vụ</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Thường lớn, mang tính doanh nghiệp (enterprise service)</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13315C"/>
                          </a:solidFill>
                          <a:latin typeface="Calibri" pitchFamily="34" charset="0"/>
                          <a:ea typeface="Calibri" pitchFamily="34" charset="-122"/>
                          <a:cs typeface="Calibri" pitchFamily="34" charset="-120"/>
                        </a:rPr>
                        <a:t>Nhỏ, mỗi service một năng lực nghiệp vụ hẹp</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Cơ sở dữ liệu</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Nhiều dịch vụ CÓ THỂ dùng chung một CSDL</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13315C"/>
                          </a:solidFill>
                          <a:latin typeface="Calibri" pitchFamily="34" charset="0"/>
                          <a:ea typeface="Calibri" pitchFamily="34" charset="-122"/>
                          <a:cs typeface="Calibri" pitchFamily="34" charset="-120"/>
                        </a:rPr>
                        <a:t>Mỗi service có CSDL RIÊNG, không truy cập chéo</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Kênh giao tiếp</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Thường qua ESB (Enterprise Service Bus) — thông minh, nặng</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13315C"/>
                          </a:solidFill>
                          <a:latin typeface="Calibri" pitchFamily="34" charset="0"/>
                          <a:ea typeface="Calibri" pitchFamily="34" charset="-122"/>
                          <a:cs typeface="Calibri" pitchFamily="34" charset="-120"/>
                        </a:rPr>
                        <a:t>REST/HTTP hoặc message queue — “dumb pipes, smart endpoints”</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Triển khai</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Thường triển khai theo khối lớn, có phối hợp</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13315C"/>
                          </a:solidFill>
                          <a:latin typeface="Calibri" pitchFamily="34" charset="0"/>
                          <a:ea typeface="Calibri" pitchFamily="34" charset="-122"/>
                          <a:cs typeface="Calibri" pitchFamily="34" charset="-120"/>
                        </a:rPr>
                        <a:t>Mỗi service triển khai độc lập, nhiều lần trong ngày</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Chia sẻ mã</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Khuyến khích dùng lại thư viện và mô hình dữ liệu chung</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13315C"/>
                          </a:solidFill>
                          <a:latin typeface="Calibri" pitchFamily="34" charset="0"/>
                          <a:ea typeface="Calibri" pitchFamily="34" charset="-122"/>
                          <a:cs typeface="Calibri" pitchFamily="34" charset="-120"/>
                        </a:rPr>
                        <a:t>Chấp nhận trùng lặp mã để đổi lấy sự độc lập</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Mục tiêu chính</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Tích hợp các hệ thống sẵn có trong doanh nghiệp</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13315C"/>
                          </a:solidFill>
                          <a:latin typeface="Calibri" pitchFamily="34" charset="0"/>
                          <a:ea typeface="Calibri" pitchFamily="34" charset="-122"/>
                          <a:cs typeface="Calibri" pitchFamily="34" charset="-120"/>
                        </a:rPr>
                        <a:t>Tốc độ phát triển và khả năng mở rộng độc lập</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0B2545"/>
                          </a:solidFill>
                          <a:latin typeface="Calibri" pitchFamily="34" charset="0"/>
                          <a:ea typeface="Calibri" pitchFamily="34" charset="-122"/>
                          <a:cs typeface="Calibri" pitchFamily="34" charset="-120"/>
                        </a:rPr>
                        <a:t>Quy mô đội</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3E5C76"/>
                          </a:solidFill>
                          <a:latin typeface="Calibri" pitchFamily="34" charset="0"/>
                          <a:ea typeface="Calibri" pitchFamily="34" charset="-122"/>
                          <a:cs typeface="Calibri" pitchFamily="34" charset="-120"/>
                        </a:rPr>
                        <a:t>Nhiều đội cùng làm trên nền tảng chung</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100" dirty="0">
                          <a:solidFill>
                            <a:srgbClr val="13315C"/>
                          </a:solidFill>
                          <a:latin typeface="Calibri" pitchFamily="34" charset="0"/>
                          <a:ea typeface="Calibri" pitchFamily="34" charset="-122"/>
                          <a:cs typeface="Calibri" pitchFamily="34" charset="-120"/>
                        </a:rPr>
                        <a:t>Mỗi đội sở hữu trọn vẹn một service (“you build it, you run it”)</a:t>
                      </a:r>
                      <a:endParaRPr lang="en-US" sz="11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486400"/>
            <a:ext cx="11155680" cy="777240"/>
          </a:xfrm>
          <a:prstGeom prst="roundRect">
            <a:avLst>
              <a:gd name="adj" fmla="val 9412"/>
            </a:avLst>
          </a:prstGeom>
          <a:solidFill>
            <a:srgbClr val="FDF2DA"/>
          </a:solidFill>
          <a:ln w="12700">
            <a:solidFill>
              <a:srgbClr val="E8A317"/>
            </a:solidFill>
            <a:prstDash val="solid"/>
          </a:ln>
        </p:spPr>
      </p:sp>
      <p:sp>
        <p:nvSpPr>
          <p:cNvPr id="8" name="Text 5"/>
          <p:cNvSpPr/>
          <p:nvPr/>
        </p:nvSpPr>
        <p:spPr>
          <a:xfrm>
            <a:off x="731520" y="5577840"/>
            <a:ext cx="10698480" cy="59436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Một câu để nhớ: </a:t>
            </a:r>
            <a:pPr indent="0" marL="0">
              <a:buNone/>
            </a:pPr>
            <a:r>
              <a:rPr lang="en-US" sz="1250" dirty="0">
                <a:solidFill>
                  <a:srgbClr val="13315C"/>
                </a:solidFill>
                <a:latin typeface="Calibri" pitchFamily="34" charset="0"/>
                <a:ea typeface="Calibri" pitchFamily="34" charset="-122"/>
                <a:cs typeface="Calibri" pitchFamily="34" charset="-120"/>
              </a:rPr>
              <a:t>SOA sinh ra để TÍCH HỢP những hệ thống đã có; Microservices sinh ra để PHÂN RÃ một hệ thống mới thành các phần triển khai độc lập.</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14</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Layered hay Microservices? — quyết định của bài thi</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Đề Practical Exam bắt chọn một trong hai và dùng nhất quán cho cả ba sơ đồ</a:t>
            </a:r>
            <a:endParaRPr lang="en-US" sz="1300" dirty="0"/>
          </a:p>
        </p:txBody>
      </p:sp>
      <p:sp>
        <p:nvSpPr>
          <p:cNvPr id="6" name="Shape 4"/>
          <p:cNvSpPr/>
          <p:nvPr/>
        </p:nvSpPr>
        <p:spPr>
          <a:xfrm>
            <a:off x="502920" y="1298448"/>
            <a:ext cx="5532120" cy="4114800"/>
          </a:xfrm>
          <a:prstGeom prst="roundRect">
            <a:avLst>
              <a:gd name="adj" fmla="val 1778"/>
            </a:avLst>
          </a:prstGeom>
          <a:solidFill>
            <a:srgbClr val="F1F5F9"/>
          </a:solidFill>
          <a:ln w="12700">
            <a:solidFill>
              <a:srgbClr val="0B2545"/>
            </a:solidFill>
            <a:prstDash val="solid"/>
          </a:ln>
        </p:spPr>
      </p:sp>
      <p:sp>
        <p:nvSpPr>
          <p:cNvPr id="7" name="Text 5"/>
          <p:cNvSpPr/>
          <p:nvPr/>
        </p:nvSpPr>
        <p:spPr>
          <a:xfrm>
            <a:off x="731520" y="1408176"/>
            <a:ext cx="5120640" cy="310896"/>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LAYERED ARCHITECTURE</a:t>
            </a:r>
            <a:endParaRPr lang="en-US" sz="1600" dirty="0"/>
          </a:p>
        </p:txBody>
      </p:sp>
      <p:sp>
        <p:nvSpPr>
          <p:cNvPr id="8" name="Text 6"/>
          <p:cNvSpPr/>
          <p:nvPr/>
        </p:nvSpPr>
        <p:spPr>
          <a:xfrm>
            <a:off x="731520" y="1737360"/>
            <a:ext cx="5120640" cy="256032"/>
          </a:xfrm>
          <a:prstGeom prst="rect">
            <a:avLst/>
          </a:prstGeom>
          <a:noFill/>
          <a:ln/>
        </p:spPr>
        <p:txBody>
          <a:bodyPr wrap="square" lIns="0" tIns="0" rIns="0" bIns="0" rtlCol="0" anchor="ctr"/>
          <a:lstStyle/>
          <a:p>
            <a:pPr indent="0" marL="0">
              <a:buNone/>
            </a:pPr>
            <a:r>
              <a:rPr lang="en-US" sz="1050" i="1" dirty="0">
                <a:solidFill>
                  <a:srgbClr val="6B7A8F"/>
                </a:solidFill>
                <a:latin typeface="Calibri" pitchFamily="34" charset="0"/>
                <a:ea typeface="Calibri" pitchFamily="34" charset="-122"/>
                <a:cs typeface="Calibri" pitchFamily="34" charset="-120"/>
              </a:rPr>
              <a:t>Một khối triển khai, chia tầng bên trong</a:t>
            </a:r>
            <a:endParaRPr lang="en-US" sz="1050" dirty="0"/>
          </a:p>
        </p:txBody>
      </p:sp>
      <p:sp>
        <p:nvSpPr>
          <p:cNvPr id="9" name="Shape 7"/>
          <p:cNvSpPr/>
          <p:nvPr/>
        </p:nvSpPr>
        <p:spPr>
          <a:xfrm>
            <a:off x="731520" y="2103120"/>
            <a:ext cx="5120640" cy="713232"/>
          </a:xfrm>
          <a:prstGeom prst="rect">
            <a:avLst/>
          </a:prstGeom>
          <a:solidFill>
            <a:srgbClr val="FFFFFF"/>
          </a:solidFill>
          <a:ln w="12700">
            <a:solidFill>
              <a:srgbClr val="C9D6E2"/>
            </a:solidFill>
            <a:prstDash val="solid"/>
          </a:ln>
        </p:spPr>
      </p:sp>
      <p:sp>
        <p:nvSpPr>
          <p:cNvPr id="10" name="Text 8"/>
          <p:cNvSpPr/>
          <p:nvPr/>
        </p:nvSpPr>
        <p:spPr>
          <a:xfrm>
            <a:off x="896112" y="2148840"/>
            <a:ext cx="4846320" cy="237744"/>
          </a:xfrm>
          <a:prstGeom prst="rect">
            <a:avLst/>
          </a:prstGeom>
          <a:noFill/>
          <a:ln/>
        </p:spPr>
        <p:txBody>
          <a:bodyPr wrap="square" lIns="0" tIns="0" rIns="0" bIns="0" rtlCol="0" anchor="ctr"/>
          <a:lstStyle/>
          <a:p>
            <a:pPr indent="0" marL="0">
              <a:buNone/>
            </a:pPr>
            <a:r>
              <a:rPr lang="en-US" sz="1150" b="1" dirty="0">
                <a:solidFill>
                  <a:srgbClr val="1E7A44"/>
                </a:solidFill>
                <a:latin typeface="Calibri" pitchFamily="34" charset="0"/>
                <a:ea typeface="Calibri" pitchFamily="34" charset="-122"/>
                <a:cs typeface="Calibri" pitchFamily="34" charset="-120"/>
              </a:rPr>
              <a:t>Vẽ nhanh hơn nhiều</a:t>
            </a:r>
            <a:endParaRPr lang="en-US" sz="1150" dirty="0"/>
          </a:p>
        </p:txBody>
      </p:sp>
      <p:sp>
        <p:nvSpPr>
          <p:cNvPr id="11" name="Text 9"/>
          <p:cNvSpPr/>
          <p:nvPr/>
        </p:nvSpPr>
        <p:spPr>
          <a:xfrm>
            <a:off x="896112" y="2386584"/>
            <a:ext cx="4846320" cy="384048"/>
          </a:xfrm>
          <a:prstGeom prst="rect">
            <a:avLst/>
          </a:prstGeom>
          <a:noFill/>
          <a:ln/>
        </p:spPr>
        <p:txBody>
          <a:bodyPr wrap="square" lIns="0" tIns="0" rIns="0" bIns="0" rtlCol="0" anchor="t"/>
          <a:lstStyle/>
          <a:p>
            <a:pPr indent="0" marL="0">
              <a:lnSpc>
                <a:spcPct val="105000"/>
              </a:lnSpc>
              <a:buNone/>
            </a:pPr>
            <a:r>
              <a:rPr lang="en-US" sz="1000" dirty="0">
                <a:solidFill>
                  <a:srgbClr val="3E5C76"/>
                </a:solidFill>
                <a:latin typeface="Calibri" pitchFamily="34" charset="0"/>
                <a:ea typeface="Calibri" pitchFamily="34" charset="-122"/>
                <a:cs typeface="Calibri" pitchFamily="34" charset="-120"/>
              </a:rPr>
              <a:t>Ba tầng, mỗi tầng vài lớp. Trong 85 phút thi đây là lợi thế lớn.</a:t>
            </a:r>
            <a:endParaRPr lang="en-US" sz="1000" dirty="0"/>
          </a:p>
        </p:txBody>
      </p:sp>
      <p:sp>
        <p:nvSpPr>
          <p:cNvPr id="12" name="Shape 10"/>
          <p:cNvSpPr/>
          <p:nvPr/>
        </p:nvSpPr>
        <p:spPr>
          <a:xfrm>
            <a:off x="731520" y="2907792"/>
            <a:ext cx="5120640" cy="713232"/>
          </a:xfrm>
          <a:prstGeom prst="rect">
            <a:avLst/>
          </a:prstGeom>
          <a:solidFill>
            <a:srgbClr val="FFFFFF"/>
          </a:solidFill>
          <a:ln w="12700">
            <a:solidFill>
              <a:srgbClr val="C9D6E2"/>
            </a:solidFill>
            <a:prstDash val="solid"/>
          </a:ln>
        </p:spPr>
      </p:sp>
      <p:sp>
        <p:nvSpPr>
          <p:cNvPr id="13" name="Text 11"/>
          <p:cNvSpPr/>
          <p:nvPr/>
        </p:nvSpPr>
        <p:spPr>
          <a:xfrm>
            <a:off x="896112" y="2953512"/>
            <a:ext cx="4846320" cy="237744"/>
          </a:xfrm>
          <a:prstGeom prst="rect">
            <a:avLst/>
          </a:prstGeom>
          <a:noFill/>
          <a:ln/>
        </p:spPr>
        <p:txBody>
          <a:bodyPr wrap="square" lIns="0" tIns="0" rIns="0" bIns="0" rtlCol="0" anchor="ctr"/>
          <a:lstStyle/>
          <a:p>
            <a:pPr indent="0" marL="0">
              <a:buNone/>
            </a:pPr>
            <a:r>
              <a:rPr lang="en-US" sz="1150" b="1" dirty="0">
                <a:solidFill>
                  <a:srgbClr val="1E7A44"/>
                </a:solidFill>
                <a:latin typeface="Calibri" pitchFamily="34" charset="0"/>
                <a:ea typeface="Calibri" pitchFamily="34" charset="-122"/>
                <a:cs typeface="Calibri" pitchFamily="34" charset="-120"/>
              </a:rPr>
              <a:t>Dễ giữ nhất quán</a:t>
            </a:r>
            <a:endParaRPr lang="en-US" sz="1150" dirty="0"/>
          </a:p>
        </p:txBody>
      </p:sp>
      <p:sp>
        <p:nvSpPr>
          <p:cNvPr id="14" name="Text 12"/>
          <p:cNvSpPr/>
          <p:nvPr/>
        </p:nvSpPr>
        <p:spPr>
          <a:xfrm>
            <a:off x="896112" y="3191256"/>
            <a:ext cx="4846320" cy="384048"/>
          </a:xfrm>
          <a:prstGeom prst="rect">
            <a:avLst/>
          </a:prstGeom>
          <a:noFill/>
          <a:ln/>
        </p:spPr>
        <p:txBody>
          <a:bodyPr wrap="square" lIns="0" tIns="0" rIns="0" bIns="0" rtlCol="0" anchor="t"/>
          <a:lstStyle/>
          <a:p>
            <a:pPr indent="0" marL="0">
              <a:lnSpc>
                <a:spcPct val="105000"/>
              </a:lnSpc>
              <a:buNone/>
            </a:pPr>
            <a:r>
              <a:rPr lang="en-US" sz="1000" dirty="0">
                <a:solidFill>
                  <a:srgbClr val="3E5C76"/>
                </a:solidFill>
                <a:latin typeface="Calibri" pitchFamily="34" charset="0"/>
                <a:ea typeface="Calibri" pitchFamily="34" charset="-122"/>
                <a:cs typeface="Calibri" pitchFamily="34" charset="-120"/>
              </a:rPr>
              <a:t>Class, Sequence, Activity đều ánh xạ thẳng vào ba tầng, khó vẽ lệch nhau.</a:t>
            </a:r>
            <a:endParaRPr lang="en-US" sz="1000" dirty="0"/>
          </a:p>
        </p:txBody>
      </p:sp>
      <p:sp>
        <p:nvSpPr>
          <p:cNvPr id="15" name="Shape 13"/>
          <p:cNvSpPr/>
          <p:nvPr/>
        </p:nvSpPr>
        <p:spPr>
          <a:xfrm>
            <a:off x="731520" y="3712464"/>
            <a:ext cx="5120640" cy="713232"/>
          </a:xfrm>
          <a:prstGeom prst="rect">
            <a:avLst/>
          </a:prstGeom>
          <a:solidFill>
            <a:srgbClr val="FFFFFF"/>
          </a:solidFill>
          <a:ln w="12700">
            <a:solidFill>
              <a:srgbClr val="C9D6E2"/>
            </a:solidFill>
            <a:prstDash val="solid"/>
          </a:ln>
        </p:spPr>
      </p:sp>
      <p:sp>
        <p:nvSpPr>
          <p:cNvPr id="16" name="Text 14"/>
          <p:cNvSpPr/>
          <p:nvPr/>
        </p:nvSpPr>
        <p:spPr>
          <a:xfrm>
            <a:off x="896112" y="3758184"/>
            <a:ext cx="4846320" cy="237744"/>
          </a:xfrm>
          <a:prstGeom prst="rect">
            <a:avLst/>
          </a:prstGeom>
          <a:noFill/>
          <a:ln/>
        </p:spPr>
        <p:txBody>
          <a:bodyPr wrap="square" lIns="0" tIns="0" rIns="0" bIns="0" rtlCol="0" anchor="ctr"/>
          <a:lstStyle/>
          <a:p>
            <a:pPr indent="0" marL="0">
              <a:buNone/>
            </a:pPr>
            <a:r>
              <a:rPr lang="en-US" sz="1150" b="1" dirty="0">
                <a:solidFill>
                  <a:srgbClr val="1E7A44"/>
                </a:solidFill>
                <a:latin typeface="Calibri" pitchFamily="34" charset="0"/>
                <a:ea typeface="Calibri" pitchFamily="34" charset="-122"/>
                <a:cs typeface="Calibri" pitchFamily="34" charset="-120"/>
              </a:rPr>
              <a:t>Khớp với Repository Pattern</a:t>
            </a:r>
            <a:endParaRPr lang="en-US" sz="1150" dirty="0"/>
          </a:p>
        </p:txBody>
      </p:sp>
      <p:sp>
        <p:nvSpPr>
          <p:cNvPr id="17" name="Text 15"/>
          <p:cNvSpPr/>
          <p:nvPr/>
        </p:nvSpPr>
        <p:spPr>
          <a:xfrm>
            <a:off x="896112" y="3995928"/>
            <a:ext cx="4846320" cy="384048"/>
          </a:xfrm>
          <a:prstGeom prst="rect">
            <a:avLst/>
          </a:prstGeom>
          <a:noFill/>
          <a:ln/>
        </p:spPr>
        <p:txBody>
          <a:bodyPr wrap="square" lIns="0" tIns="0" rIns="0" bIns="0" rtlCol="0" anchor="t"/>
          <a:lstStyle/>
          <a:p>
            <a:pPr indent="0" marL="0">
              <a:lnSpc>
                <a:spcPct val="105000"/>
              </a:lnSpc>
              <a:buNone/>
            </a:pPr>
            <a:r>
              <a:rPr lang="en-US" sz="1000" dirty="0">
                <a:solidFill>
                  <a:srgbClr val="3E5C76"/>
                </a:solidFill>
                <a:latin typeface="Calibri" pitchFamily="34" charset="0"/>
                <a:ea typeface="Calibri" pitchFamily="34" charset="-122"/>
                <a:cs typeface="Calibri" pitchFamily="34" charset="-120"/>
              </a:rPr>
              <a:t>Đề bắt buộc Repository — đó chính là tầng Data Access của Layered.</a:t>
            </a:r>
            <a:endParaRPr lang="en-US" sz="1000" dirty="0"/>
          </a:p>
        </p:txBody>
      </p:sp>
      <p:sp>
        <p:nvSpPr>
          <p:cNvPr id="18" name="Shape 16"/>
          <p:cNvSpPr/>
          <p:nvPr/>
        </p:nvSpPr>
        <p:spPr>
          <a:xfrm>
            <a:off x="731520" y="4517136"/>
            <a:ext cx="5120640" cy="713232"/>
          </a:xfrm>
          <a:prstGeom prst="rect">
            <a:avLst/>
          </a:prstGeom>
          <a:solidFill>
            <a:srgbClr val="FFFFFF"/>
          </a:solidFill>
          <a:ln w="12700">
            <a:solidFill>
              <a:srgbClr val="C9D6E2"/>
            </a:solidFill>
            <a:prstDash val="solid"/>
          </a:ln>
        </p:spPr>
      </p:sp>
      <p:sp>
        <p:nvSpPr>
          <p:cNvPr id="19" name="Text 17"/>
          <p:cNvSpPr/>
          <p:nvPr/>
        </p:nvSpPr>
        <p:spPr>
          <a:xfrm>
            <a:off x="896112" y="4562856"/>
            <a:ext cx="4846320" cy="237744"/>
          </a:xfrm>
          <a:prstGeom prst="rect">
            <a:avLst/>
          </a:prstGeom>
          <a:noFill/>
          <a:ln/>
        </p:spPr>
        <p:txBody>
          <a:bodyPr wrap="square" lIns="0" tIns="0" rIns="0" bIns="0" rtlCol="0" anchor="ctr"/>
          <a:lstStyle/>
          <a:p>
            <a:pPr indent="0" marL="0">
              <a:buNone/>
            </a:pPr>
            <a:r>
              <a:rPr lang="en-US" sz="1150" b="1" dirty="0">
                <a:solidFill>
                  <a:srgbClr val="B23A32"/>
                </a:solidFill>
                <a:latin typeface="Calibri" pitchFamily="34" charset="0"/>
                <a:ea typeface="Calibri" pitchFamily="34" charset="-122"/>
                <a:cs typeface="Calibri" pitchFamily="34" charset="-120"/>
              </a:rPr>
              <a:t>Hạn chế</a:t>
            </a:r>
            <a:endParaRPr lang="en-US" sz="1150" dirty="0"/>
          </a:p>
        </p:txBody>
      </p:sp>
      <p:sp>
        <p:nvSpPr>
          <p:cNvPr id="20" name="Text 18"/>
          <p:cNvSpPr/>
          <p:nvPr/>
        </p:nvSpPr>
        <p:spPr>
          <a:xfrm>
            <a:off x="896112" y="4800600"/>
            <a:ext cx="4846320" cy="384048"/>
          </a:xfrm>
          <a:prstGeom prst="rect">
            <a:avLst/>
          </a:prstGeom>
          <a:noFill/>
          <a:ln/>
        </p:spPr>
        <p:txBody>
          <a:bodyPr wrap="square" lIns="0" tIns="0" rIns="0" bIns="0" rtlCol="0" anchor="t"/>
          <a:lstStyle/>
          <a:p>
            <a:pPr indent="0" marL="0">
              <a:lnSpc>
                <a:spcPct val="105000"/>
              </a:lnSpc>
              <a:buNone/>
            </a:pPr>
            <a:r>
              <a:rPr lang="en-US" sz="1000" dirty="0">
                <a:solidFill>
                  <a:srgbClr val="3E5C76"/>
                </a:solidFill>
                <a:latin typeface="Calibri" pitchFamily="34" charset="0"/>
                <a:ea typeface="Calibri" pitchFamily="34" charset="-122"/>
                <a:cs typeface="Calibri" pitchFamily="34" charset="-120"/>
              </a:rPr>
              <a:t>Khó thể hiện khả năng mở rộng độc lập; nếu đề nhấn mạnh scale thì lập luận yếu hơn.</a:t>
            </a:r>
            <a:endParaRPr lang="en-US" sz="1000" dirty="0"/>
          </a:p>
        </p:txBody>
      </p:sp>
      <p:sp>
        <p:nvSpPr>
          <p:cNvPr id="21" name="Shape 19"/>
          <p:cNvSpPr/>
          <p:nvPr/>
        </p:nvSpPr>
        <p:spPr>
          <a:xfrm>
            <a:off x="6126480" y="1298448"/>
            <a:ext cx="5532120" cy="4114800"/>
          </a:xfrm>
          <a:prstGeom prst="roundRect">
            <a:avLst>
              <a:gd name="adj" fmla="val 1778"/>
            </a:avLst>
          </a:prstGeom>
          <a:solidFill>
            <a:srgbClr val="EAF3F2"/>
          </a:solidFill>
          <a:ln w="12700">
            <a:solidFill>
              <a:srgbClr val="12726B"/>
            </a:solidFill>
            <a:prstDash val="solid"/>
          </a:ln>
        </p:spPr>
      </p:sp>
      <p:sp>
        <p:nvSpPr>
          <p:cNvPr id="22" name="Text 20"/>
          <p:cNvSpPr/>
          <p:nvPr/>
        </p:nvSpPr>
        <p:spPr>
          <a:xfrm>
            <a:off x="6355080" y="1408176"/>
            <a:ext cx="5120640" cy="310896"/>
          </a:xfrm>
          <a:prstGeom prst="rect">
            <a:avLst/>
          </a:prstGeom>
          <a:noFill/>
          <a:ln/>
        </p:spPr>
        <p:txBody>
          <a:bodyPr wrap="square" lIns="0" tIns="0" rIns="0" bIns="0" rtlCol="0" anchor="ctr"/>
          <a:lstStyle/>
          <a:p>
            <a:pPr indent="0" marL="0">
              <a:buNone/>
            </a:pPr>
            <a:r>
              <a:rPr lang="en-US" sz="1600" b="1" dirty="0">
                <a:solidFill>
                  <a:srgbClr val="12726B"/>
                </a:solidFill>
                <a:latin typeface="Calibri" pitchFamily="34" charset="0"/>
                <a:ea typeface="Calibri" pitchFamily="34" charset="-122"/>
                <a:cs typeface="Calibri" pitchFamily="34" charset="-120"/>
              </a:rPr>
              <a:t>MICROSERVICES ARCHITECTURE</a:t>
            </a:r>
            <a:endParaRPr lang="en-US" sz="1600" dirty="0"/>
          </a:p>
        </p:txBody>
      </p:sp>
      <p:sp>
        <p:nvSpPr>
          <p:cNvPr id="23" name="Text 21"/>
          <p:cNvSpPr/>
          <p:nvPr/>
        </p:nvSpPr>
        <p:spPr>
          <a:xfrm>
            <a:off x="6355080" y="1737360"/>
            <a:ext cx="5120640" cy="256032"/>
          </a:xfrm>
          <a:prstGeom prst="rect">
            <a:avLst/>
          </a:prstGeom>
          <a:noFill/>
          <a:ln/>
        </p:spPr>
        <p:txBody>
          <a:bodyPr wrap="square" lIns="0" tIns="0" rIns="0" bIns="0" rtlCol="0" anchor="ctr"/>
          <a:lstStyle/>
          <a:p>
            <a:pPr indent="0" marL="0">
              <a:buNone/>
            </a:pPr>
            <a:r>
              <a:rPr lang="en-US" sz="1050" i="1" dirty="0">
                <a:solidFill>
                  <a:srgbClr val="6B7A8F"/>
                </a:solidFill>
                <a:latin typeface="Calibri" pitchFamily="34" charset="0"/>
                <a:ea typeface="Calibri" pitchFamily="34" charset="-122"/>
                <a:cs typeface="Calibri" pitchFamily="34" charset="-120"/>
              </a:rPr>
              <a:t>Nhiều khối triển khai độc lập, mỗi khối một CSDL</a:t>
            </a:r>
            <a:endParaRPr lang="en-US" sz="1050" dirty="0"/>
          </a:p>
        </p:txBody>
      </p:sp>
      <p:sp>
        <p:nvSpPr>
          <p:cNvPr id="24" name="Shape 22"/>
          <p:cNvSpPr/>
          <p:nvPr/>
        </p:nvSpPr>
        <p:spPr>
          <a:xfrm>
            <a:off x="6355080" y="2103120"/>
            <a:ext cx="5120640" cy="713232"/>
          </a:xfrm>
          <a:prstGeom prst="rect">
            <a:avLst/>
          </a:prstGeom>
          <a:solidFill>
            <a:srgbClr val="FFFFFF"/>
          </a:solidFill>
          <a:ln w="12700">
            <a:solidFill>
              <a:srgbClr val="C9D6E2"/>
            </a:solidFill>
            <a:prstDash val="solid"/>
          </a:ln>
        </p:spPr>
      </p:sp>
      <p:sp>
        <p:nvSpPr>
          <p:cNvPr id="25" name="Text 23"/>
          <p:cNvSpPr/>
          <p:nvPr/>
        </p:nvSpPr>
        <p:spPr>
          <a:xfrm>
            <a:off x="6519672" y="2148840"/>
            <a:ext cx="4846320" cy="237744"/>
          </a:xfrm>
          <a:prstGeom prst="rect">
            <a:avLst/>
          </a:prstGeom>
          <a:noFill/>
          <a:ln/>
        </p:spPr>
        <p:txBody>
          <a:bodyPr wrap="square" lIns="0" tIns="0" rIns="0" bIns="0" rtlCol="0" anchor="ctr"/>
          <a:lstStyle/>
          <a:p>
            <a:pPr indent="0" marL="0">
              <a:buNone/>
            </a:pPr>
            <a:r>
              <a:rPr lang="en-US" sz="1150" b="1" dirty="0">
                <a:solidFill>
                  <a:srgbClr val="1E7A44"/>
                </a:solidFill>
                <a:latin typeface="Calibri" pitchFamily="34" charset="0"/>
                <a:ea typeface="Calibri" pitchFamily="34" charset="-122"/>
                <a:cs typeface="Calibri" pitchFamily="34" charset="-120"/>
              </a:rPr>
              <a:t>Gây ấn tượng về khả năng mở rộng</a:t>
            </a:r>
            <a:endParaRPr lang="en-US" sz="1150" dirty="0"/>
          </a:p>
        </p:txBody>
      </p:sp>
      <p:sp>
        <p:nvSpPr>
          <p:cNvPr id="26" name="Text 24"/>
          <p:cNvSpPr/>
          <p:nvPr/>
        </p:nvSpPr>
        <p:spPr>
          <a:xfrm>
            <a:off x="6519672" y="2386584"/>
            <a:ext cx="4846320" cy="384048"/>
          </a:xfrm>
          <a:prstGeom prst="rect">
            <a:avLst/>
          </a:prstGeom>
          <a:noFill/>
          <a:ln/>
        </p:spPr>
        <p:txBody>
          <a:bodyPr wrap="square" lIns="0" tIns="0" rIns="0" bIns="0" rtlCol="0" anchor="t"/>
          <a:lstStyle/>
          <a:p>
            <a:pPr indent="0" marL="0">
              <a:lnSpc>
                <a:spcPct val="105000"/>
              </a:lnSpc>
              <a:buNone/>
            </a:pPr>
            <a:r>
              <a:rPr lang="en-US" sz="1000" dirty="0">
                <a:solidFill>
                  <a:srgbClr val="3E5C76"/>
                </a:solidFill>
                <a:latin typeface="Calibri" pitchFamily="34" charset="0"/>
                <a:ea typeface="Calibri" pitchFamily="34" charset="-122"/>
                <a:cs typeface="Calibri" pitchFamily="34" charset="-120"/>
              </a:rPr>
              <a:t>Phù hợp nếu bạn muốn lập luận hệ thống phục vụ nhiều bãi xe, nhiều chi nhánh.</a:t>
            </a:r>
            <a:endParaRPr lang="en-US" sz="1000" dirty="0"/>
          </a:p>
        </p:txBody>
      </p:sp>
      <p:sp>
        <p:nvSpPr>
          <p:cNvPr id="27" name="Shape 25"/>
          <p:cNvSpPr/>
          <p:nvPr/>
        </p:nvSpPr>
        <p:spPr>
          <a:xfrm>
            <a:off x="6355080" y="2907792"/>
            <a:ext cx="5120640" cy="713232"/>
          </a:xfrm>
          <a:prstGeom prst="rect">
            <a:avLst/>
          </a:prstGeom>
          <a:solidFill>
            <a:srgbClr val="FFFFFF"/>
          </a:solidFill>
          <a:ln w="12700">
            <a:solidFill>
              <a:srgbClr val="C9D6E2"/>
            </a:solidFill>
            <a:prstDash val="solid"/>
          </a:ln>
        </p:spPr>
      </p:sp>
      <p:sp>
        <p:nvSpPr>
          <p:cNvPr id="28" name="Text 26"/>
          <p:cNvSpPr/>
          <p:nvPr/>
        </p:nvSpPr>
        <p:spPr>
          <a:xfrm>
            <a:off x="6519672" y="2953512"/>
            <a:ext cx="4846320" cy="237744"/>
          </a:xfrm>
          <a:prstGeom prst="rect">
            <a:avLst/>
          </a:prstGeom>
          <a:noFill/>
          <a:ln/>
        </p:spPr>
        <p:txBody>
          <a:bodyPr wrap="square" lIns="0" tIns="0" rIns="0" bIns="0" rtlCol="0" anchor="ctr"/>
          <a:lstStyle/>
          <a:p>
            <a:pPr indent="0" marL="0">
              <a:buNone/>
            </a:pPr>
            <a:r>
              <a:rPr lang="en-US" sz="1150" b="1" dirty="0">
                <a:solidFill>
                  <a:srgbClr val="B23A32"/>
                </a:solidFill>
                <a:latin typeface="Calibri" pitchFamily="34" charset="0"/>
                <a:ea typeface="Calibri" pitchFamily="34" charset="-122"/>
                <a:cs typeface="Calibri" pitchFamily="34" charset="-120"/>
              </a:rPr>
              <a:t>Phải vẽ thêm nhiều thứ</a:t>
            </a:r>
            <a:endParaRPr lang="en-US" sz="1150" dirty="0"/>
          </a:p>
        </p:txBody>
      </p:sp>
      <p:sp>
        <p:nvSpPr>
          <p:cNvPr id="29" name="Text 27"/>
          <p:cNvSpPr/>
          <p:nvPr/>
        </p:nvSpPr>
        <p:spPr>
          <a:xfrm>
            <a:off x="6519672" y="3191256"/>
            <a:ext cx="4846320" cy="384048"/>
          </a:xfrm>
          <a:prstGeom prst="rect">
            <a:avLst/>
          </a:prstGeom>
          <a:noFill/>
          <a:ln/>
        </p:spPr>
        <p:txBody>
          <a:bodyPr wrap="square" lIns="0" tIns="0" rIns="0" bIns="0" rtlCol="0" anchor="t"/>
          <a:lstStyle/>
          <a:p>
            <a:pPr indent="0" marL="0">
              <a:lnSpc>
                <a:spcPct val="105000"/>
              </a:lnSpc>
              <a:buNone/>
            </a:pPr>
            <a:r>
              <a:rPr lang="en-US" sz="1000" dirty="0">
                <a:solidFill>
                  <a:srgbClr val="3E5C76"/>
                </a:solidFill>
                <a:latin typeface="Calibri" pitchFamily="34" charset="0"/>
                <a:ea typeface="Calibri" pitchFamily="34" charset="-122"/>
                <a:cs typeface="Calibri" pitchFamily="34" charset="-120"/>
              </a:rPr>
              <a:t>API Gateway, ranh giới service, CSDL riêng cho từng service — tốn thời gian.</a:t>
            </a:r>
            <a:endParaRPr lang="en-US" sz="1000" dirty="0"/>
          </a:p>
        </p:txBody>
      </p:sp>
      <p:sp>
        <p:nvSpPr>
          <p:cNvPr id="30" name="Shape 28"/>
          <p:cNvSpPr/>
          <p:nvPr/>
        </p:nvSpPr>
        <p:spPr>
          <a:xfrm>
            <a:off x="6355080" y="3712464"/>
            <a:ext cx="5120640" cy="713232"/>
          </a:xfrm>
          <a:prstGeom prst="rect">
            <a:avLst/>
          </a:prstGeom>
          <a:solidFill>
            <a:srgbClr val="FFFFFF"/>
          </a:solidFill>
          <a:ln w="12700">
            <a:solidFill>
              <a:srgbClr val="C9D6E2"/>
            </a:solidFill>
            <a:prstDash val="solid"/>
          </a:ln>
        </p:spPr>
      </p:sp>
      <p:sp>
        <p:nvSpPr>
          <p:cNvPr id="31" name="Text 29"/>
          <p:cNvSpPr/>
          <p:nvPr/>
        </p:nvSpPr>
        <p:spPr>
          <a:xfrm>
            <a:off x="6519672" y="3758184"/>
            <a:ext cx="4846320" cy="237744"/>
          </a:xfrm>
          <a:prstGeom prst="rect">
            <a:avLst/>
          </a:prstGeom>
          <a:noFill/>
          <a:ln/>
        </p:spPr>
        <p:txBody>
          <a:bodyPr wrap="square" lIns="0" tIns="0" rIns="0" bIns="0" rtlCol="0" anchor="ctr"/>
          <a:lstStyle/>
          <a:p>
            <a:pPr indent="0" marL="0">
              <a:buNone/>
            </a:pPr>
            <a:r>
              <a:rPr lang="en-US" sz="1150" b="1" dirty="0">
                <a:solidFill>
                  <a:srgbClr val="B23A32"/>
                </a:solidFill>
                <a:latin typeface="Calibri" pitchFamily="34" charset="0"/>
                <a:ea typeface="Calibri" pitchFamily="34" charset="-122"/>
                <a:cs typeface="Calibri" pitchFamily="34" charset="-120"/>
              </a:rPr>
              <a:t>Rủi ro mất nhất quán</a:t>
            </a:r>
            <a:endParaRPr lang="en-US" sz="1150" dirty="0"/>
          </a:p>
        </p:txBody>
      </p:sp>
      <p:sp>
        <p:nvSpPr>
          <p:cNvPr id="32" name="Text 30"/>
          <p:cNvSpPr/>
          <p:nvPr/>
        </p:nvSpPr>
        <p:spPr>
          <a:xfrm>
            <a:off x="6519672" y="3995928"/>
            <a:ext cx="4846320" cy="384048"/>
          </a:xfrm>
          <a:prstGeom prst="rect">
            <a:avLst/>
          </a:prstGeom>
          <a:noFill/>
          <a:ln/>
        </p:spPr>
        <p:txBody>
          <a:bodyPr wrap="square" lIns="0" tIns="0" rIns="0" bIns="0" rtlCol="0" anchor="t"/>
          <a:lstStyle/>
          <a:p>
            <a:pPr indent="0" marL="0">
              <a:lnSpc>
                <a:spcPct val="105000"/>
              </a:lnSpc>
              <a:buNone/>
            </a:pPr>
            <a:r>
              <a:rPr lang="en-US" sz="1000" dirty="0">
                <a:solidFill>
                  <a:srgbClr val="3E5C76"/>
                </a:solidFill>
                <a:latin typeface="Calibri" pitchFamily="34" charset="0"/>
                <a:ea typeface="Calibri" pitchFamily="34" charset="-122"/>
                <a:cs typeface="Calibri" pitchFamily="34" charset="-120"/>
              </a:rPr>
              <a:t>Sequence Diagram phải có lifeline gateway và service; quên là mất điểm Q2.1.</a:t>
            </a:r>
            <a:endParaRPr lang="en-US" sz="1000" dirty="0"/>
          </a:p>
        </p:txBody>
      </p:sp>
      <p:sp>
        <p:nvSpPr>
          <p:cNvPr id="33" name="Shape 31"/>
          <p:cNvSpPr/>
          <p:nvPr/>
        </p:nvSpPr>
        <p:spPr>
          <a:xfrm>
            <a:off x="6355080" y="4517136"/>
            <a:ext cx="5120640" cy="713232"/>
          </a:xfrm>
          <a:prstGeom prst="rect">
            <a:avLst/>
          </a:prstGeom>
          <a:solidFill>
            <a:srgbClr val="FFFFFF"/>
          </a:solidFill>
          <a:ln w="12700">
            <a:solidFill>
              <a:srgbClr val="C9D6E2"/>
            </a:solidFill>
            <a:prstDash val="solid"/>
          </a:ln>
        </p:spPr>
      </p:sp>
      <p:sp>
        <p:nvSpPr>
          <p:cNvPr id="34" name="Text 32"/>
          <p:cNvSpPr/>
          <p:nvPr/>
        </p:nvSpPr>
        <p:spPr>
          <a:xfrm>
            <a:off x="6519672" y="4562856"/>
            <a:ext cx="4846320" cy="237744"/>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Chỉ chọn khi tự tin</a:t>
            </a:r>
            <a:endParaRPr lang="en-US" sz="1150" dirty="0"/>
          </a:p>
        </p:txBody>
      </p:sp>
      <p:sp>
        <p:nvSpPr>
          <p:cNvPr id="35" name="Text 33"/>
          <p:cNvSpPr/>
          <p:nvPr/>
        </p:nvSpPr>
        <p:spPr>
          <a:xfrm>
            <a:off x="6519672" y="4800600"/>
            <a:ext cx="4846320" cy="384048"/>
          </a:xfrm>
          <a:prstGeom prst="rect">
            <a:avLst/>
          </a:prstGeom>
          <a:noFill/>
          <a:ln/>
        </p:spPr>
        <p:txBody>
          <a:bodyPr wrap="square" lIns="0" tIns="0" rIns="0" bIns="0" rtlCol="0" anchor="t"/>
          <a:lstStyle/>
          <a:p>
            <a:pPr indent="0" marL="0">
              <a:lnSpc>
                <a:spcPct val="105000"/>
              </a:lnSpc>
              <a:buNone/>
            </a:pPr>
            <a:r>
              <a:rPr lang="en-US" sz="1000" dirty="0">
                <a:solidFill>
                  <a:srgbClr val="3E5C76"/>
                </a:solidFill>
                <a:latin typeface="Calibri" pitchFamily="34" charset="0"/>
                <a:ea typeface="Calibri" pitchFamily="34" charset="-122"/>
                <a:cs typeface="Calibri" pitchFamily="34" charset="-120"/>
              </a:rPr>
              <a:t>Nếu chưa chắc tay, Layered an toàn hơn và không hề bị chấm thấp hơn.</a:t>
            </a:r>
            <a:endParaRPr lang="en-US" sz="1000" dirty="0"/>
          </a:p>
        </p:txBody>
      </p:sp>
      <p:sp>
        <p:nvSpPr>
          <p:cNvPr id="36" name="Shape 34"/>
          <p:cNvSpPr/>
          <p:nvPr/>
        </p:nvSpPr>
        <p:spPr>
          <a:xfrm>
            <a:off x="502920" y="5532120"/>
            <a:ext cx="11155680" cy="777240"/>
          </a:xfrm>
          <a:prstGeom prst="roundRect">
            <a:avLst>
              <a:gd name="adj" fmla="val 9412"/>
            </a:avLst>
          </a:prstGeom>
          <a:solidFill>
            <a:srgbClr val="FDF2DA"/>
          </a:solidFill>
          <a:ln w="12700">
            <a:solidFill>
              <a:srgbClr val="E8A317"/>
            </a:solidFill>
            <a:prstDash val="solid"/>
          </a:ln>
        </p:spPr>
      </p:sp>
      <p:sp>
        <p:nvSpPr>
          <p:cNvPr id="37" name="Text 35"/>
          <p:cNvSpPr/>
          <p:nvPr/>
        </p:nvSpPr>
        <p:spPr>
          <a:xfrm>
            <a:off x="731520" y="5623560"/>
            <a:ext cx="10698480" cy="59436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Lời khuyên thực dụng: </a:t>
            </a:r>
            <a:pPr indent="0" marL="0">
              <a:buNone/>
            </a:pPr>
            <a:r>
              <a:rPr lang="en-US" sz="1200" dirty="0">
                <a:solidFill>
                  <a:srgbClr val="13315C"/>
                </a:solidFill>
                <a:latin typeface="Calibri" pitchFamily="34" charset="0"/>
                <a:ea typeface="Calibri" pitchFamily="34" charset="-122"/>
                <a:cs typeface="Calibri" pitchFamily="34" charset="-120"/>
              </a:rPr>
              <a:t>rubric KHÔNG cộng điểm cho kiến trúc “xịn hơn”, chỉ cộng điểm cho việc thể hiện đúng và NHẤT QUÁN. Với một bài thi 85 phút, Layered gần như luôn là lựa chọn tối ưu về tỉ lệ điểm trên thời gian.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15</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Mẫu giao tiếp giữa các thành phần</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Cùng một cấu trúc, đổi kiểu giao tiếp là đổi hẳn đặc tính hệ thống</a:t>
            </a:r>
            <a:endParaRPr lang="en-US" sz="1300" dirty="0"/>
          </a:p>
        </p:txBody>
      </p:sp>
      <p:sp>
        <p:nvSpPr>
          <p:cNvPr id="6" name="Shape 4"/>
          <p:cNvSpPr/>
          <p:nvPr/>
        </p:nvSpPr>
        <p:spPr>
          <a:xfrm>
            <a:off x="502920" y="1325880"/>
            <a:ext cx="5394960" cy="2304288"/>
          </a:xfrm>
          <a:prstGeom prst="roundRect">
            <a:avLst>
              <a:gd name="adj" fmla="val 3175"/>
            </a:avLst>
          </a:prstGeom>
          <a:solidFill>
            <a:srgbClr val="F1F5F9"/>
          </a:solidFill>
          <a:ln w="12700">
            <a:solidFill>
              <a:srgbClr val="DCE4EC"/>
            </a:solidFill>
            <a:prstDash val="solid"/>
          </a:ln>
        </p:spPr>
      </p:sp>
      <p:sp>
        <p:nvSpPr>
          <p:cNvPr id="7" name="Shape 5"/>
          <p:cNvSpPr/>
          <p:nvPr/>
        </p:nvSpPr>
        <p:spPr>
          <a:xfrm>
            <a:off x="704088" y="1490472"/>
            <a:ext cx="2331720" cy="310896"/>
          </a:xfrm>
          <a:prstGeom prst="roundRect">
            <a:avLst>
              <a:gd name="adj" fmla="val 20588"/>
            </a:avLst>
          </a:prstGeom>
          <a:solidFill>
            <a:srgbClr val="0B2545"/>
          </a:solidFill>
          <a:ln w="12700">
            <a:solidFill>
              <a:srgbClr val="0B2545"/>
            </a:solidFill>
            <a:prstDash val="solid"/>
          </a:ln>
        </p:spPr>
      </p:sp>
      <p:sp>
        <p:nvSpPr>
          <p:cNvPr id="8" name="Text 6"/>
          <p:cNvSpPr/>
          <p:nvPr/>
        </p:nvSpPr>
        <p:spPr>
          <a:xfrm>
            <a:off x="704088" y="1490472"/>
            <a:ext cx="233172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Synchronous with Reply</a:t>
            </a:r>
            <a:endParaRPr lang="en-US" sz="900" dirty="0"/>
          </a:p>
        </p:txBody>
      </p:sp>
      <p:sp>
        <p:nvSpPr>
          <p:cNvPr id="9" name="Shape 7"/>
          <p:cNvSpPr/>
          <p:nvPr/>
        </p:nvSpPr>
        <p:spPr>
          <a:xfrm>
            <a:off x="685800" y="2011680"/>
            <a:ext cx="1097280" cy="384048"/>
          </a:xfrm>
          <a:prstGeom prst="roundRect">
            <a:avLst>
              <a:gd name="adj" fmla="val 16667"/>
            </a:avLst>
          </a:prstGeom>
          <a:solidFill>
            <a:srgbClr val="E8A317"/>
          </a:solidFill>
          <a:ln w="15240">
            <a:solidFill>
              <a:srgbClr val="E8A317"/>
            </a:solidFill>
            <a:prstDash val="solid"/>
          </a:ln>
        </p:spPr>
      </p:sp>
      <p:sp>
        <p:nvSpPr>
          <p:cNvPr id="10" name="Text 8"/>
          <p:cNvSpPr/>
          <p:nvPr/>
        </p:nvSpPr>
        <p:spPr>
          <a:xfrm>
            <a:off x="731520" y="2011680"/>
            <a:ext cx="1005840" cy="384048"/>
          </a:xfrm>
          <a:prstGeom prst="rect">
            <a:avLst/>
          </a:prstGeom>
          <a:noFill/>
          <a:ln/>
        </p:spPr>
        <p:txBody>
          <a:bodyPr wrap="square" lIns="0" tIns="0" rIns="0" bIns="0" rtlCol="0" anchor="ctr"/>
          <a:lstStyle/>
          <a:p>
            <a:pPr algn="ctr" indent="0" marL="0">
              <a:lnSpc>
                <a:spcPct val="95000"/>
              </a:lnSpc>
              <a:buNone/>
            </a:pPr>
            <a:r>
              <a:rPr lang="en-US" sz="1000" b="1" dirty="0">
                <a:solidFill>
                  <a:srgbClr val="0B2545"/>
                </a:solidFill>
                <a:latin typeface="Calibri" pitchFamily="34" charset="0"/>
                <a:ea typeface="Calibri" pitchFamily="34" charset="-122"/>
                <a:cs typeface="Calibri" pitchFamily="34" charset="-120"/>
              </a:rPr>
              <a:t>A</a:t>
            </a:r>
            <a:endParaRPr lang="en-US" sz="1000" dirty="0"/>
          </a:p>
        </p:txBody>
      </p:sp>
      <p:sp>
        <p:nvSpPr>
          <p:cNvPr id="11" name="Shape 9"/>
          <p:cNvSpPr/>
          <p:nvPr/>
        </p:nvSpPr>
        <p:spPr>
          <a:xfrm>
            <a:off x="2697480" y="2011680"/>
            <a:ext cx="1097280" cy="384048"/>
          </a:xfrm>
          <a:prstGeom prst="roundRect">
            <a:avLst>
              <a:gd name="adj" fmla="val 16667"/>
            </a:avLst>
          </a:prstGeom>
          <a:solidFill>
            <a:srgbClr val="0B2545"/>
          </a:solidFill>
          <a:ln w="15240">
            <a:solidFill>
              <a:srgbClr val="0B2545"/>
            </a:solidFill>
            <a:prstDash val="solid"/>
          </a:ln>
        </p:spPr>
      </p:sp>
      <p:sp>
        <p:nvSpPr>
          <p:cNvPr id="12" name="Text 10"/>
          <p:cNvSpPr/>
          <p:nvPr/>
        </p:nvSpPr>
        <p:spPr>
          <a:xfrm>
            <a:off x="2743200" y="2011680"/>
            <a:ext cx="1005840" cy="384048"/>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13" name="Shape 11"/>
          <p:cNvSpPr/>
          <p:nvPr/>
        </p:nvSpPr>
        <p:spPr>
          <a:xfrm>
            <a:off x="1783080" y="2130552"/>
            <a:ext cx="914400" cy="0"/>
          </a:xfrm>
          <a:prstGeom prst="line">
            <a:avLst/>
          </a:prstGeom>
          <a:noFill/>
          <a:ln w="16510">
            <a:solidFill>
              <a:srgbClr val="0B2545"/>
            </a:solidFill>
            <a:prstDash val="solid"/>
            <a:tailEnd type="triangle"/>
          </a:ln>
        </p:spPr>
      </p:sp>
      <p:sp>
        <p:nvSpPr>
          <p:cNvPr id="14" name="Shape 12"/>
          <p:cNvSpPr/>
          <p:nvPr/>
        </p:nvSpPr>
        <p:spPr>
          <a:xfrm>
            <a:off x="1783080" y="2304288"/>
            <a:ext cx="914400" cy="0"/>
          </a:xfrm>
          <a:prstGeom prst="line">
            <a:avLst/>
          </a:prstGeom>
          <a:noFill/>
          <a:ln w="16510">
            <a:solidFill>
              <a:srgbClr val="6B7A8F"/>
            </a:solidFill>
            <a:prstDash val="dash"/>
            <a:headEnd type="triangle"/>
          </a:ln>
        </p:spPr>
      </p:sp>
      <p:sp>
        <p:nvSpPr>
          <p:cNvPr id="15" name="Text 13"/>
          <p:cNvSpPr/>
          <p:nvPr/>
        </p:nvSpPr>
        <p:spPr>
          <a:xfrm>
            <a:off x="722376" y="2560320"/>
            <a:ext cx="4983480" cy="658368"/>
          </a:xfrm>
          <a:prstGeom prst="rect">
            <a:avLst/>
          </a:prstGeom>
          <a:noFill/>
          <a:ln/>
        </p:spPr>
        <p:txBody>
          <a:bodyPr wrap="square" lIns="0" tIns="0" rIns="0" bIns="0" rtlCol="0" anchor="t"/>
          <a:lstStyle/>
          <a:p>
            <a:pPr indent="0" marL="0">
              <a:lnSpc>
                <a:spcPct val="108000"/>
              </a:lnSpc>
              <a:buNone/>
            </a:pPr>
            <a:r>
              <a:rPr lang="en-US" sz="1100" dirty="0">
                <a:solidFill>
                  <a:srgbClr val="13315C"/>
                </a:solidFill>
                <a:latin typeface="Calibri" pitchFamily="34" charset="0"/>
                <a:ea typeface="Calibri" pitchFamily="34" charset="-122"/>
                <a:cs typeface="Calibri" pitchFamily="34" charset="-120"/>
              </a:rPr>
              <a:t>A gửi và DỪNG chờ B trả lời. Đơn giản, dễ suy luận, nhưng A bị chặn và phụ thuộc B.</a:t>
            </a:r>
            <a:endParaRPr lang="en-US" sz="1100" dirty="0"/>
          </a:p>
        </p:txBody>
      </p:sp>
      <p:sp>
        <p:nvSpPr>
          <p:cNvPr id="16" name="Shape 14"/>
          <p:cNvSpPr/>
          <p:nvPr/>
        </p:nvSpPr>
        <p:spPr>
          <a:xfrm>
            <a:off x="722376" y="3209544"/>
            <a:ext cx="4983480" cy="310896"/>
          </a:xfrm>
          <a:prstGeom prst="rect">
            <a:avLst/>
          </a:prstGeom>
          <a:solidFill>
            <a:srgbClr val="FFFFFF"/>
          </a:solidFill>
          <a:ln w="12700">
            <a:solidFill>
              <a:srgbClr val="C9D6E2"/>
            </a:solidFill>
            <a:prstDash val="solid"/>
          </a:ln>
        </p:spPr>
      </p:sp>
      <p:sp>
        <p:nvSpPr>
          <p:cNvPr id="17" name="Text 15"/>
          <p:cNvSpPr/>
          <p:nvPr/>
        </p:nvSpPr>
        <p:spPr>
          <a:xfrm>
            <a:off x="813816" y="3209544"/>
            <a:ext cx="4800600" cy="310896"/>
          </a:xfrm>
          <a:prstGeom prst="rect">
            <a:avLst/>
          </a:prstGeom>
          <a:noFill/>
          <a:ln/>
        </p:spPr>
        <p:txBody>
          <a:bodyPr wrap="square" lIns="0" tIns="0" rIns="0" bIns="0" rtlCol="0" anchor="ctr"/>
          <a:lstStyle/>
          <a:p>
            <a:pPr indent="0" marL="0">
              <a:buNone/>
            </a:pPr>
            <a:r>
              <a:rPr lang="en-US" sz="950" i="1" dirty="0">
                <a:solidFill>
                  <a:srgbClr val="3E5C76"/>
                </a:solidFill>
                <a:latin typeface="Calibri" pitchFamily="34" charset="0"/>
                <a:ea typeface="Calibri" pitchFamily="34" charset="-122"/>
                <a:cs typeface="Calibri" pitchFamily="34" charset="-120"/>
              </a:rPr>
              <a:t>Ví dụ:  Gọi hàm, REST API thông thường</a:t>
            </a:r>
            <a:endParaRPr lang="en-US" sz="950" dirty="0"/>
          </a:p>
        </p:txBody>
      </p:sp>
      <p:sp>
        <p:nvSpPr>
          <p:cNvPr id="18" name="Shape 16"/>
          <p:cNvSpPr/>
          <p:nvPr/>
        </p:nvSpPr>
        <p:spPr>
          <a:xfrm>
            <a:off x="6217920" y="1325880"/>
            <a:ext cx="5394960" cy="2304288"/>
          </a:xfrm>
          <a:prstGeom prst="roundRect">
            <a:avLst>
              <a:gd name="adj" fmla="val 3175"/>
            </a:avLst>
          </a:prstGeom>
          <a:solidFill>
            <a:srgbClr val="FFFFFF"/>
          </a:solidFill>
          <a:ln w="12700">
            <a:solidFill>
              <a:srgbClr val="DCE4EC"/>
            </a:solidFill>
            <a:prstDash val="solid"/>
          </a:ln>
        </p:spPr>
      </p:sp>
      <p:sp>
        <p:nvSpPr>
          <p:cNvPr id="19" name="Shape 17"/>
          <p:cNvSpPr/>
          <p:nvPr/>
        </p:nvSpPr>
        <p:spPr>
          <a:xfrm>
            <a:off x="6419088" y="1490472"/>
            <a:ext cx="2331720" cy="310896"/>
          </a:xfrm>
          <a:prstGeom prst="roundRect">
            <a:avLst>
              <a:gd name="adj" fmla="val 20588"/>
            </a:avLst>
          </a:prstGeom>
          <a:solidFill>
            <a:srgbClr val="12726B"/>
          </a:solidFill>
          <a:ln w="12700">
            <a:solidFill>
              <a:srgbClr val="12726B"/>
            </a:solidFill>
            <a:prstDash val="solid"/>
          </a:ln>
        </p:spPr>
      </p:sp>
      <p:sp>
        <p:nvSpPr>
          <p:cNvPr id="20" name="Text 18"/>
          <p:cNvSpPr/>
          <p:nvPr/>
        </p:nvSpPr>
        <p:spPr>
          <a:xfrm>
            <a:off x="6419088" y="1490472"/>
            <a:ext cx="233172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Asynchronous (Message Queue)</a:t>
            </a:r>
            <a:endParaRPr lang="en-US" sz="900" dirty="0"/>
          </a:p>
        </p:txBody>
      </p:sp>
      <p:sp>
        <p:nvSpPr>
          <p:cNvPr id="21" name="Shape 19"/>
          <p:cNvSpPr/>
          <p:nvPr/>
        </p:nvSpPr>
        <p:spPr>
          <a:xfrm>
            <a:off x="6377940" y="2011680"/>
            <a:ext cx="960120" cy="384048"/>
          </a:xfrm>
          <a:prstGeom prst="roundRect">
            <a:avLst>
              <a:gd name="adj" fmla="val 16667"/>
            </a:avLst>
          </a:prstGeom>
          <a:solidFill>
            <a:srgbClr val="E8A317"/>
          </a:solidFill>
          <a:ln w="15240">
            <a:solidFill>
              <a:srgbClr val="E8A317"/>
            </a:solidFill>
            <a:prstDash val="solid"/>
          </a:ln>
        </p:spPr>
      </p:sp>
      <p:sp>
        <p:nvSpPr>
          <p:cNvPr id="22" name="Text 20"/>
          <p:cNvSpPr/>
          <p:nvPr/>
        </p:nvSpPr>
        <p:spPr>
          <a:xfrm>
            <a:off x="6423660" y="2011680"/>
            <a:ext cx="868680" cy="384048"/>
          </a:xfrm>
          <a:prstGeom prst="rect">
            <a:avLst/>
          </a:prstGeom>
          <a:noFill/>
          <a:ln/>
        </p:spPr>
        <p:txBody>
          <a:bodyPr wrap="square" lIns="0" tIns="0" rIns="0" bIns="0" rtlCol="0" anchor="ctr"/>
          <a:lstStyle/>
          <a:p>
            <a:pPr algn="ctr" indent="0" marL="0">
              <a:lnSpc>
                <a:spcPct val="95000"/>
              </a:lnSpc>
              <a:buNone/>
            </a:pPr>
            <a:r>
              <a:rPr lang="en-US" sz="1000" b="1" dirty="0">
                <a:solidFill>
                  <a:srgbClr val="0B2545"/>
                </a:solidFill>
                <a:latin typeface="Calibri" pitchFamily="34" charset="0"/>
                <a:ea typeface="Calibri" pitchFamily="34" charset="-122"/>
                <a:cs typeface="Calibri" pitchFamily="34" charset="-120"/>
              </a:rPr>
              <a:t>A</a:t>
            </a:r>
            <a:endParaRPr lang="en-US" sz="1000" dirty="0"/>
          </a:p>
        </p:txBody>
      </p:sp>
      <p:sp>
        <p:nvSpPr>
          <p:cNvPr id="23" name="Shape 21"/>
          <p:cNvSpPr/>
          <p:nvPr/>
        </p:nvSpPr>
        <p:spPr>
          <a:xfrm>
            <a:off x="7475220" y="2011680"/>
            <a:ext cx="1051560" cy="384048"/>
          </a:xfrm>
          <a:prstGeom prst="roundRect">
            <a:avLst>
              <a:gd name="adj" fmla="val 16667"/>
            </a:avLst>
          </a:prstGeom>
          <a:solidFill>
            <a:srgbClr val="3E5C76"/>
          </a:solidFill>
          <a:ln w="15240">
            <a:solidFill>
              <a:srgbClr val="3E5C76"/>
            </a:solidFill>
            <a:prstDash val="solid"/>
          </a:ln>
        </p:spPr>
      </p:sp>
      <p:sp>
        <p:nvSpPr>
          <p:cNvPr id="24" name="Text 22"/>
          <p:cNvSpPr/>
          <p:nvPr/>
        </p:nvSpPr>
        <p:spPr>
          <a:xfrm>
            <a:off x="7520940" y="2011680"/>
            <a:ext cx="960120" cy="384048"/>
          </a:xfrm>
          <a:prstGeom prst="rect">
            <a:avLst/>
          </a:prstGeom>
          <a:noFill/>
          <a:ln/>
        </p:spPr>
        <p:txBody>
          <a:bodyPr wrap="square" lIns="0" tIns="0" rIns="0" bIns="0" rtlCol="0" anchor="ctr"/>
          <a:lstStyle/>
          <a:p>
            <a:pPr algn="ctr" indent="0" marL="0">
              <a:lnSpc>
                <a:spcPct val="95000"/>
              </a:lnSpc>
              <a:buNone/>
            </a:pPr>
            <a:r>
              <a:rPr lang="en-US" sz="900" b="1" dirty="0">
                <a:solidFill>
                  <a:srgbClr val="FFFFFF"/>
                </a:solidFill>
                <a:latin typeface="Calibri" pitchFamily="34" charset="0"/>
                <a:ea typeface="Calibri" pitchFamily="34" charset="-122"/>
                <a:cs typeface="Calibri" pitchFamily="34" charset="-120"/>
              </a:rPr>
              <a:t>Queue</a:t>
            </a:r>
            <a:endParaRPr lang="en-US" sz="900" dirty="0"/>
          </a:p>
        </p:txBody>
      </p:sp>
      <p:sp>
        <p:nvSpPr>
          <p:cNvPr id="25" name="Shape 23"/>
          <p:cNvSpPr/>
          <p:nvPr/>
        </p:nvSpPr>
        <p:spPr>
          <a:xfrm>
            <a:off x="8663940" y="2011680"/>
            <a:ext cx="960120" cy="384048"/>
          </a:xfrm>
          <a:prstGeom prst="roundRect">
            <a:avLst>
              <a:gd name="adj" fmla="val 16667"/>
            </a:avLst>
          </a:prstGeom>
          <a:solidFill>
            <a:srgbClr val="0B2545"/>
          </a:solidFill>
          <a:ln w="15240">
            <a:solidFill>
              <a:srgbClr val="0B2545"/>
            </a:solidFill>
            <a:prstDash val="solid"/>
          </a:ln>
        </p:spPr>
      </p:sp>
      <p:sp>
        <p:nvSpPr>
          <p:cNvPr id="26" name="Text 24"/>
          <p:cNvSpPr/>
          <p:nvPr/>
        </p:nvSpPr>
        <p:spPr>
          <a:xfrm>
            <a:off x="8709660" y="2011680"/>
            <a:ext cx="868680" cy="384048"/>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27" name="Shape 25"/>
          <p:cNvSpPr/>
          <p:nvPr/>
        </p:nvSpPr>
        <p:spPr>
          <a:xfrm>
            <a:off x="7351776" y="2203704"/>
            <a:ext cx="109728" cy="0"/>
          </a:xfrm>
          <a:prstGeom prst="line">
            <a:avLst/>
          </a:prstGeom>
          <a:noFill/>
          <a:ln w="16510">
            <a:solidFill>
              <a:srgbClr val="12726B"/>
            </a:solidFill>
            <a:prstDash val="solid"/>
            <a:tailEnd type="triangle"/>
          </a:ln>
        </p:spPr>
      </p:sp>
      <p:sp>
        <p:nvSpPr>
          <p:cNvPr id="28" name="Shape 26"/>
          <p:cNvSpPr/>
          <p:nvPr/>
        </p:nvSpPr>
        <p:spPr>
          <a:xfrm>
            <a:off x="8540496" y="2203704"/>
            <a:ext cx="109728" cy="0"/>
          </a:xfrm>
          <a:prstGeom prst="line">
            <a:avLst/>
          </a:prstGeom>
          <a:noFill/>
          <a:ln w="16510">
            <a:solidFill>
              <a:srgbClr val="12726B"/>
            </a:solidFill>
            <a:prstDash val="solid"/>
            <a:tailEnd type="triangle"/>
          </a:ln>
        </p:spPr>
      </p:sp>
      <p:sp>
        <p:nvSpPr>
          <p:cNvPr id="29" name="Text 27"/>
          <p:cNvSpPr/>
          <p:nvPr/>
        </p:nvSpPr>
        <p:spPr>
          <a:xfrm>
            <a:off x="6437376" y="2560320"/>
            <a:ext cx="4983480" cy="658368"/>
          </a:xfrm>
          <a:prstGeom prst="rect">
            <a:avLst/>
          </a:prstGeom>
          <a:noFill/>
          <a:ln/>
        </p:spPr>
        <p:txBody>
          <a:bodyPr wrap="square" lIns="0" tIns="0" rIns="0" bIns="0" rtlCol="0" anchor="t"/>
          <a:lstStyle/>
          <a:p>
            <a:pPr indent="0" marL="0">
              <a:lnSpc>
                <a:spcPct val="108000"/>
              </a:lnSpc>
              <a:buNone/>
            </a:pPr>
            <a:r>
              <a:rPr lang="en-US" sz="1100" dirty="0">
                <a:solidFill>
                  <a:srgbClr val="13315C"/>
                </a:solidFill>
                <a:latin typeface="Calibri" pitchFamily="34" charset="0"/>
                <a:ea typeface="Calibri" pitchFamily="34" charset="-122"/>
                <a:cs typeface="Calibri" pitchFamily="34" charset="-120"/>
              </a:rPr>
              <a:t>A đẩy thông điệp vào hàng đợi rồi chạy tiếp ngay. B xử lý khi rảnh. Chịu tải tốt, nhưng khó lần vết lỗi.</a:t>
            </a:r>
            <a:endParaRPr lang="en-US" sz="1100" dirty="0"/>
          </a:p>
        </p:txBody>
      </p:sp>
      <p:sp>
        <p:nvSpPr>
          <p:cNvPr id="30" name="Shape 28"/>
          <p:cNvSpPr/>
          <p:nvPr/>
        </p:nvSpPr>
        <p:spPr>
          <a:xfrm>
            <a:off x="6437376" y="3209544"/>
            <a:ext cx="4983480" cy="310896"/>
          </a:xfrm>
          <a:prstGeom prst="rect">
            <a:avLst/>
          </a:prstGeom>
          <a:solidFill>
            <a:srgbClr val="FFFFFF"/>
          </a:solidFill>
          <a:ln w="12700">
            <a:solidFill>
              <a:srgbClr val="C9D6E2"/>
            </a:solidFill>
            <a:prstDash val="solid"/>
          </a:ln>
        </p:spPr>
      </p:sp>
      <p:sp>
        <p:nvSpPr>
          <p:cNvPr id="31" name="Text 29"/>
          <p:cNvSpPr/>
          <p:nvPr/>
        </p:nvSpPr>
        <p:spPr>
          <a:xfrm>
            <a:off x="6528816" y="3209544"/>
            <a:ext cx="4800600" cy="310896"/>
          </a:xfrm>
          <a:prstGeom prst="rect">
            <a:avLst/>
          </a:prstGeom>
          <a:noFill/>
          <a:ln/>
        </p:spPr>
        <p:txBody>
          <a:bodyPr wrap="square" lIns="0" tIns="0" rIns="0" bIns="0" rtlCol="0" anchor="ctr"/>
          <a:lstStyle/>
          <a:p>
            <a:pPr indent="0" marL="0">
              <a:buNone/>
            </a:pPr>
            <a:r>
              <a:rPr lang="en-US" sz="950" i="1" dirty="0">
                <a:solidFill>
                  <a:srgbClr val="3E5C76"/>
                </a:solidFill>
                <a:latin typeface="Calibri" pitchFamily="34" charset="0"/>
                <a:ea typeface="Calibri" pitchFamily="34" charset="-122"/>
                <a:cs typeface="Calibri" pitchFamily="34" charset="-120"/>
              </a:rPr>
              <a:t>Ví dụ:  Kafka, RabbitMQ, gửi email/SMS</a:t>
            </a:r>
            <a:endParaRPr lang="en-US" sz="950" dirty="0"/>
          </a:p>
        </p:txBody>
      </p:sp>
      <p:sp>
        <p:nvSpPr>
          <p:cNvPr id="32" name="Shape 30"/>
          <p:cNvSpPr/>
          <p:nvPr/>
        </p:nvSpPr>
        <p:spPr>
          <a:xfrm>
            <a:off x="502920" y="3813048"/>
            <a:ext cx="5394960" cy="2304288"/>
          </a:xfrm>
          <a:prstGeom prst="roundRect">
            <a:avLst>
              <a:gd name="adj" fmla="val 3175"/>
            </a:avLst>
          </a:prstGeom>
          <a:solidFill>
            <a:srgbClr val="F1F5F9"/>
          </a:solidFill>
          <a:ln w="12700">
            <a:solidFill>
              <a:srgbClr val="DCE4EC"/>
            </a:solidFill>
            <a:prstDash val="solid"/>
          </a:ln>
        </p:spPr>
      </p:sp>
      <p:sp>
        <p:nvSpPr>
          <p:cNvPr id="33" name="Shape 31"/>
          <p:cNvSpPr/>
          <p:nvPr/>
        </p:nvSpPr>
        <p:spPr>
          <a:xfrm>
            <a:off x="704088" y="3977640"/>
            <a:ext cx="2331720" cy="310896"/>
          </a:xfrm>
          <a:prstGeom prst="roundRect">
            <a:avLst>
              <a:gd name="adj" fmla="val 20588"/>
            </a:avLst>
          </a:prstGeom>
          <a:solidFill>
            <a:srgbClr val="E8A317"/>
          </a:solidFill>
          <a:ln w="12700">
            <a:solidFill>
              <a:srgbClr val="E8A317"/>
            </a:solidFill>
            <a:prstDash val="solid"/>
          </a:ln>
        </p:spPr>
      </p:sp>
      <p:sp>
        <p:nvSpPr>
          <p:cNvPr id="34" name="Text 32"/>
          <p:cNvSpPr/>
          <p:nvPr/>
        </p:nvSpPr>
        <p:spPr>
          <a:xfrm>
            <a:off x="704088" y="3977640"/>
            <a:ext cx="2331720" cy="310896"/>
          </a:xfrm>
          <a:prstGeom prst="rect">
            <a:avLst/>
          </a:prstGeom>
          <a:noFill/>
          <a:ln/>
        </p:spPr>
        <p:txBody>
          <a:bodyPr wrap="square" lIns="0" tIns="0" rIns="0" bIns="0" rtlCol="0" anchor="ctr"/>
          <a:lstStyle/>
          <a:p>
            <a:pPr algn="ctr" indent="0" marL="0">
              <a:buNone/>
            </a:pPr>
            <a:r>
              <a:rPr lang="en-US" sz="900" b="1" dirty="0">
                <a:solidFill>
                  <a:srgbClr val="0B2545"/>
                </a:solidFill>
                <a:latin typeface="Calibri" pitchFamily="34" charset="0"/>
                <a:ea typeface="Calibri" pitchFamily="34" charset="-122"/>
                <a:cs typeface="Calibri" pitchFamily="34" charset="-120"/>
              </a:rPr>
              <a:t>Broker Forwarding</a:t>
            </a:r>
            <a:endParaRPr lang="en-US" sz="900" dirty="0"/>
          </a:p>
        </p:txBody>
      </p:sp>
      <p:sp>
        <p:nvSpPr>
          <p:cNvPr id="35" name="Shape 33"/>
          <p:cNvSpPr/>
          <p:nvPr/>
        </p:nvSpPr>
        <p:spPr>
          <a:xfrm>
            <a:off x="662940" y="4498848"/>
            <a:ext cx="960120" cy="384048"/>
          </a:xfrm>
          <a:prstGeom prst="roundRect">
            <a:avLst>
              <a:gd name="adj" fmla="val 16667"/>
            </a:avLst>
          </a:prstGeom>
          <a:solidFill>
            <a:srgbClr val="E8A317"/>
          </a:solidFill>
          <a:ln w="15240">
            <a:solidFill>
              <a:srgbClr val="E8A317"/>
            </a:solidFill>
            <a:prstDash val="solid"/>
          </a:ln>
        </p:spPr>
      </p:sp>
      <p:sp>
        <p:nvSpPr>
          <p:cNvPr id="36" name="Text 34"/>
          <p:cNvSpPr/>
          <p:nvPr/>
        </p:nvSpPr>
        <p:spPr>
          <a:xfrm>
            <a:off x="708660" y="4498848"/>
            <a:ext cx="868680" cy="384048"/>
          </a:xfrm>
          <a:prstGeom prst="rect">
            <a:avLst/>
          </a:prstGeom>
          <a:noFill/>
          <a:ln/>
        </p:spPr>
        <p:txBody>
          <a:bodyPr wrap="square" lIns="0" tIns="0" rIns="0" bIns="0" rtlCol="0" anchor="ctr"/>
          <a:lstStyle/>
          <a:p>
            <a:pPr algn="ctr" indent="0" marL="0">
              <a:lnSpc>
                <a:spcPct val="95000"/>
              </a:lnSpc>
              <a:buNone/>
            </a:pPr>
            <a:r>
              <a:rPr lang="en-US" sz="1000" b="1" dirty="0">
                <a:solidFill>
                  <a:srgbClr val="0B2545"/>
                </a:solidFill>
                <a:latin typeface="Calibri" pitchFamily="34" charset="0"/>
                <a:ea typeface="Calibri" pitchFamily="34" charset="-122"/>
                <a:cs typeface="Calibri" pitchFamily="34" charset="-120"/>
              </a:rPr>
              <a:t>A</a:t>
            </a:r>
            <a:endParaRPr lang="en-US" sz="1000" dirty="0"/>
          </a:p>
        </p:txBody>
      </p:sp>
      <p:sp>
        <p:nvSpPr>
          <p:cNvPr id="37" name="Shape 35"/>
          <p:cNvSpPr/>
          <p:nvPr/>
        </p:nvSpPr>
        <p:spPr>
          <a:xfrm>
            <a:off x="1760220" y="4498848"/>
            <a:ext cx="1051560" cy="384048"/>
          </a:xfrm>
          <a:prstGeom prst="roundRect">
            <a:avLst>
              <a:gd name="adj" fmla="val 16667"/>
            </a:avLst>
          </a:prstGeom>
          <a:solidFill>
            <a:srgbClr val="0B2545"/>
          </a:solidFill>
          <a:ln w="15240">
            <a:solidFill>
              <a:srgbClr val="0B2545"/>
            </a:solidFill>
            <a:prstDash val="solid"/>
          </a:ln>
        </p:spPr>
      </p:sp>
      <p:sp>
        <p:nvSpPr>
          <p:cNvPr id="38" name="Text 36"/>
          <p:cNvSpPr/>
          <p:nvPr/>
        </p:nvSpPr>
        <p:spPr>
          <a:xfrm>
            <a:off x="1805940" y="4498848"/>
            <a:ext cx="960120" cy="384048"/>
          </a:xfrm>
          <a:prstGeom prst="rect">
            <a:avLst/>
          </a:prstGeom>
          <a:noFill/>
          <a:ln/>
        </p:spPr>
        <p:txBody>
          <a:bodyPr wrap="square" lIns="0" tIns="0" rIns="0" bIns="0" rtlCol="0" anchor="ctr"/>
          <a:lstStyle/>
          <a:p>
            <a:pPr algn="ctr" indent="0" marL="0">
              <a:lnSpc>
                <a:spcPct val="95000"/>
              </a:lnSpc>
              <a:buNone/>
            </a:pPr>
            <a:r>
              <a:rPr lang="en-US" sz="900" b="1" dirty="0">
                <a:solidFill>
                  <a:srgbClr val="FFFFFF"/>
                </a:solidFill>
                <a:latin typeface="Calibri" pitchFamily="34" charset="0"/>
                <a:ea typeface="Calibri" pitchFamily="34" charset="-122"/>
                <a:cs typeface="Calibri" pitchFamily="34" charset="-120"/>
              </a:rPr>
              <a:t>Broker</a:t>
            </a:r>
            <a:endParaRPr lang="en-US" sz="900" dirty="0"/>
          </a:p>
        </p:txBody>
      </p:sp>
      <p:sp>
        <p:nvSpPr>
          <p:cNvPr id="39" name="Shape 37"/>
          <p:cNvSpPr/>
          <p:nvPr/>
        </p:nvSpPr>
        <p:spPr>
          <a:xfrm>
            <a:off x="2948940" y="4498848"/>
            <a:ext cx="960120" cy="384048"/>
          </a:xfrm>
          <a:prstGeom prst="roundRect">
            <a:avLst>
              <a:gd name="adj" fmla="val 16667"/>
            </a:avLst>
          </a:prstGeom>
          <a:solidFill>
            <a:srgbClr val="12726B"/>
          </a:solidFill>
          <a:ln w="15240">
            <a:solidFill>
              <a:srgbClr val="12726B"/>
            </a:solidFill>
            <a:prstDash val="solid"/>
          </a:ln>
        </p:spPr>
      </p:sp>
      <p:sp>
        <p:nvSpPr>
          <p:cNvPr id="40" name="Text 38"/>
          <p:cNvSpPr/>
          <p:nvPr/>
        </p:nvSpPr>
        <p:spPr>
          <a:xfrm>
            <a:off x="2994660" y="4498848"/>
            <a:ext cx="868680" cy="384048"/>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1" name="Shape 39"/>
          <p:cNvSpPr/>
          <p:nvPr/>
        </p:nvSpPr>
        <p:spPr>
          <a:xfrm>
            <a:off x="1636776" y="4690872"/>
            <a:ext cx="109728" cy="0"/>
          </a:xfrm>
          <a:prstGeom prst="line">
            <a:avLst/>
          </a:prstGeom>
          <a:noFill/>
          <a:ln w="16510">
            <a:solidFill>
              <a:srgbClr val="0B2545"/>
            </a:solidFill>
            <a:prstDash val="solid"/>
            <a:tailEnd type="triangle"/>
          </a:ln>
        </p:spPr>
      </p:sp>
      <p:sp>
        <p:nvSpPr>
          <p:cNvPr id="42" name="Shape 40"/>
          <p:cNvSpPr/>
          <p:nvPr/>
        </p:nvSpPr>
        <p:spPr>
          <a:xfrm>
            <a:off x="2825496" y="4690872"/>
            <a:ext cx="109728" cy="0"/>
          </a:xfrm>
          <a:prstGeom prst="line">
            <a:avLst/>
          </a:prstGeom>
          <a:noFill/>
          <a:ln w="16510">
            <a:solidFill>
              <a:srgbClr val="0B2545"/>
            </a:solidFill>
            <a:prstDash val="solid"/>
            <a:tailEnd type="triangle"/>
          </a:ln>
        </p:spPr>
      </p:sp>
      <p:sp>
        <p:nvSpPr>
          <p:cNvPr id="43" name="Text 41"/>
          <p:cNvSpPr/>
          <p:nvPr/>
        </p:nvSpPr>
        <p:spPr>
          <a:xfrm>
            <a:off x="722376" y="5047488"/>
            <a:ext cx="4983480" cy="658368"/>
          </a:xfrm>
          <a:prstGeom prst="rect">
            <a:avLst/>
          </a:prstGeom>
          <a:noFill/>
          <a:ln/>
        </p:spPr>
        <p:txBody>
          <a:bodyPr wrap="square" lIns="0" tIns="0" rIns="0" bIns="0" rtlCol="0" anchor="t"/>
          <a:lstStyle/>
          <a:p>
            <a:pPr indent="0" marL="0">
              <a:lnSpc>
                <a:spcPct val="108000"/>
              </a:lnSpc>
              <a:buNone/>
            </a:pPr>
            <a:r>
              <a:rPr lang="en-US" sz="1100" dirty="0">
                <a:solidFill>
                  <a:srgbClr val="13315C"/>
                </a:solidFill>
                <a:latin typeface="Calibri" pitchFamily="34" charset="0"/>
                <a:ea typeface="Calibri" pitchFamily="34" charset="-122"/>
                <a:cs typeface="Calibri" pitchFamily="34" charset="-120"/>
              </a:rPr>
              <a:t>A gửi cho broker, broker tìm và chuyển tiếp tới B. A không cần biết B ở đâu.</a:t>
            </a:r>
            <a:endParaRPr lang="en-US" sz="1100" dirty="0"/>
          </a:p>
        </p:txBody>
      </p:sp>
      <p:sp>
        <p:nvSpPr>
          <p:cNvPr id="44" name="Shape 42"/>
          <p:cNvSpPr/>
          <p:nvPr/>
        </p:nvSpPr>
        <p:spPr>
          <a:xfrm>
            <a:off x="722376" y="5696712"/>
            <a:ext cx="4983480" cy="310896"/>
          </a:xfrm>
          <a:prstGeom prst="rect">
            <a:avLst/>
          </a:prstGeom>
          <a:solidFill>
            <a:srgbClr val="FFFFFF"/>
          </a:solidFill>
          <a:ln w="12700">
            <a:solidFill>
              <a:srgbClr val="C9D6E2"/>
            </a:solidFill>
            <a:prstDash val="solid"/>
          </a:ln>
        </p:spPr>
      </p:sp>
      <p:sp>
        <p:nvSpPr>
          <p:cNvPr id="45" name="Text 43"/>
          <p:cNvSpPr/>
          <p:nvPr/>
        </p:nvSpPr>
        <p:spPr>
          <a:xfrm>
            <a:off x="813816" y="5696712"/>
            <a:ext cx="4800600" cy="310896"/>
          </a:xfrm>
          <a:prstGeom prst="rect">
            <a:avLst/>
          </a:prstGeom>
          <a:noFill/>
          <a:ln/>
        </p:spPr>
        <p:txBody>
          <a:bodyPr wrap="square" lIns="0" tIns="0" rIns="0" bIns="0" rtlCol="0" anchor="ctr"/>
          <a:lstStyle/>
          <a:p>
            <a:pPr indent="0" marL="0">
              <a:buNone/>
            </a:pPr>
            <a:r>
              <a:rPr lang="en-US" sz="950" i="1" dirty="0">
                <a:solidFill>
                  <a:srgbClr val="3E5C76"/>
                </a:solidFill>
                <a:latin typeface="Calibri" pitchFamily="34" charset="0"/>
                <a:ea typeface="Calibri" pitchFamily="34" charset="-122"/>
                <a:cs typeface="Calibri" pitchFamily="34" charset="-120"/>
              </a:rPr>
              <a:t>Ví dụ:  ESB, service mesh</a:t>
            </a:r>
            <a:endParaRPr lang="en-US" sz="950" dirty="0"/>
          </a:p>
        </p:txBody>
      </p:sp>
      <p:sp>
        <p:nvSpPr>
          <p:cNvPr id="46" name="Shape 44"/>
          <p:cNvSpPr/>
          <p:nvPr/>
        </p:nvSpPr>
        <p:spPr>
          <a:xfrm>
            <a:off x="6217920" y="3813048"/>
            <a:ext cx="5394960" cy="2304288"/>
          </a:xfrm>
          <a:prstGeom prst="roundRect">
            <a:avLst>
              <a:gd name="adj" fmla="val 3175"/>
            </a:avLst>
          </a:prstGeom>
          <a:solidFill>
            <a:srgbClr val="FFFFFF"/>
          </a:solidFill>
          <a:ln w="12700">
            <a:solidFill>
              <a:srgbClr val="DCE4EC"/>
            </a:solidFill>
            <a:prstDash val="solid"/>
          </a:ln>
        </p:spPr>
      </p:sp>
      <p:sp>
        <p:nvSpPr>
          <p:cNvPr id="47" name="Shape 45"/>
          <p:cNvSpPr/>
          <p:nvPr/>
        </p:nvSpPr>
        <p:spPr>
          <a:xfrm>
            <a:off x="6419088" y="3977640"/>
            <a:ext cx="2331720" cy="310896"/>
          </a:xfrm>
          <a:prstGeom prst="roundRect">
            <a:avLst>
              <a:gd name="adj" fmla="val 20588"/>
            </a:avLst>
          </a:prstGeom>
          <a:solidFill>
            <a:srgbClr val="B23A32"/>
          </a:solidFill>
          <a:ln w="12700">
            <a:solidFill>
              <a:srgbClr val="B23A32"/>
            </a:solidFill>
            <a:prstDash val="solid"/>
          </a:ln>
        </p:spPr>
      </p:sp>
      <p:sp>
        <p:nvSpPr>
          <p:cNvPr id="48" name="Text 46"/>
          <p:cNvSpPr/>
          <p:nvPr/>
        </p:nvSpPr>
        <p:spPr>
          <a:xfrm>
            <a:off x="6419088" y="3977640"/>
            <a:ext cx="233172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Subscription / Notification</a:t>
            </a:r>
            <a:endParaRPr lang="en-US" sz="900" dirty="0"/>
          </a:p>
        </p:txBody>
      </p:sp>
      <p:sp>
        <p:nvSpPr>
          <p:cNvPr id="49" name="Shape 47"/>
          <p:cNvSpPr/>
          <p:nvPr/>
        </p:nvSpPr>
        <p:spPr>
          <a:xfrm>
            <a:off x="6400800" y="4498848"/>
            <a:ext cx="1097280" cy="384048"/>
          </a:xfrm>
          <a:prstGeom prst="roundRect">
            <a:avLst>
              <a:gd name="adj" fmla="val 16667"/>
            </a:avLst>
          </a:prstGeom>
          <a:solidFill>
            <a:srgbClr val="0B2545"/>
          </a:solidFill>
          <a:ln w="15240">
            <a:solidFill>
              <a:srgbClr val="0B2545"/>
            </a:solidFill>
            <a:prstDash val="solid"/>
          </a:ln>
        </p:spPr>
      </p:sp>
      <p:sp>
        <p:nvSpPr>
          <p:cNvPr id="50" name="Text 48"/>
          <p:cNvSpPr/>
          <p:nvPr/>
        </p:nvSpPr>
        <p:spPr>
          <a:xfrm>
            <a:off x="6446520" y="4498848"/>
            <a:ext cx="1005840" cy="384048"/>
          </a:xfrm>
          <a:prstGeom prst="rect">
            <a:avLst/>
          </a:prstGeom>
          <a:noFill/>
          <a:ln/>
        </p:spPr>
        <p:txBody>
          <a:bodyPr wrap="square" lIns="0" tIns="0" rIns="0" bIns="0" rtlCol="0" anchor="ctr"/>
          <a:lstStyle/>
          <a:p>
            <a:pPr algn="ctr" indent="0" marL="0">
              <a:lnSpc>
                <a:spcPct val="95000"/>
              </a:lnSpc>
              <a:buNone/>
            </a:pPr>
            <a:r>
              <a:rPr lang="en-US" sz="850" b="1" dirty="0">
                <a:solidFill>
                  <a:srgbClr val="FFFFFF"/>
                </a:solidFill>
                <a:latin typeface="Calibri" pitchFamily="34" charset="0"/>
                <a:ea typeface="Calibri" pitchFamily="34" charset="-122"/>
                <a:cs typeface="Calibri" pitchFamily="34" charset="-120"/>
              </a:rPr>
              <a:t>Publisher</a:t>
            </a:r>
            <a:endParaRPr lang="en-US" sz="850" dirty="0"/>
          </a:p>
        </p:txBody>
      </p:sp>
      <p:sp>
        <p:nvSpPr>
          <p:cNvPr id="51" name="Shape 49"/>
          <p:cNvSpPr/>
          <p:nvPr/>
        </p:nvSpPr>
        <p:spPr>
          <a:xfrm>
            <a:off x="8412480" y="4242816"/>
            <a:ext cx="1097280" cy="329184"/>
          </a:xfrm>
          <a:prstGeom prst="roundRect">
            <a:avLst>
              <a:gd name="adj" fmla="val 19444"/>
            </a:avLst>
          </a:prstGeom>
          <a:solidFill>
            <a:srgbClr val="12726B"/>
          </a:solidFill>
          <a:ln w="15240">
            <a:solidFill>
              <a:srgbClr val="12726B"/>
            </a:solidFill>
            <a:prstDash val="solid"/>
          </a:ln>
        </p:spPr>
      </p:sp>
      <p:sp>
        <p:nvSpPr>
          <p:cNvPr id="52" name="Text 50"/>
          <p:cNvSpPr/>
          <p:nvPr/>
        </p:nvSpPr>
        <p:spPr>
          <a:xfrm>
            <a:off x="8458200" y="4242816"/>
            <a:ext cx="1005840" cy="329184"/>
          </a:xfrm>
          <a:prstGeom prst="rect">
            <a:avLst/>
          </a:prstGeom>
          <a:noFill/>
          <a:ln/>
        </p:spPr>
        <p:txBody>
          <a:bodyPr wrap="square" lIns="0" tIns="0" rIns="0" bIns="0" rtlCol="0" anchor="ctr"/>
          <a:lstStyle/>
          <a:p>
            <a:pPr algn="ctr" indent="0" marL="0">
              <a:lnSpc>
                <a:spcPct val="95000"/>
              </a:lnSpc>
              <a:buNone/>
            </a:pPr>
            <a:r>
              <a:rPr lang="en-US" sz="900" b="1" dirty="0">
                <a:solidFill>
                  <a:srgbClr val="FFFFFF"/>
                </a:solidFill>
                <a:latin typeface="Calibri" pitchFamily="34" charset="0"/>
                <a:ea typeface="Calibri" pitchFamily="34" charset="-122"/>
                <a:cs typeface="Calibri" pitchFamily="34" charset="-120"/>
              </a:rPr>
              <a:t>Sub 1</a:t>
            </a:r>
            <a:endParaRPr lang="en-US" sz="900" dirty="0"/>
          </a:p>
        </p:txBody>
      </p:sp>
      <p:sp>
        <p:nvSpPr>
          <p:cNvPr id="53" name="Shape 51"/>
          <p:cNvSpPr/>
          <p:nvPr/>
        </p:nvSpPr>
        <p:spPr>
          <a:xfrm>
            <a:off x="8412480" y="4754880"/>
            <a:ext cx="1097280" cy="329184"/>
          </a:xfrm>
          <a:prstGeom prst="roundRect">
            <a:avLst>
              <a:gd name="adj" fmla="val 19444"/>
            </a:avLst>
          </a:prstGeom>
          <a:solidFill>
            <a:srgbClr val="12726B"/>
          </a:solidFill>
          <a:ln w="15240">
            <a:solidFill>
              <a:srgbClr val="12726B"/>
            </a:solidFill>
            <a:prstDash val="solid"/>
          </a:ln>
        </p:spPr>
      </p:sp>
      <p:sp>
        <p:nvSpPr>
          <p:cNvPr id="54" name="Text 52"/>
          <p:cNvSpPr/>
          <p:nvPr/>
        </p:nvSpPr>
        <p:spPr>
          <a:xfrm>
            <a:off x="8458200" y="4754880"/>
            <a:ext cx="1005840" cy="329184"/>
          </a:xfrm>
          <a:prstGeom prst="rect">
            <a:avLst/>
          </a:prstGeom>
          <a:noFill/>
          <a:ln/>
        </p:spPr>
        <p:txBody>
          <a:bodyPr wrap="square" lIns="0" tIns="0" rIns="0" bIns="0" rtlCol="0" anchor="ctr"/>
          <a:lstStyle/>
          <a:p>
            <a:pPr algn="ctr" indent="0" marL="0">
              <a:lnSpc>
                <a:spcPct val="95000"/>
              </a:lnSpc>
              <a:buNone/>
            </a:pPr>
            <a:r>
              <a:rPr lang="en-US" sz="900" b="1" dirty="0">
                <a:solidFill>
                  <a:srgbClr val="FFFFFF"/>
                </a:solidFill>
                <a:latin typeface="Calibri" pitchFamily="34" charset="0"/>
                <a:ea typeface="Calibri" pitchFamily="34" charset="-122"/>
                <a:cs typeface="Calibri" pitchFamily="34" charset="-120"/>
              </a:rPr>
              <a:t>Sub 2</a:t>
            </a:r>
            <a:endParaRPr lang="en-US" sz="900" dirty="0"/>
          </a:p>
        </p:txBody>
      </p:sp>
      <p:sp>
        <p:nvSpPr>
          <p:cNvPr id="55" name="Shape 53"/>
          <p:cNvSpPr/>
          <p:nvPr/>
        </p:nvSpPr>
        <p:spPr>
          <a:xfrm>
            <a:off x="7498080" y="4690872"/>
            <a:ext cx="640080" cy="0"/>
          </a:xfrm>
          <a:prstGeom prst="line">
            <a:avLst/>
          </a:prstGeom>
          <a:noFill/>
          <a:ln w="16510">
            <a:solidFill>
              <a:srgbClr val="B23A32"/>
            </a:solidFill>
            <a:prstDash val="solid"/>
          </a:ln>
        </p:spPr>
      </p:sp>
      <p:sp>
        <p:nvSpPr>
          <p:cNvPr id="56" name="Shape 54"/>
          <p:cNvSpPr/>
          <p:nvPr/>
        </p:nvSpPr>
        <p:spPr>
          <a:xfrm>
            <a:off x="8138160" y="4407408"/>
            <a:ext cx="0" cy="283464"/>
          </a:xfrm>
          <a:prstGeom prst="line">
            <a:avLst/>
          </a:prstGeom>
          <a:noFill/>
          <a:ln w="16510">
            <a:solidFill>
              <a:srgbClr val="B23A32"/>
            </a:solidFill>
            <a:prstDash val="solid"/>
          </a:ln>
        </p:spPr>
      </p:sp>
      <p:sp>
        <p:nvSpPr>
          <p:cNvPr id="57" name="Shape 55"/>
          <p:cNvSpPr/>
          <p:nvPr/>
        </p:nvSpPr>
        <p:spPr>
          <a:xfrm>
            <a:off x="8138160" y="4407408"/>
            <a:ext cx="274320" cy="0"/>
          </a:xfrm>
          <a:prstGeom prst="line">
            <a:avLst/>
          </a:prstGeom>
          <a:noFill/>
          <a:ln w="16510">
            <a:solidFill>
              <a:srgbClr val="B23A32"/>
            </a:solidFill>
            <a:prstDash val="solid"/>
            <a:tailEnd type="triangle"/>
          </a:ln>
        </p:spPr>
      </p:sp>
      <p:sp>
        <p:nvSpPr>
          <p:cNvPr id="58" name="Shape 56"/>
          <p:cNvSpPr/>
          <p:nvPr/>
        </p:nvSpPr>
        <p:spPr>
          <a:xfrm>
            <a:off x="8138160" y="4690872"/>
            <a:ext cx="0" cy="228600"/>
          </a:xfrm>
          <a:prstGeom prst="line">
            <a:avLst/>
          </a:prstGeom>
          <a:noFill/>
          <a:ln w="16510">
            <a:solidFill>
              <a:srgbClr val="B23A32"/>
            </a:solidFill>
            <a:prstDash val="solid"/>
          </a:ln>
        </p:spPr>
      </p:sp>
      <p:sp>
        <p:nvSpPr>
          <p:cNvPr id="59" name="Shape 57"/>
          <p:cNvSpPr/>
          <p:nvPr/>
        </p:nvSpPr>
        <p:spPr>
          <a:xfrm>
            <a:off x="8138160" y="4919472"/>
            <a:ext cx="274320" cy="0"/>
          </a:xfrm>
          <a:prstGeom prst="line">
            <a:avLst/>
          </a:prstGeom>
          <a:noFill/>
          <a:ln w="16510">
            <a:solidFill>
              <a:srgbClr val="B23A32"/>
            </a:solidFill>
            <a:prstDash val="solid"/>
            <a:tailEnd type="triangle"/>
          </a:ln>
        </p:spPr>
      </p:sp>
      <p:sp>
        <p:nvSpPr>
          <p:cNvPr id="60" name="Text 58"/>
          <p:cNvSpPr/>
          <p:nvPr/>
        </p:nvSpPr>
        <p:spPr>
          <a:xfrm>
            <a:off x="6437376" y="5047488"/>
            <a:ext cx="4983480" cy="658368"/>
          </a:xfrm>
          <a:prstGeom prst="rect">
            <a:avLst/>
          </a:prstGeom>
          <a:noFill/>
          <a:ln/>
        </p:spPr>
        <p:txBody>
          <a:bodyPr wrap="square" lIns="0" tIns="0" rIns="0" bIns="0" rtlCol="0" anchor="t"/>
          <a:lstStyle/>
          <a:p>
            <a:pPr indent="0" marL="0">
              <a:lnSpc>
                <a:spcPct val="108000"/>
              </a:lnSpc>
              <a:buNone/>
            </a:pPr>
            <a:r>
              <a:rPr lang="en-US" sz="1100" dirty="0">
                <a:solidFill>
                  <a:srgbClr val="13315C"/>
                </a:solidFill>
                <a:latin typeface="Calibri" pitchFamily="34" charset="0"/>
                <a:ea typeface="Calibri" pitchFamily="34" charset="-122"/>
                <a:cs typeface="Calibri" pitchFamily="34" charset="-120"/>
              </a:rPr>
              <a:t>B đăng ký quan tâm; khi có sự kiện, A tự động thông báo cho mọi bên đã đăng ký.</a:t>
            </a:r>
            <a:endParaRPr lang="en-US" sz="1100" dirty="0"/>
          </a:p>
        </p:txBody>
      </p:sp>
      <p:sp>
        <p:nvSpPr>
          <p:cNvPr id="61" name="Shape 59"/>
          <p:cNvSpPr/>
          <p:nvPr/>
        </p:nvSpPr>
        <p:spPr>
          <a:xfrm>
            <a:off x="6437376" y="5696712"/>
            <a:ext cx="4983480" cy="310896"/>
          </a:xfrm>
          <a:prstGeom prst="rect">
            <a:avLst/>
          </a:prstGeom>
          <a:solidFill>
            <a:srgbClr val="FFFFFF"/>
          </a:solidFill>
          <a:ln w="12700">
            <a:solidFill>
              <a:srgbClr val="C9D6E2"/>
            </a:solidFill>
            <a:prstDash val="solid"/>
          </a:ln>
        </p:spPr>
      </p:sp>
      <p:sp>
        <p:nvSpPr>
          <p:cNvPr id="62" name="Text 60"/>
          <p:cNvSpPr/>
          <p:nvPr/>
        </p:nvSpPr>
        <p:spPr>
          <a:xfrm>
            <a:off x="6528816" y="5696712"/>
            <a:ext cx="4800600" cy="310896"/>
          </a:xfrm>
          <a:prstGeom prst="rect">
            <a:avLst/>
          </a:prstGeom>
          <a:noFill/>
          <a:ln/>
        </p:spPr>
        <p:txBody>
          <a:bodyPr wrap="square" lIns="0" tIns="0" rIns="0" bIns="0" rtlCol="0" anchor="ctr"/>
          <a:lstStyle/>
          <a:p>
            <a:pPr indent="0" marL="0">
              <a:buNone/>
            </a:pPr>
            <a:r>
              <a:rPr lang="en-US" sz="950" i="1" dirty="0">
                <a:solidFill>
                  <a:srgbClr val="3E5C76"/>
                </a:solidFill>
                <a:latin typeface="Calibri" pitchFamily="34" charset="0"/>
                <a:ea typeface="Calibri" pitchFamily="34" charset="-122"/>
                <a:cs typeface="Calibri" pitchFamily="34" charset="-120"/>
              </a:rPr>
              <a:t>Ví dụ:  Event-driven, WebSocket, webhook</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16</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Bảng tổng hợp: bảy kiến trúc trong một trang</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In trang này ra và dán vào vở — đủ để ôn phần trắc nghiệm</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298448"/>
          <a:ext cx="11475720" cy="914400"/>
        </p:xfrm>
        <a:graphic>
          <a:graphicData uri="http://schemas.openxmlformats.org/drawingml/2006/table">
            <a:tbl>
              <a:tblPr/>
              <a:tblGrid>
                <a:gridCol w="1691640"/>
                <a:gridCol w="548640"/>
                <a:gridCol w="2331720"/>
                <a:gridCol w="2377440"/>
                <a:gridCol w="2377440"/>
                <a:gridCol w="2148840"/>
              </a:tblGrid>
              <a:tr h="29260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Kiến trúc</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Ch.</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Ý tưởng chính</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Ưu điểm</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Nhược điểm</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Dùng khi</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B2545"/>
                    </a:solidFill>
                  </a:tcPr>
                </a:tc>
              </a:tr>
              <a:tr h="566928">
                <a:tc>
                  <a:txBody>
                    <a:bodyPr/>
                    <a:lstStyle/>
                    <a:p>
                      <a:pPr indent="0" marL="0">
                        <a:buNone/>
                      </a:pPr>
                      <a:r>
                        <a:rPr lang="en-US" sz="950" b="1" dirty="0">
                          <a:solidFill>
                            <a:srgbClr val="0B2545"/>
                          </a:solidFill>
                          <a:latin typeface="Calibri" pitchFamily="34" charset="0"/>
                          <a:ea typeface="Calibri" pitchFamily="34" charset="-122"/>
                          <a:cs typeface="Calibri" pitchFamily="34" charset="-120"/>
                        </a:rPr>
                        <a:t>Layers of Abstraction</a:t>
                      </a:r>
                      <a:endParaRPr lang="en-US" sz="9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E8A317"/>
                          </a:solidFill>
                          <a:latin typeface="Calibri" pitchFamily="34" charset="0"/>
                          <a:ea typeface="Calibri" pitchFamily="34" charset="-122"/>
                          <a:cs typeface="Calibri" pitchFamily="34" charset="-120"/>
                        </a:rPr>
                        <a:t>Ch.12</a:t>
                      </a:r>
                      <a:endParaRPr lang="en-US" sz="8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3315C"/>
                          </a:solidFill>
                          <a:latin typeface="Calibri" pitchFamily="34" charset="0"/>
                          <a:ea typeface="Calibri" pitchFamily="34" charset="-122"/>
                          <a:cs typeface="Calibri" pitchFamily="34" charset="-120"/>
                        </a:rPr>
                        <a:t>Chia theo tầng trừu tượng, chỉ gọi xuống</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E7A44"/>
                          </a:solidFill>
                          <a:latin typeface="Calibri" pitchFamily="34" charset="0"/>
                          <a:ea typeface="Calibri" pitchFamily="34" charset="-122"/>
                          <a:cs typeface="Calibri" pitchFamily="34" charset="-120"/>
                        </a:rPr>
                        <a:t>Dễ hiểu, dễ kiểm thử, dễ phân công</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B23A32"/>
                          </a:solidFill>
                          <a:latin typeface="Calibri" pitchFamily="34" charset="0"/>
                          <a:ea typeface="Calibri" pitchFamily="34" charset="-122"/>
                          <a:cs typeface="Calibri" pitchFamily="34" charset="-120"/>
                        </a:rPr>
                        <a:t>Xuyên tầng tốn chi phí, dễ có tầng rỗng</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i="1" dirty="0">
                          <a:solidFill>
                            <a:srgbClr val="3E5C76"/>
                          </a:solidFill>
                          <a:latin typeface="Calibri" pitchFamily="34" charset="0"/>
                          <a:ea typeface="Calibri" pitchFamily="34" charset="-122"/>
                          <a:cs typeface="Calibri" pitchFamily="34" charset="-120"/>
                        </a:rPr>
                        <a:t>Ứng dụng nghiệp vụ cỡ vừa</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0B2545"/>
                          </a:solidFill>
                          <a:latin typeface="Calibri" pitchFamily="34" charset="0"/>
                          <a:ea typeface="Calibri" pitchFamily="34" charset="-122"/>
                          <a:cs typeface="Calibri" pitchFamily="34" charset="-120"/>
                        </a:rPr>
                        <a:t>Kernel</a:t>
                      </a:r>
                      <a:endParaRPr lang="en-US" sz="9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E8A317"/>
                          </a:solidFill>
                          <a:latin typeface="Calibri" pitchFamily="34" charset="0"/>
                          <a:ea typeface="Calibri" pitchFamily="34" charset="-122"/>
                          <a:cs typeface="Calibri" pitchFamily="34" charset="-120"/>
                        </a:rPr>
                        <a:t>Ch.12</a:t>
                      </a:r>
                      <a:endParaRPr lang="en-US" sz="8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3315C"/>
                          </a:solidFill>
                          <a:latin typeface="Calibri" pitchFamily="34" charset="0"/>
                          <a:ea typeface="Calibri" pitchFamily="34" charset="-122"/>
                          <a:cs typeface="Calibri" pitchFamily="34" charset="-120"/>
                        </a:rPr>
                        <a:t>Lõi tối thiểu cung cấp dịch vụ nền</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E7A44"/>
                          </a:solidFill>
                          <a:latin typeface="Calibri" pitchFamily="34" charset="0"/>
                          <a:ea typeface="Calibri" pitchFamily="34" charset="-122"/>
                          <a:cs typeface="Calibri" pitchFamily="34" charset="-120"/>
                        </a:rPr>
                        <a:t>Ổn định, bảo mật tốt</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B23A32"/>
                          </a:solidFill>
                          <a:latin typeface="Calibri" pitchFamily="34" charset="0"/>
                          <a:ea typeface="Calibri" pitchFamily="34" charset="-122"/>
                          <a:cs typeface="Calibri" pitchFamily="34" charset="-120"/>
                        </a:rPr>
                        <a:t>Lõi phình to theo thời gian</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i="1" dirty="0">
                          <a:solidFill>
                            <a:srgbClr val="3E5C76"/>
                          </a:solidFill>
                          <a:latin typeface="Calibri" pitchFamily="34" charset="0"/>
                          <a:ea typeface="Calibri" pitchFamily="34" charset="-122"/>
                          <a:cs typeface="Calibri" pitchFamily="34" charset="-120"/>
                        </a:rPr>
                        <a:t>Hệ điều hành, nền tảng</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0B2545"/>
                          </a:solidFill>
                          <a:latin typeface="Calibri" pitchFamily="34" charset="0"/>
                          <a:ea typeface="Calibri" pitchFamily="34" charset="-122"/>
                          <a:cs typeface="Calibri" pitchFamily="34" charset="-120"/>
                        </a:rPr>
                        <a:t>Client/Server</a:t>
                      </a:r>
                      <a:endParaRPr lang="en-US" sz="9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E8A317"/>
                          </a:solidFill>
                          <a:latin typeface="Calibri" pitchFamily="34" charset="0"/>
                          <a:ea typeface="Calibri" pitchFamily="34" charset="-122"/>
                          <a:cs typeface="Calibri" pitchFamily="34" charset="-120"/>
                        </a:rPr>
                        <a:t>Ch.15</a:t>
                      </a:r>
                      <a:endParaRPr lang="en-US" sz="8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3315C"/>
                          </a:solidFill>
                          <a:latin typeface="Calibri" pitchFamily="34" charset="0"/>
                          <a:ea typeface="Calibri" pitchFamily="34" charset="-122"/>
                          <a:cs typeface="Calibri" pitchFamily="34" charset="-120"/>
                        </a:rPr>
                        <a:t>Bên yêu cầu tách khỏi bên phục vụ</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E7A44"/>
                          </a:solidFill>
                          <a:latin typeface="Calibri" pitchFamily="34" charset="0"/>
                          <a:ea typeface="Calibri" pitchFamily="34" charset="-122"/>
                          <a:cs typeface="Calibri" pitchFamily="34" charset="-120"/>
                        </a:rPr>
                        <a:t>Dữ liệu tập trung, dễ quản trị</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B23A32"/>
                          </a:solidFill>
                          <a:latin typeface="Calibri" pitchFamily="34" charset="0"/>
                          <a:ea typeface="Calibri" pitchFamily="34" charset="-122"/>
                          <a:cs typeface="Calibri" pitchFamily="34" charset="-120"/>
                        </a:rPr>
                        <a:t>Server là nút thắt và điểm hỏng duy nhất</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i="1" dirty="0">
                          <a:solidFill>
                            <a:srgbClr val="3E5C76"/>
                          </a:solidFill>
                          <a:latin typeface="Calibri" pitchFamily="34" charset="0"/>
                          <a:ea typeface="Calibri" pitchFamily="34" charset="-122"/>
                          <a:cs typeface="Calibri" pitchFamily="34" charset="-120"/>
                        </a:rPr>
                        <a:t>Hệ thống có dữ liệu dùng chung</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0B2545"/>
                          </a:solidFill>
                          <a:latin typeface="Calibri" pitchFamily="34" charset="0"/>
                          <a:ea typeface="Calibri" pitchFamily="34" charset="-122"/>
                          <a:cs typeface="Calibri" pitchFamily="34" charset="-120"/>
                        </a:rPr>
                        <a:t>Multi-tier</a:t>
                      </a:r>
                      <a:endParaRPr lang="en-US" sz="9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E8A317"/>
                          </a:solidFill>
                          <a:latin typeface="Calibri" pitchFamily="34" charset="0"/>
                          <a:ea typeface="Calibri" pitchFamily="34" charset="-122"/>
                          <a:cs typeface="Calibri" pitchFamily="34" charset="-120"/>
                        </a:rPr>
                        <a:t>Ch.15</a:t>
                      </a:r>
                      <a:endParaRPr lang="en-US" sz="8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3315C"/>
                          </a:solidFill>
                          <a:latin typeface="Calibri" pitchFamily="34" charset="0"/>
                          <a:ea typeface="Calibri" pitchFamily="34" charset="-122"/>
                          <a:cs typeface="Calibri" pitchFamily="34" charset="-120"/>
                        </a:rPr>
                        <a:t>Thêm tầng nghiệp vụ giữa client và CSDL</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E7A44"/>
                          </a:solidFill>
                          <a:latin typeface="Calibri" pitchFamily="34" charset="0"/>
                          <a:ea typeface="Calibri" pitchFamily="34" charset="-122"/>
                          <a:cs typeface="Calibri" pitchFamily="34" charset="-120"/>
                        </a:rPr>
                        <a:t>Client mỏng, đổi nghiệp vụ không cài lại client</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B23A32"/>
                          </a:solidFill>
                          <a:latin typeface="Calibri" pitchFamily="34" charset="0"/>
                          <a:ea typeface="Calibri" pitchFamily="34" charset="-122"/>
                          <a:cs typeface="Calibri" pitchFamily="34" charset="-120"/>
                        </a:rPr>
                        <a:t>Nhiều tầng hơn = độ trễ cao hơn</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i="1" dirty="0">
                          <a:solidFill>
                            <a:srgbClr val="3E5C76"/>
                          </a:solidFill>
                          <a:latin typeface="Calibri" pitchFamily="34" charset="0"/>
                          <a:ea typeface="Calibri" pitchFamily="34" charset="-122"/>
                          <a:cs typeface="Calibri" pitchFamily="34" charset="-120"/>
                        </a:rPr>
                        <a:t>Web app, ứng dụng doanh nghiệp</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0B2545"/>
                          </a:solidFill>
                          <a:latin typeface="Calibri" pitchFamily="34" charset="0"/>
                          <a:ea typeface="Calibri" pitchFamily="34" charset="-122"/>
                          <a:cs typeface="Calibri" pitchFamily="34" charset="-120"/>
                        </a:rPr>
                        <a:t>Service-Oriented</a:t>
                      </a:r>
                      <a:endParaRPr lang="en-US" sz="9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E8A317"/>
                          </a:solidFill>
                          <a:latin typeface="Calibri" pitchFamily="34" charset="0"/>
                          <a:ea typeface="Calibri" pitchFamily="34" charset="-122"/>
                          <a:cs typeface="Calibri" pitchFamily="34" charset="-120"/>
                        </a:rPr>
                        <a:t>Ch.16</a:t>
                      </a:r>
                      <a:endParaRPr lang="en-US" sz="8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3315C"/>
                          </a:solidFill>
                          <a:latin typeface="Calibri" pitchFamily="34" charset="0"/>
                          <a:ea typeface="Calibri" pitchFamily="34" charset="-122"/>
                          <a:cs typeface="Calibri" pitchFamily="34" charset="-120"/>
                        </a:rPr>
                        <a:t>Dịch vụ tự trị, tìm nhau qua registry</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E7A44"/>
                          </a:solidFill>
                          <a:latin typeface="Calibri" pitchFamily="34" charset="0"/>
                          <a:ea typeface="Calibri" pitchFamily="34" charset="-122"/>
                          <a:cs typeface="Calibri" pitchFamily="34" charset="-120"/>
                        </a:rPr>
                        <a:t>Tái sử dụng, tích hợp hệ thống khác nền tảng</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B23A32"/>
                          </a:solidFill>
                          <a:latin typeface="Calibri" pitchFamily="34" charset="0"/>
                          <a:ea typeface="Calibri" pitchFamily="34" charset="-122"/>
                          <a:cs typeface="Calibri" pitchFamily="34" charset="-120"/>
                        </a:rPr>
                        <a:t>Phụ thuộc registry/broker, quản lý phiên bản khó</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i="1" dirty="0">
                          <a:solidFill>
                            <a:srgbClr val="3E5C76"/>
                          </a:solidFill>
                          <a:latin typeface="Calibri" pitchFamily="34" charset="0"/>
                          <a:ea typeface="Calibri" pitchFamily="34" charset="-122"/>
                          <a:cs typeface="Calibri" pitchFamily="34" charset="-120"/>
                        </a:rPr>
                        <a:t>Tích hợp nhiều hệ thống sẵn có</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0B2545"/>
                          </a:solidFill>
                          <a:latin typeface="Calibri" pitchFamily="34" charset="0"/>
                          <a:ea typeface="Calibri" pitchFamily="34" charset="-122"/>
                          <a:cs typeface="Calibri" pitchFamily="34" charset="-120"/>
                        </a:rPr>
                        <a:t>Component-Based</a:t>
                      </a:r>
                      <a:endParaRPr lang="en-US" sz="9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E8A317"/>
                          </a:solidFill>
                          <a:latin typeface="Calibri" pitchFamily="34" charset="0"/>
                          <a:ea typeface="Calibri" pitchFamily="34" charset="-122"/>
                          <a:cs typeface="Calibri" pitchFamily="34" charset="-120"/>
                        </a:rPr>
                        <a:t>Ch.17</a:t>
                      </a:r>
                      <a:endParaRPr lang="en-US" sz="8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3315C"/>
                          </a:solidFill>
                          <a:latin typeface="Calibri" pitchFamily="34" charset="0"/>
                          <a:ea typeface="Calibri" pitchFamily="34" charset="-122"/>
                          <a:cs typeface="Calibri" pitchFamily="34" charset="-120"/>
                        </a:rPr>
                        <a:t>Lắp ghép khối có provided/required interface</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E7A44"/>
                          </a:solidFill>
                          <a:latin typeface="Calibri" pitchFamily="34" charset="0"/>
                          <a:ea typeface="Calibri" pitchFamily="34" charset="-122"/>
                          <a:cs typeface="Calibri" pitchFamily="34" charset="-120"/>
                        </a:rPr>
                        <a:t>Tái sử dụng cao nhất, phát triển song song</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B23A32"/>
                          </a:solidFill>
                          <a:latin typeface="Calibri" pitchFamily="34" charset="0"/>
                          <a:ea typeface="Calibri" pitchFamily="34" charset="-122"/>
                          <a:cs typeface="Calibri" pitchFamily="34" charset="-120"/>
                        </a:rPr>
                        <a:t>Thiết kế interface tốn công, dễ phụ thuộc vòng</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i="1" dirty="0">
                          <a:solidFill>
                            <a:srgbClr val="3E5C76"/>
                          </a:solidFill>
                          <a:latin typeface="Calibri" pitchFamily="34" charset="0"/>
                          <a:ea typeface="Calibri" pitchFamily="34" charset="-122"/>
                          <a:cs typeface="Calibri" pitchFamily="34" charset="-120"/>
                        </a:rPr>
                        <a:t>Dòng sản phẩm, hệ thống lớn</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0B2545"/>
                          </a:solidFill>
                          <a:latin typeface="Calibri" pitchFamily="34" charset="0"/>
                          <a:ea typeface="Calibri" pitchFamily="34" charset="-122"/>
                          <a:cs typeface="Calibri" pitchFamily="34" charset="-120"/>
                        </a:rPr>
                        <a:t>Concurrent/Real-Time</a:t>
                      </a:r>
                      <a:endParaRPr lang="en-US" sz="9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E8A317"/>
                          </a:solidFill>
                          <a:latin typeface="Calibri" pitchFamily="34" charset="0"/>
                          <a:ea typeface="Calibri" pitchFamily="34" charset="-122"/>
                          <a:cs typeface="Calibri" pitchFamily="34" charset="-120"/>
                        </a:rPr>
                        <a:t>Ch.18</a:t>
                      </a:r>
                      <a:endParaRPr lang="en-US" sz="8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3315C"/>
                          </a:solidFill>
                          <a:latin typeface="Calibri" pitchFamily="34" charset="0"/>
                          <a:ea typeface="Calibri" pitchFamily="34" charset="-122"/>
                          <a:cs typeface="Calibri" pitchFamily="34" charset="-120"/>
                        </a:rPr>
                        <a:t>Nhiều task song song, ràng buộc thời gian</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E7A44"/>
                          </a:solidFill>
                          <a:latin typeface="Calibri" pitchFamily="34" charset="0"/>
                          <a:ea typeface="Calibri" pitchFamily="34" charset="-122"/>
                          <a:cs typeface="Calibri" pitchFamily="34" charset="-120"/>
                        </a:rPr>
                        <a:t>Phản ứng nhanh, sát thiết bị thật</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B23A32"/>
                          </a:solidFill>
                          <a:latin typeface="Calibri" pitchFamily="34" charset="0"/>
                          <a:ea typeface="Calibri" pitchFamily="34" charset="-122"/>
                          <a:cs typeface="Calibri" pitchFamily="34" charset="-120"/>
                        </a:rPr>
                        <a:t>Race condition, deadlock, khó gỡ lỗi</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i="1" dirty="0">
                          <a:solidFill>
                            <a:srgbClr val="3E5C76"/>
                          </a:solidFill>
                          <a:latin typeface="Calibri" pitchFamily="34" charset="0"/>
                          <a:ea typeface="Calibri" pitchFamily="34" charset="-122"/>
                          <a:cs typeface="Calibri" pitchFamily="34" charset="-120"/>
                        </a:rPr>
                        <a:t>Nhúng, điều khiển, IoT</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0B2545"/>
                          </a:solidFill>
                          <a:latin typeface="Calibri" pitchFamily="34" charset="0"/>
                          <a:ea typeface="Calibri" pitchFamily="34" charset="-122"/>
                          <a:cs typeface="Calibri" pitchFamily="34" charset="-120"/>
                        </a:rPr>
                        <a:t>Microservices</a:t>
                      </a:r>
                      <a:endParaRPr lang="en-US" sz="9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E8A317"/>
                          </a:solidFill>
                          <a:latin typeface="Calibri" pitchFamily="34" charset="0"/>
                          <a:ea typeface="Calibri" pitchFamily="34" charset="-122"/>
                          <a:cs typeface="Calibri" pitchFamily="34" charset="-120"/>
                        </a:rPr>
                        <a:t>Hiện đại</a:t>
                      </a:r>
                      <a:endParaRPr lang="en-US" sz="85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3315C"/>
                          </a:solidFill>
                          <a:latin typeface="Calibri" pitchFamily="34" charset="0"/>
                          <a:ea typeface="Calibri" pitchFamily="34" charset="-122"/>
                          <a:cs typeface="Calibri" pitchFamily="34" charset="-120"/>
                        </a:rPr>
                        <a:t>Service nhỏ, CSDL riêng, triển khai độc lập</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1E7A44"/>
                          </a:solidFill>
                          <a:latin typeface="Calibri" pitchFamily="34" charset="0"/>
                          <a:ea typeface="Calibri" pitchFamily="34" charset="-122"/>
                          <a:cs typeface="Calibri" pitchFamily="34" charset="-120"/>
                        </a:rPr>
                        <a:t>Mở rộng và triển khai độc lập, chịu lỗi tốt</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dirty="0">
                          <a:solidFill>
                            <a:srgbClr val="B23A32"/>
                          </a:solidFill>
                          <a:latin typeface="Calibri" pitchFamily="34" charset="0"/>
                          <a:ea typeface="Calibri" pitchFamily="34" charset="-122"/>
                          <a:cs typeface="Calibri" pitchFamily="34" charset="-120"/>
                        </a:rPr>
                        <a:t>Vận hành phức tạp, nhất quán dữ liệu khó</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900" i="1" dirty="0">
                          <a:solidFill>
                            <a:srgbClr val="3E5C76"/>
                          </a:solidFill>
                          <a:latin typeface="Calibri" pitchFamily="34" charset="0"/>
                          <a:ea typeface="Calibri" pitchFamily="34" charset="-122"/>
                          <a:cs typeface="Calibri" pitchFamily="34" charset="-120"/>
                        </a:rPr>
                        <a:t>Hệ thống lớn, nhiều đội, cần scale</a:t>
                      </a:r>
                      <a:endParaRPr lang="en-US" sz="900" dirty="0">
                        <a:latin typeface="Calibri" charset="0"/>
                        <a:ea typeface="Calibri" charset="0"/>
                        <a:cs typeface="Calibri" charset="0"/>
                      </a:endParaRPr>
                    </a:p>
                  </a:txBody>
                  <a:tcPr marL="91440" marR="91440" marT="45720" marB="45720"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17</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Chọn kiến trúc thế nào? — cây quyết định</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Đi từ trên xuống, dừng ở nhánh đầu tiên khớp với bài toán của bạn</a:t>
            </a:r>
            <a:endParaRPr lang="en-US" sz="1300" dirty="0"/>
          </a:p>
        </p:txBody>
      </p:sp>
      <p:sp>
        <p:nvSpPr>
          <p:cNvPr id="6" name="Shape 4"/>
          <p:cNvSpPr/>
          <p:nvPr/>
        </p:nvSpPr>
        <p:spPr>
          <a:xfrm>
            <a:off x="502920" y="1325880"/>
            <a:ext cx="6766560" cy="868680"/>
          </a:xfrm>
          <a:prstGeom prst="roundRect">
            <a:avLst>
              <a:gd name="adj" fmla="val 8421"/>
            </a:avLst>
          </a:prstGeom>
          <a:solidFill>
            <a:srgbClr val="F1F5F9"/>
          </a:solidFill>
          <a:ln w="12700">
            <a:solidFill>
              <a:srgbClr val="DCE4EC"/>
            </a:solidFill>
            <a:prstDash val="solid"/>
          </a:ln>
        </p:spPr>
      </p:sp>
      <p:sp>
        <p:nvSpPr>
          <p:cNvPr id="7" name="Shape 5"/>
          <p:cNvSpPr/>
          <p:nvPr/>
        </p:nvSpPr>
        <p:spPr>
          <a:xfrm>
            <a:off x="685800" y="1581912"/>
            <a:ext cx="365760" cy="365760"/>
          </a:xfrm>
          <a:prstGeom prst="roundRect">
            <a:avLst>
              <a:gd name="adj" fmla="val 30000"/>
            </a:avLst>
          </a:prstGeom>
          <a:solidFill>
            <a:srgbClr val="0B2545"/>
          </a:solidFill>
          <a:ln w="12700">
            <a:solidFill>
              <a:srgbClr val="0B2545"/>
            </a:solidFill>
            <a:prstDash val="solid"/>
          </a:ln>
        </p:spPr>
      </p:sp>
      <p:sp>
        <p:nvSpPr>
          <p:cNvPr id="8" name="Text 6"/>
          <p:cNvSpPr/>
          <p:nvPr/>
        </p:nvSpPr>
        <p:spPr>
          <a:xfrm>
            <a:off x="685800" y="15819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188720" y="1380744"/>
            <a:ext cx="5943600" cy="749808"/>
          </a:xfrm>
          <a:prstGeom prst="rect">
            <a:avLst/>
          </a:prstGeom>
          <a:noFill/>
          <a:ln/>
        </p:spPr>
        <p:txBody>
          <a:bodyPr wrap="square" lIns="0" tIns="0" rIns="0" bIns="0" rtlCol="0" anchor="ctr"/>
          <a:lstStyle/>
          <a:p>
            <a:pPr indent="0" marL="0">
              <a:lnSpc>
                <a:spcPct val="105000"/>
              </a:lnSpc>
              <a:buNone/>
            </a:pPr>
            <a:r>
              <a:rPr lang="en-US" sz="1150" dirty="0">
                <a:solidFill>
                  <a:srgbClr val="13315C"/>
                </a:solidFill>
                <a:latin typeface="Calibri" pitchFamily="34" charset="0"/>
                <a:ea typeface="Calibri" pitchFamily="34" charset="-122"/>
                <a:cs typeface="Calibri" pitchFamily="34" charset="-120"/>
              </a:rPr>
              <a:t>Hệ thống có ràng buộc THỜI GIAN THỰC không?</a:t>
            </a:r>
            <a:endParaRPr lang="en-US" sz="1150" dirty="0"/>
          </a:p>
          <a:p>
            <a:pPr indent="0" marL="0">
              <a:lnSpc>
                <a:spcPct val="105000"/>
              </a:lnSpc>
              <a:buNone/>
            </a:pPr>
            <a:r>
              <a:rPr lang="en-US" sz="1150" dirty="0">
                <a:solidFill>
                  <a:srgbClr val="13315C"/>
                </a:solidFill>
                <a:latin typeface="Calibri" pitchFamily="34" charset="0"/>
                <a:ea typeface="Calibri" pitchFamily="34" charset="-122"/>
                <a:cs typeface="Calibri" pitchFamily="34" charset="-120"/>
              </a:rPr>
              <a:t>(cảm biến, thiết bị, phải phản hồi trong hạn định)</a:t>
            </a:r>
            <a:endParaRPr lang="en-US" sz="1150" dirty="0"/>
          </a:p>
        </p:txBody>
      </p:sp>
      <p:sp>
        <p:nvSpPr>
          <p:cNvPr id="10" name="Shape 8"/>
          <p:cNvSpPr/>
          <p:nvPr/>
        </p:nvSpPr>
        <p:spPr>
          <a:xfrm>
            <a:off x="7360920" y="1764792"/>
            <a:ext cx="411480" cy="0"/>
          </a:xfrm>
          <a:prstGeom prst="line">
            <a:avLst/>
          </a:prstGeom>
          <a:noFill/>
          <a:ln w="20320">
            <a:solidFill>
              <a:srgbClr val="12726B"/>
            </a:solidFill>
            <a:prstDash val="solid"/>
            <a:tailEnd type="triangle"/>
          </a:ln>
        </p:spPr>
      </p:sp>
      <p:sp>
        <p:nvSpPr>
          <p:cNvPr id="11" name="Shape 9"/>
          <p:cNvSpPr/>
          <p:nvPr/>
        </p:nvSpPr>
        <p:spPr>
          <a:xfrm>
            <a:off x="7863840" y="1508760"/>
            <a:ext cx="3794760" cy="512064"/>
          </a:xfrm>
          <a:prstGeom prst="roundRect">
            <a:avLst>
              <a:gd name="adj" fmla="val 14286"/>
            </a:avLst>
          </a:prstGeom>
          <a:solidFill>
            <a:srgbClr val="12726B"/>
          </a:solidFill>
          <a:ln w="12700">
            <a:solidFill>
              <a:srgbClr val="12726B"/>
            </a:solidFill>
            <a:prstDash val="solid"/>
          </a:ln>
        </p:spPr>
      </p:sp>
      <p:sp>
        <p:nvSpPr>
          <p:cNvPr id="12" name="Text 10"/>
          <p:cNvSpPr/>
          <p:nvPr/>
        </p:nvSpPr>
        <p:spPr>
          <a:xfrm>
            <a:off x="7909560" y="1508760"/>
            <a:ext cx="37033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Concurrent / Real-Time  (Ch.18)</a:t>
            </a:r>
            <a:endParaRPr lang="en-US" sz="1050" dirty="0"/>
          </a:p>
        </p:txBody>
      </p:sp>
      <p:sp>
        <p:nvSpPr>
          <p:cNvPr id="13" name="Text 11"/>
          <p:cNvSpPr/>
          <p:nvPr/>
        </p:nvSpPr>
        <p:spPr>
          <a:xfrm>
            <a:off x="7315200" y="1472184"/>
            <a:ext cx="502920" cy="219456"/>
          </a:xfrm>
          <a:prstGeom prst="rect">
            <a:avLst/>
          </a:prstGeom>
          <a:noFill/>
          <a:ln/>
        </p:spPr>
        <p:txBody>
          <a:bodyPr wrap="square" lIns="0" tIns="0" rIns="0" bIns="0" rtlCol="0" anchor="ctr"/>
          <a:lstStyle/>
          <a:p>
            <a:pPr algn="ctr" indent="0" marL="0">
              <a:buNone/>
            </a:pPr>
            <a:r>
              <a:rPr lang="en-US" sz="850" b="1" dirty="0">
                <a:solidFill>
                  <a:srgbClr val="12726B"/>
                </a:solidFill>
                <a:latin typeface="Calibri" pitchFamily="34" charset="0"/>
                <a:ea typeface="Calibri" pitchFamily="34" charset="-122"/>
                <a:cs typeface="Calibri" pitchFamily="34" charset="-120"/>
              </a:rPr>
              <a:t>CÓ</a:t>
            </a:r>
            <a:endParaRPr lang="en-US" sz="850" dirty="0"/>
          </a:p>
        </p:txBody>
      </p:sp>
      <p:sp>
        <p:nvSpPr>
          <p:cNvPr id="14" name="Shape 12"/>
          <p:cNvSpPr/>
          <p:nvPr/>
        </p:nvSpPr>
        <p:spPr>
          <a:xfrm>
            <a:off x="502920" y="2304288"/>
            <a:ext cx="6766560" cy="868680"/>
          </a:xfrm>
          <a:prstGeom prst="roundRect">
            <a:avLst>
              <a:gd name="adj" fmla="val 8421"/>
            </a:avLst>
          </a:prstGeom>
          <a:solidFill>
            <a:srgbClr val="FFFFFF"/>
          </a:solidFill>
          <a:ln w="12700">
            <a:solidFill>
              <a:srgbClr val="DCE4EC"/>
            </a:solidFill>
            <a:prstDash val="solid"/>
          </a:ln>
        </p:spPr>
      </p:sp>
      <p:sp>
        <p:nvSpPr>
          <p:cNvPr id="15" name="Shape 13"/>
          <p:cNvSpPr/>
          <p:nvPr/>
        </p:nvSpPr>
        <p:spPr>
          <a:xfrm>
            <a:off x="685800" y="2560320"/>
            <a:ext cx="365760" cy="365760"/>
          </a:xfrm>
          <a:prstGeom prst="roundRect">
            <a:avLst>
              <a:gd name="adj" fmla="val 30000"/>
            </a:avLst>
          </a:prstGeom>
          <a:solidFill>
            <a:srgbClr val="0B2545"/>
          </a:solidFill>
          <a:ln w="12700">
            <a:solidFill>
              <a:srgbClr val="0B2545"/>
            </a:solidFill>
            <a:prstDash val="solid"/>
          </a:ln>
        </p:spPr>
      </p:sp>
      <p:sp>
        <p:nvSpPr>
          <p:cNvPr id="16" name="Text 14"/>
          <p:cNvSpPr/>
          <p:nvPr/>
        </p:nvSpPr>
        <p:spPr>
          <a:xfrm>
            <a:off x="685800" y="25603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1188720" y="2359152"/>
            <a:ext cx="5943600" cy="749808"/>
          </a:xfrm>
          <a:prstGeom prst="rect">
            <a:avLst/>
          </a:prstGeom>
          <a:noFill/>
          <a:ln/>
        </p:spPr>
        <p:txBody>
          <a:bodyPr wrap="square" lIns="0" tIns="0" rIns="0" bIns="0" rtlCol="0" anchor="ctr"/>
          <a:lstStyle/>
          <a:p>
            <a:pPr indent="0" marL="0">
              <a:lnSpc>
                <a:spcPct val="105000"/>
              </a:lnSpc>
              <a:buNone/>
            </a:pPr>
            <a:r>
              <a:rPr lang="en-US" sz="1150" dirty="0">
                <a:solidFill>
                  <a:srgbClr val="13315C"/>
                </a:solidFill>
                <a:latin typeface="Calibri" pitchFamily="34" charset="0"/>
                <a:ea typeface="Calibri" pitchFamily="34" charset="-122"/>
                <a:cs typeface="Calibri" pitchFamily="34" charset="-120"/>
              </a:rPr>
              <a:t>Có cần TÍCH HỢP nhiều hệ thống sẵn có, khác nền tảng không?</a:t>
            </a:r>
            <a:endParaRPr lang="en-US" sz="1150" dirty="0"/>
          </a:p>
        </p:txBody>
      </p:sp>
      <p:sp>
        <p:nvSpPr>
          <p:cNvPr id="18" name="Shape 16"/>
          <p:cNvSpPr/>
          <p:nvPr/>
        </p:nvSpPr>
        <p:spPr>
          <a:xfrm>
            <a:off x="7360920" y="2743200"/>
            <a:ext cx="411480" cy="0"/>
          </a:xfrm>
          <a:prstGeom prst="line">
            <a:avLst/>
          </a:prstGeom>
          <a:noFill/>
          <a:ln w="20320">
            <a:solidFill>
              <a:srgbClr val="12726B"/>
            </a:solidFill>
            <a:prstDash val="solid"/>
            <a:tailEnd type="triangle"/>
          </a:ln>
        </p:spPr>
      </p:sp>
      <p:sp>
        <p:nvSpPr>
          <p:cNvPr id="19" name="Shape 17"/>
          <p:cNvSpPr/>
          <p:nvPr/>
        </p:nvSpPr>
        <p:spPr>
          <a:xfrm>
            <a:off x="7863840" y="2487168"/>
            <a:ext cx="3794760" cy="512064"/>
          </a:xfrm>
          <a:prstGeom prst="roundRect">
            <a:avLst>
              <a:gd name="adj" fmla="val 14286"/>
            </a:avLst>
          </a:prstGeom>
          <a:solidFill>
            <a:srgbClr val="12726B"/>
          </a:solidFill>
          <a:ln w="12700">
            <a:solidFill>
              <a:srgbClr val="12726B"/>
            </a:solidFill>
            <a:prstDash val="solid"/>
          </a:ln>
        </p:spPr>
      </p:sp>
      <p:sp>
        <p:nvSpPr>
          <p:cNvPr id="20" name="Text 18"/>
          <p:cNvSpPr/>
          <p:nvPr/>
        </p:nvSpPr>
        <p:spPr>
          <a:xfrm>
            <a:off x="7909560" y="2487168"/>
            <a:ext cx="37033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Service-Oriented Architecture  (Ch.16)</a:t>
            </a:r>
            <a:endParaRPr lang="en-US" sz="1050" dirty="0"/>
          </a:p>
        </p:txBody>
      </p:sp>
      <p:sp>
        <p:nvSpPr>
          <p:cNvPr id="21" name="Text 19"/>
          <p:cNvSpPr/>
          <p:nvPr/>
        </p:nvSpPr>
        <p:spPr>
          <a:xfrm>
            <a:off x="7315200" y="2450592"/>
            <a:ext cx="502920" cy="219456"/>
          </a:xfrm>
          <a:prstGeom prst="rect">
            <a:avLst/>
          </a:prstGeom>
          <a:noFill/>
          <a:ln/>
        </p:spPr>
        <p:txBody>
          <a:bodyPr wrap="square" lIns="0" tIns="0" rIns="0" bIns="0" rtlCol="0" anchor="ctr"/>
          <a:lstStyle/>
          <a:p>
            <a:pPr algn="ctr" indent="0" marL="0">
              <a:buNone/>
            </a:pPr>
            <a:r>
              <a:rPr lang="en-US" sz="850" b="1" dirty="0">
                <a:solidFill>
                  <a:srgbClr val="12726B"/>
                </a:solidFill>
                <a:latin typeface="Calibri" pitchFamily="34" charset="0"/>
                <a:ea typeface="Calibri" pitchFamily="34" charset="-122"/>
                <a:cs typeface="Calibri" pitchFamily="34" charset="-120"/>
              </a:rPr>
              <a:t>CÓ</a:t>
            </a:r>
            <a:endParaRPr lang="en-US" sz="850" dirty="0"/>
          </a:p>
        </p:txBody>
      </p:sp>
      <p:sp>
        <p:nvSpPr>
          <p:cNvPr id="22" name="Shape 20"/>
          <p:cNvSpPr/>
          <p:nvPr/>
        </p:nvSpPr>
        <p:spPr>
          <a:xfrm>
            <a:off x="502920" y="3282696"/>
            <a:ext cx="6766560" cy="868680"/>
          </a:xfrm>
          <a:prstGeom prst="roundRect">
            <a:avLst>
              <a:gd name="adj" fmla="val 8421"/>
            </a:avLst>
          </a:prstGeom>
          <a:solidFill>
            <a:srgbClr val="F1F5F9"/>
          </a:solidFill>
          <a:ln w="12700">
            <a:solidFill>
              <a:srgbClr val="DCE4EC"/>
            </a:solidFill>
            <a:prstDash val="solid"/>
          </a:ln>
        </p:spPr>
      </p:sp>
      <p:sp>
        <p:nvSpPr>
          <p:cNvPr id="23" name="Shape 21"/>
          <p:cNvSpPr/>
          <p:nvPr/>
        </p:nvSpPr>
        <p:spPr>
          <a:xfrm>
            <a:off x="685800" y="3538728"/>
            <a:ext cx="365760" cy="365760"/>
          </a:xfrm>
          <a:prstGeom prst="roundRect">
            <a:avLst>
              <a:gd name="adj" fmla="val 30000"/>
            </a:avLst>
          </a:prstGeom>
          <a:solidFill>
            <a:srgbClr val="0B2545"/>
          </a:solidFill>
          <a:ln w="12700">
            <a:solidFill>
              <a:srgbClr val="0B2545"/>
            </a:solidFill>
            <a:prstDash val="solid"/>
          </a:ln>
        </p:spPr>
      </p:sp>
      <p:sp>
        <p:nvSpPr>
          <p:cNvPr id="24" name="Text 22"/>
          <p:cNvSpPr/>
          <p:nvPr/>
        </p:nvSpPr>
        <p:spPr>
          <a:xfrm>
            <a:off x="685800" y="35387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3"/>
          <p:cNvSpPr/>
          <p:nvPr/>
        </p:nvSpPr>
        <p:spPr>
          <a:xfrm>
            <a:off x="1188720" y="3337560"/>
            <a:ext cx="5943600" cy="749808"/>
          </a:xfrm>
          <a:prstGeom prst="rect">
            <a:avLst/>
          </a:prstGeom>
          <a:noFill/>
          <a:ln/>
        </p:spPr>
        <p:txBody>
          <a:bodyPr wrap="square" lIns="0" tIns="0" rIns="0" bIns="0" rtlCol="0" anchor="ctr"/>
          <a:lstStyle/>
          <a:p>
            <a:pPr indent="0" marL="0">
              <a:lnSpc>
                <a:spcPct val="105000"/>
              </a:lnSpc>
              <a:buNone/>
            </a:pPr>
            <a:r>
              <a:rPr lang="en-US" sz="1150" dirty="0">
                <a:solidFill>
                  <a:srgbClr val="13315C"/>
                </a:solidFill>
                <a:latin typeface="Calibri" pitchFamily="34" charset="0"/>
                <a:ea typeface="Calibri" pitchFamily="34" charset="-122"/>
                <a:cs typeface="Calibri" pitchFamily="34" charset="-120"/>
              </a:rPr>
              <a:t>Có cần BÁN LẠI hoặc DÙNG LẠI từng khối cho sản phẩm khác không?</a:t>
            </a:r>
            <a:endParaRPr lang="en-US" sz="1150" dirty="0"/>
          </a:p>
        </p:txBody>
      </p:sp>
      <p:sp>
        <p:nvSpPr>
          <p:cNvPr id="26" name="Shape 24"/>
          <p:cNvSpPr/>
          <p:nvPr/>
        </p:nvSpPr>
        <p:spPr>
          <a:xfrm>
            <a:off x="7360920" y="3721608"/>
            <a:ext cx="411480" cy="0"/>
          </a:xfrm>
          <a:prstGeom prst="line">
            <a:avLst/>
          </a:prstGeom>
          <a:noFill/>
          <a:ln w="20320">
            <a:solidFill>
              <a:srgbClr val="12726B"/>
            </a:solidFill>
            <a:prstDash val="solid"/>
            <a:tailEnd type="triangle"/>
          </a:ln>
        </p:spPr>
      </p:sp>
      <p:sp>
        <p:nvSpPr>
          <p:cNvPr id="27" name="Shape 25"/>
          <p:cNvSpPr/>
          <p:nvPr/>
        </p:nvSpPr>
        <p:spPr>
          <a:xfrm>
            <a:off x="7863840" y="3465576"/>
            <a:ext cx="3794760" cy="512064"/>
          </a:xfrm>
          <a:prstGeom prst="roundRect">
            <a:avLst>
              <a:gd name="adj" fmla="val 14286"/>
            </a:avLst>
          </a:prstGeom>
          <a:solidFill>
            <a:srgbClr val="12726B"/>
          </a:solidFill>
          <a:ln w="12700">
            <a:solidFill>
              <a:srgbClr val="12726B"/>
            </a:solidFill>
            <a:prstDash val="solid"/>
          </a:ln>
        </p:spPr>
      </p:sp>
      <p:sp>
        <p:nvSpPr>
          <p:cNvPr id="28" name="Text 26"/>
          <p:cNvSpPr/>
          <p:nvPr/>
        </p:nvSpPr>
        <p:spPr>
          <a:xfrm>
            <a:off x="7909560" y="3465576"/>
            <a:ext cx="37033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Component-Based Architecture  (Ch.17)</a:t>
            </a:r>
            <a:endParaRPr lang="en-US" sz="1050" dirty="0"/>
          </a:p>
        </p:txBody>
      </p:sp>
      <p:sp>
        <p:nvSpPr>
          <p:cNvPr id="29" name="Text 27"/>
          <p:cNvSpPr/>
          <p:nvPr/>
        </p:nvSpPr>
        <p:spPr>
          <a:xfrm>
            <a:off x="7315200" y="3429000"/>
            <a:ext cx="502920" cy="219456"/>
          </a:xfrm>
          <a:prstGeom prst="rect">
            <a:avLst/>
          </a:prstGeom>
          <a:noFill/>
          <a:ln/>
        </p:spPr>
        <p:txBody>
          <a:bodyPr wrap="square" lIns="0" tIns="0" rIns="0" bIns="0" rtlCol="0" anchor="ctr"/>
          <a:lstStyle/>
          <a:p>
            <a:pPr algn="ctr" indent="0" marL="0">
              <a:buNone/>
            </a:pPr>
            <a:r>
              <a:rPr lang="en-US" sz="850" b="1" dirty="0">
                <a:solidFill>
                  <a:srgbClr val="12726B"/>
                </a:solidFill>
                <a:latin typeface="Calibri" pitchFamily="34" charset="0"/>
                <a:ea typeface="Calibri" pitchFamily="34" charset="-122"/>
                <a:cs typeface="Calibri" pitchFamily="34" charset="-120"/>
              </a:rPr>
              <a:t>CÓ</a:t>
            </a:r>
            <a:endParaRPr lang="en-US" sz="850" dirty="0"/>
          </a:p>
        </p:txBody>
      </p:sp>
      <p:sp>
        <p:nvSpPr>
          <p:cNvPr id="30" name="Shape 28"/>
          <p:cNvSpPr/>
          <p:nvPr/>
        </p:nvSpPr>
        <p:spPr>
          <a:xfrm>
            <a:off x="502920" y="4261104"/>
            <a:ext cx="6766560" cy="868680"/>
          </a:xfrm>
          <a:prstGeom prst="roundRect">
            <a:avLst>
              <a:gd name="adj" fmla="val 8421"/>
            </a:avLst>
          </a:prstGeom>
          <a:solidFill>
            <a:srgbClr val="FFFFFF"/>
          </a:solidFill>
          <a:ln w="12700">
            <a:solidFill>
              <a:srgbClr val="DCE4EC"/>
            </a:solidFill>
            <a:prstDash val="solid"/>
          </a:ln>
        </p:spPr>
      </p:sp>
      <p:sp>
        <p:nvSpPr>
          <p:cNvPr id="31" name="Shape 29"/>
          <p:cNvSpPr/>
          <p:nvPr/>
        </p:nvSpPr>
        <p:spPr>
          <a:xfrm>
            <a:off x="685800" y="4517136"/>
            <a:ext cx="365760" cy="365760"/>
          </a:xfrm>
          <a:prstGeom prst="roundRect">
            <a:avLst>
              <a:gd name="adj" fmla="val 30000"/>
            </a:avLst>
          </a:prstGeom>
          <a:solidFill>
            <a:srgbClr val="0B2545"/>
          </a:solidFill>
          <a:ln w="12700">
            <a:solidFill>
              <a:srgbClr val="0B2545"/>
            </a:solidFill>
            <a:prstDash val="solid"/>
          </a:ln>
        </p:spPr>
      </p:sp>
      <p:sp>
        <p:nvSpPr>
          <p:cNvPr id="32" name="Text 30"/>
          <p:cNvSpPr/>
          <p:nvPr/>
        </p:nvSpPr>
        <p:spPr>
          <a:xfrm>
            <a:off x="685800" y="45171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3" name="Text 31"/>
          <p:cNvSpPr/>
          <p:nvPr/>
        </p:nvSpPr>
        <p:spPr>
          <a:xfrm>
            <a:off x="1188720" y="4315968"/>
            <a:ext cx="5943600" cy="749808"/>
          </a:xfrm>
          <a:prstGeom prst="rect">
            <a:avLst/>
          </a:prstGeom>
          <a:noFill/>
          <a:ln/>
        </p:spPr>
        <p:txBody>
          <a:bodyPr wrap="square" lIns="0" tIns="0" rIns="0" bIns="0" rtlCol="0" anchor="ctr"/>
          <a:lstStyle/>
          <a:p>
            <a:pPr indent="0" marL="0">
              <a:lnSpc>
                <a:spcPct val="105000"/>
              </a:lnSpc>
              <a:buNone/>
            </a:pPr>
            <a:r>
              <a:rPr lang="en-US" sz="1150" dirty="0">
                <a:solidFill>
                  <a:srgbClr val="13315C"/>
                </a:solidFill>
                <a:latin typeface="Calibri" pitchFamily="34" charset="0"/>
                <a:ea typeface="Calibri" pitchFamily="34" charset="-122"/>
                <a:cs typeface="Calibri" pitchFamily="34" charset="-120"/>
              </a:rPr>
              <a:t>Có cần MỞ RỘNG và TRIỂN KHAI ĐỘC LẬP từng phần, đội ngũ đủ lớn không?</a:t>
            </a:r>
            <a:endParaRPr lang="en-US" sz="1150" dirty="0"/>
          </a:p>
        </p:txBody>
      </p:sp>
      <p:sp>
        <p:nvSpPr>
          <p:cNvPr id="34" name="Shape 32"/>
          <p:cNvSpPr/>
          <p:nvPr/>
        </p:nvSpPr>
        <p:spPr>
          <a:xfrm>
            <a:off x="7360920" y="4700016"/>
            <a:ext cx="411480" cy="0"/>
          </a:xfrm>
          <a:prstGeom prst="line">
            <a:avLst/>
          </a:prstGeom>
          <a:noFill/>
          <a:ln w="20320">
            <a:solidFill>
              <a:srgbClr val="12726B"/>
            </a:solidFill>
            <a:prstDash val="solid"/>
            <a:tailEnd type="triangle"/>
          </a:ln>
        </p:spPr>
      </p:sp>
      <p:sp>
        <p:nvSpPr>
          <p:cNvPr id="35" name="Shape 33"/>
          <p:cNvSpPr/>
          <p:nvPr/>
        </p:nvSpPr>
        <p:spPr>
          <a:xfrm>
            <a:off x="7863840" y="4443984"/>
            <a:ext cx="3794760" cy="512064"/>
          </a:xfrm>
          <a:prstGeom prst="roundRect">
            <a:avLst>
              <a:gd name="adj" fmla="val 14286"/>
            </a:avLst>
          </a:prstGeom>
          <a:solidFill>
            <a:srgbClr val="12726B"/>
          </a:solidFill>
          <a:ln w="12700">
            <a:solidFill>
              <a:srgbClr val="12726B"/>
            </a:solidFill>
            <a:prstDash val="solid"/>
          </a:ln>
        </p:spPr>
      </p:sp>
      <p:sp>
        <p:nvSpPr>
          <p:cNvPr id="36" name="Text 34"/>
          <p:cNvSpPr/>
          <p:nvPr/>
        </p:nvSpPr>
        <p:spPr>
          <a:xfrm>
            <a:off x="7909560" y="4443984"/>
            <a:ext cx="37033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Microservices Architecture</a:t>
            </a:r>
            <a:endParaRPr lang="en-US" sz="1050" dirty="0"/>
          </a:p>
        </p:txBody>
      </p:sp>
      <p:sp>
        <p:nvSpPr>
          <p:cNvPr id="37" name="Text 35"/>
          <p:cNvSpPr/>
          <p:nvPr/>
        </p:nvSpPr>
        <p:spPr>
          <a:xfrm>
            <a:off x="7315200" y="4407408"/>
            <a:ext cx="502920" cy="219456"/>
          </a:xfrm>
          <a:prstGeom prst="rect">
            <a:avLst/>
          </a:prstGeom>
          <a:noFill/>
          <a:ln/>
        </p:spPr>
        <p:txBody>
          <a:bodyPr wrap="square" lIns="0" tIns="0" rIns="0" bIns="0" rtlCol="0" anchor="ctr"/>
          <a:lstStyle/>
          <a:p>
            <a:pPr algn="ctr" indent="0" marL="0">
              <a:buNone/>
            </a:pPr>
            <a:r>
              <a:rPr lang="en-US" sz="850" b="1" dirty="0">
                <a:solidFill>
                  <a:srgbClr val="12726B"/>
                </a:solidFill>
                <a:latin typeface="Calibri" pitchFamily="34" charset="0"/>
                <a:ea typeface="Calibri" pitchFamily="34" charset="-122"/>
                <a:cs typeface="Calibri" pitchFamily="34" charset="-120"/>
              </a:rPr>
              <a:t>CÓ</a:t>
            </a:r>
            <a:endParaRPr lang="en-US" sz="850" dirty="0"/>
          </a:p>
        </p:txBody>
      </p:sp>
      <p:sp>
        <p:nvSpPr>
          <p:cNvPr id="38" name="Shape 36"/>
          <p:cNvSpPr/>
          <p:nvPr/>
        </p:nvSpPr>
        <p:spPr>
          <a:xfrm>
            <a:off x="502920" y="5239512"/>
            <a:ext cx="6766560" cy="868680"/>
          </a:xfrm>
          <a:prstGeom prst="roundRect">
            <a:avLst>
              <a:gd name="adj" fmla="val 8421"/>
            </a:avLst>
          </a:prstGeom>
          <a:solidFill>
            <a:srgbClr val="F1F5F9"/>
          </a:solidFill>
          <a:ln w="12700">
            <a:solidFill>
              <a:srgbClr val="DCE4EC"/>
            </a:solidFill>
            <a:prstDash val="solid"/>
          </a:ln>
        </p:spPr>
      </p:sp>
      <p:sp>
        <p:nvSpPr>
          <p:cNvPr id="39" name="Shape 37"/>
          <p:cNvSpPr/>
          <p:nvPr/>
        </p:nvSpPr>
        <p:spPr>
          <a:xfrm>
            <a:off x="685800" y="5495544"/>
            <a:ext cx="365760" cy="365760"/>
          </a:xfrm>
          <a:prstGeom prst="roundRect">
            <a:avLst>
              <a:gd name="adj" fmla="val 30000"/>
            </a:avLst>
          </a:prstGeom>
          <a:solidFill>
            <a:srgbClr val="0B2545"/>
          </a:solidFill>
          <a:ln w="12700">
            <a:solidFill>
              <a:srgbClr val="0B2545"/>
            </a:solidFill>
            <a:prstDash val="solid"/>
          </a:ln>
        </p:spPr>
      </p:sp>
      <p:sp>
        <p:nvSpPr>
          <p:cNvPr id="40" name="Text 38"/>
          <p:cNvSpPr/>
          <p:nvPr/>
        </p:nvSpPr>
        <p:spPr>
          <a:xfrm>
            <a:off x="685800" y="54955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1" name="Text 39"/>
          <p:cNvSpPr/>
          <p:nvPr/>
        </p:nvSpPr>
        <p:spPr>
          <a:xfrm>
            <a:off x="1188720" y="5294376"/>
            <a:ext cx="5943600" cy="749808"/>
          </a:xfrm>
          <a:prstGeom prst="rect">
            <a:avLst/>
          </a:prstGeom>
          <a:noFill/>
          <a:ln/>
        </p:spPr>
        <p:txBody>
          <a:bodyPr wrap="square" lIns="0" tIns="0" rIns="0" bIns="0" rtlCol="0" anchor="ctr"/>
          <a:lstStyle/>
          <a:p>
            <a:pPr indent="0" marL="0">
              <a:lnSpc>
                <a:spcPct val="105000"/>
              </a:lnSpc>
              <a:buNone/>
            </a:pPr>
            <a:r>
              <a:rPr lang="en-US" sz="1150" dirty="0">
                <a:solidFill>
                  <a:srgbClr val="13315C"/>
                </a:solidFill>
                <a:latin typeface="Calibri" pitchFamily="34" charset="0"/>
                <a:ea typeface="Calibri" pitchFamily="34" charset="-122"/>
                <a:cs typeface="Calibri" pitchFamily="34" charset="-120"/>
              </a:rPr>
              <a:t>Dữ liệu có TẬP TRUNG và nhiều client cùng dùng không?</a:t>
            </a:r>
            <a:endParaRPr lang="en-US" sz="1150" dirty="0"/>
          </a:p>
        </p:txBody>
      </p:sp>
      <p:sp>
        <p:nvSpPr>
          <p:cNvPr id="42" name="Shape 40"/>
          <p:cNvSpPr/>
          <p:nvPr/>
        </p:nvSpPr>
        <p:spPr>
          <a:xfrm>
            <a:off x="7360920" y="5678424"/>
            <a:ext cx="411480" cy="0"/>
          </a:xfrm>
          <a:prstGeom prst="line">
            <a:avLst/>
          </a:prstGeom>
          <a:noFill/>
          <a:ln w="20320">
            <a:solidFill>
              <a:srgbClr val="12726B"/>
            </a:solidFill>
            <a:prstDash val="solid"/>
            <a:tailEnd type="triangle"/>
          </a:ln>
        </p:spPr>
      </p:sp>
      <p:sp>
        <p:nvSpPr>
          <p:cNvPr id="43" name="Shape 41"/>
          <p:cNvSpPr/>
          <p:nvPr/>
        </p:nvSpPr>
        <p:spPr>
          <a:xfrm>
            <a:off x="7863840" y="5422392"/>
            <a:ext cx="3794760" cy="512064"/>
          </a:xfrm>
          <a:prstGeom prst="roundRect">
            <a:avLst>
              <a:gd name="adj" fmla="val 14286"/>
            </a:avLst>
          </a:prstGeom>
          <a:solidFill>
            <a:srgbClr val="12726B"/>
          </a:solidFill>
          <a:ln w="12700">
            <a:solidFill>
              <a:srgbClr val="12726B"/>
            </a:solidFill>
            <a:prstDash val="solid"/>
          </a:ln>
        </p:spPr>
      </p:sp>
      <p:sp>
        <p:nvSpPr>
          <p:cNvPr id="44" name="Text 42"/>
          <p:cNvSpPr/>
          <p:nvPr/>
        </p:nvSpPr>
        <p:spPr>
          <a:xfrm>
            <a:off x="7909560" y="5422392"/>
            <a:ext cx="37033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Client/Server hoặc Multi-tier  (Ch.15)</a:t>
            </a:r>
            <a:endParaRPr lang="en-US" sz="1050" dirty="0"/>
          </a:p>
        </p:txBody>
      </p:sp>
      <p:sp>
        <p:nvSpPr>
          <p:cNvPr id="45" name="Text 43"/>
          <p:cNvSpPr/>
          <p:nvPr/>
        </p:nvSpPr>
        <p:spPr>
          <a:xfrm>
            <a:off x="7315200" y="5385816"/>
            <a:ext cx="502920" cy="219456"/>
          </a:xfrm>
          <a:prstGeom prst="rect">
            <a:avLst/>
          </a:prstGeom>
          <a:noFill/>
          <a:ln/>
        </p:spPr>
        <p:txBody>
          <a:bodyPr wrap="square" lIns="0" tIns="0" rIns="0" bIns="0" rtlCol="0" anchor="ctr"/>
          <a:lstStyle/>
          <a:p>
            <a:pPr algn="ctr" indent="0" marL="0">
              <a:buNone/>
            </a:pPr>
            <a:r>
              <a:rPr lang="en-US" sz="850" b="1" dirty="0">
                <a:solidFill>
                  <a:srgbClr val="12726B"/>
                </a:solidFill>
                <a:latin typeface="Calibri" pitchFamily="34" charset="0"/>
                <a:ea typeface="Calibri" pitchFamily="34" charset="-122"/>
                <a:cs typeface="Calibri" pitchFamily="34" charset="-120"/>
              </a:rPr>
              <a:t>CÓ</a:t>
            </a:r>
            <a:endParaRPr lang="en-US" sz="850" dirty="0"/>
          </a:p>
        </p:txBody>
      </p:sp>
      <p:sp>
        <p:nvSpPr>
          <p:cNvPr id="46" name="Shape 44"/>
          <p:cNvSpPr/>
          <p:nvPr/>
        </p:nvSpPr>
        <p:spPr>
          <a:xfrm>
            <a:off x="502920" y="6236208"/>
            <a:ext cx="11155680" cy="502920"/>
          </a:xfrm>
          <a:prstGeom prst="roundRect">
            <a:avLst>
              <a:gd name="adj" fmla="val 14545"/>
            </a:avLst>
          </a:prstGeom>
          <a:solidFill>
            <a:srgbClr val="FDF2DA"/>
          </a:solidFill>
          <a:ln w="12700">
            <a:solidFill>
              <a:srgbClr val="E8A317"/>
            </a:solidFill>
            <a:prstDash val="solid"/>
          </a:ln>
        </p:spPr>
      </p:sp>
      <p:sp>
        <p:nvSpPr>
          <p:cNvPr id="47" name="Text 45"/>
          <p:cNvSpPr/>
          <p:nvPr/>
        </p:nvSpPr>
        <p:spPr>
          <a:xfrm>
            <a:off x="731520" y="6236208"/>
            <a:ext cx="10698480" cy="50292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Trả lời KHÔNG cho cả năm câu?  →  </a:t>
            </a:r>
            <a:pPr indent="0" marL="0">
              <a:buNone/>
            </a:pPr>
            <a:r>
              <a:rPr lang="en-US" sz="1200" dirty="0">
                <a:solidFill>
                  <a:srgbClr val="13315C"/>
                </a:solidFill>
                <a:latin typeface="Calibri" pitchFamily="34" charset="0"/>
                <a:ea typeface="Calibri" pitchFamily="34" charset="-122"/>
                <a:cs typeface="Calibri" pitchFamily="34" charset="-120"/>
              </a:rPr>
              <a:t>Layered Architecture. Đây là mặc định hợp lý, và cũng là lựa chọn đúng cho phần lớn đồ án môn học.</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18</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Áp dụng: SmartPark theo Layered Architecture</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Cách bạn sẽ trình bày trong bài thi và trong đồ án</a:t>
            </a:r>
            <a:endParaRPr lang="en-US" sz="1300" dirty="0"/>
          </a:p>
        </p:txBody>
      </p:sp>
      <p:sp>
        <p:nvSpPr>
          <p:cNvPr id="6" name="Shape 4"/>
          <p:cNvSpPr/>
          <p:nvPr/>
        </p:nvSpPr>
        <p:spPr>
          <a:xfrm>
            <a:off x="640080" y="1417320"/>
            <a:ext cx="5486400" cy="868680"/>
          </a:xfrm>
          <a:prstGeom prst="roundRect">
            <a:avLst>
              <a:gd name="adj" fmla="val 7368"/>
            </a:avLst>
          </a:prstGeom>
          <a:solidFill>
            <a:srgbClr val="E8A317"/>
          </a:solidFill>
          <a:ln w="15240">
            <a:solidFill>
              <a:srgbClr val="E8A317"/>
            </a:solidFill>
            <a:prstDash val="solid"/>
          </a:ln>
        </p:spPr>
      </p:sp>
      <p:sp>
        <p:nvSpPr>
          <p:cNvPr id="7" name="Text 5"/>
          <p:cNvSpPr/>
          <p:nvPr/>
        </p:nvSpPr>
        <p:spPr>
          <a:xfrm>
            <a:off x="685800" y="1417320"/>
            <a:ext cx="5394960" cy="868680"/>
          </a:xfrm>
          <a:prstGeom prst="rect">
            <a:avLst/>
          </a:prstGeom>
          <a:noFill/>
          <a:ln/>
        </p:spPr>
        <p:txBody>
          <a:bodyPr wrap="square" lIns="0" tIns="0" rIns="0" bIns="0" rtlCol="0" anchor="ctr"/>
          <a:lstStyle/>
          <a:p>
            <a:pPr algn="ctr" indent="0" marL="0">
              <a:lnSpc>
                <a:spcPct val="95000"/>
              </a:lnSpc>
              <a:buNone/>
            </a:pPr>
            <a:r>
              <a:rPr lang="en-US" sz="1350" b="1" dirty="0">
                <a:solidFill>
                  <a:srgbClr val="0B2545"/>
                </a:solidFill>
                <a:latin typeface="Calibri" pitchFamily="34" charset="0"/>
                <a:ea typeface="Calibri" pitchFamily="34" charset="-122"/>
                <a:cs typeface="Calibri" pitchFamily="34" charset="-120"/>
              </a:rPr>
              <a:t>Presentation Layer</a:t>
            </a:r>
            <a:endParaRPr lang="en-US" sz="1350" dirty="0"/>
          </a:p>
          <a:p>
            <a:pPr algn="ctr" indent="0" marL="0">
              <a:lnSpc>
                <a:spcPct val="95000"/>
              </a:lnSpc>
              <a:buNone/>
            </a:pPr>
            <a:r>
              <a:rPr lang="en-US" sz="1200" i="1" dirty="0">
                <a:solidFill>
                  <a:srgbClr val="5A4A20"/>
                </a:solidFill>
                <a:latin typeface="Calibri" pitchFamily="34" charset="0"/>
                <a:ea typeface="Calibri" pitchFamily="34" charset="-122"/>
                <a:cs typeface="Calibri" pitchFamily="34" charset="-120"/>
              </a:rPr>
              <a:t>CameraGateUI · GateController · AdminWebApp</a:t>
            </a:r>
            <a:endParaRPr lang="en-US" sz="1350" dirty="0"/>
          </a:p>
        </p:txBody>
      </p:sp>
      <p:sp>
        <p:nvSpPr>
          <p:cNvPr id="8" name="Shape 6"/>
          <p:cNvSpPr/>
          <p:nvPr/>
        </p:nvSpPr>
        <p:spPr>
          <a:xfrm>
            <a:off x="3383280" y="2286000"/>
            <a:ext cx="0" cy="274320"/>
          </a:xfrm>
          <a:prstGeom prst="line">
            <a:avLst/>
          </a:prstGeom>
          <a:noFill/>
          <a:ln w="16510">
            <a:solidFill>
              <a:srgbClr val="3E5C76"/>
            </a:solidFill>
            <a:prstDash val="solid"/>
            <a:tailEnd type="triangle"/>
          </a:ln>
        </p:spPr>
      </p:sp>
      <p:sp>
        <p:nvSpPr>
          <p:cNvPr id="9" name="Shape 7"/>
          <p:cNvSpPr/>
          <p:nvPr/>
        </p:nvSpPr>
        <p:spPr>
          <a:xfrm>
            <a:off x="640080" y="2560320"/>
            <a:ext cx="5486400" cy="868680"/>
          </a:xfrm>
          <a:prstGeom prst="roundRect">
            <a:avLst>
              <a:gd name="adj" fmla="val 7368"/>
            </a:avLst>
          </a:prstGeom>
          <a:solidFill>
            <a:srgbClr val="0B2545"/>
          </a:solidFill>
          <a:ln w="15240">
            <a:solidFill>
              <a:srgbClr val="0B2545"/>
            </a:solidFill>
            <a:prstDash val="solid"/>
          </a:ln>
        </p:spPr>
      </p:sp>
      <p:sp>
        <p:nvSpPr>
          <p:cNvPr id="10" name="Text 8"/>
          <p:cNvSpPr/>
          <p:nvPr/>
        </p:nvSpPr>
        <p:spPr>
          <a:xfrm>
            <a:off x="685800" y="2560320"/>
            <a:ext cx="5394960" cy="868680"/>
          </a:xfrm>
          <a:prstGeom prst="rect">
            <a:avLst/>
          </a:prstGeom>
          <a:noFill/>
          <a:ln/>
        </p:spPr>
        <p:txBody>
          <a:bodyPr wrap="square" lIns="0" tIns="0" rIns="0" bIns="0" rtlCol="0" anchor="ctr"/>
          <a:lstStyle/>
          <a:p>
            <a:pPr algn="ctr" indent="0" marL="0">
              <a:lnSpc>
                <a:spcPct val="95000"/>
              </a:lnSpc>
              <a:buNone/>
            </a:pPr>
            <a:r>
              <a:rPr lang="en-US" sz="1350" b="1" dirty="0">
                <a:solidFill>
                  <a:srgbClr val="FFFFFF"/>
                </a:solidFill>
                <a:latin typeface="Calibri" pitchFamily="34" charset="0"/>
                <a:ea typeface="Calibri" pitchFamily="34" charset="-122"/>
                <a:cs typeface="Calibri" pitchFamily="34" charset="-120"/>
              </a:rPr>
              <a:t>Business Logic Layer</a:t>
            </a:r>
            <a:endParaRPr lang="en-US" sz="1350" dirty="0"/>
          </a:p>
          <a:p>
            <a:pPr algn="ctr" indent="0" marL="0">
              <a:lnSpc>
                <a:spcPct val="95000"/>
              </a:lnSpc>
              <a:buNone/>
            </a:pPr>
            <a:r>
              <a:rPr lang="en-US" sz="1200" i="1" dirty="0">
                <a:solidFill>
                  <a:srgbClr val="D6E2EE"/>
                </a:solidFill>
                <a:latin typeface="Calibri" pitchFamily="34" charset="0"/>
                <a:ea typeface="Calibri" pitchFamily="34" charset="-122"/>
                <a:cs typeface="Calibri" pitchFamily="34" charset="-120"/>
              </a:rPr>
              <a:t>ParkingService · PaymentService · ReportService</a:t>
            </a:r>
            <a:endParaRPr lang="en-US" sz="1350" dirty="0"/>
          </a:p>
        </p:txBody>
      </p:sp>
      <p:sp>
        <p:nvSpPr>
          <p:cNvPr id="11" name="Shape 9"/>
          <p:cNvSpPr/>
          <p:nvPr/>
        </p:nvSpPr>
        <p:spPr>
          <a:xfrm>
            <a:off x="3383280" y="3429000"/>
            <a:ext cx="0" cy="274320"/>
          </a:xfrm>
          <a:prstGeom prst="line">
            <a:avLst/>
          </a:prstGeom>
          <a:noFill/>
          <a:ln w="16510">
            <a:solidFill>
              <a:srgbClr val="3E5C76"/>
            </a:solidFill>
            <a:prstDash val="solid"/>
            <a:tailEnd type="triangle"/>
          </a:ln>
        </p:spPr>
      </p:sp>
      <p:sp>
        <p:nvSpPr>
          <p:cNvPr id="12" name="Shape 10"/>
          <p:cNvSpPr/>
          <p:nvPr/>
        </p:nvSpPr>
        <p:spPr>
          <a:xfrm>
            <a:off x="640080" y="3703320"/>
            <a:ext cx="5486400" cy="868680"/>
          </a:xfrm>
          <a:prstGeom prst="roundRect">
            <a:avLst>
              <a:gd name="adj" fmla="val 7368"/>
            </a:avLst>
          </a:prstGeom>
          <a:solidFill>
            <a:srgbClr val="12726B"/>
          </a:solidFill>
          <a:ln w="15240">
            <a:solidFill>
              <a:srgbClr val="12726B"/>
            </a:solidFill>
            <a:prstDash val="solid"/>
          </a:ln>
        </p:spPr>
      </p:sp>
      <p:sp>
        <p:nvSpPr>
          <p:cNvPr id="13" name="Text 11"/>
          <p:cNvSpPr/>
          <p:nvPr/>
        </p:nvSpPr>
        <p:spPr>
          <a:xfrm>
            <a:off x="685800" y="3703320"/>
            <a:ext cx="5394960" cy="868680"/>
          </a:xfrm>
          <a:prstGeom prst="rect">
            <a:avLst/>
          </a:prstGeom>
          <a:noFill/>
          <a:ln/>
        </p:spPr>
        <p:txBody>
          <a:bodyPr wrap="square" lIns="0" tIns="0" rIns="0" bIns="0" rtlCol="0" anchor="ctr"/>
          <a:lstStyle/>
          <a:p>
            <a:pPr algn="ctr" indent="0" marL="0">
              <a:lnSpc>
                <a:spcPct val="95000"/>
              </a:lnSpc>
              <a:buNone/>
            </a:pPr>
            <a:r>
              <a:rPr lang="en-US" sz="1350" b="1" dirty="0">
                <a:solidFill>
                  <a:srgbClr val="FFFFFF"/>
                </a:solidFill>
                <a:latin typeface="Calibri" pitchFamily="34" charset="0"/>
                <a:ea typeface="Calibri" pitchFamily="34" charset="-122"/>
                <a:cs typeface="Calibri" pitchFamily="34" charset="-120"/>
              </a:rPr>
              <a:t>Data Access Layer</a:t>
            </a:r>
            <a:endParaRPr lang="en-US" sz="1350" dirty="0"/>
          </a:p>
          <a:p>
            <a:pPr algn="ctr" indent="0" marL="0">
              <a:lnSpc>
                <a:spcPct val="95000"/>
              </a:lnSpc>
              <a:buNone/>
            </a:pPr>
            <a:r>
              <a:rPr lang="en-US" sz="1200" i="1" dirty="0">
                <a:solidFill>
                  <a:srgbClr val="D6E2EE"/>
                </a:solidFill>
                <a:latin typeface="Calibri" pitchFamily="34" charset="0"/>
                <a:ea typeface="Calibri" pitchFamily="34" charset="-122"/>
                <a:cs typeface="Calibri" pitchFamily="34" charset="-120"/>
              </a:rPr>
              <a:t>ISlotRepository · ITicketRepository · IPaymentRepository</a:t>
            </a:r>
            <a:endParaRPr lang="en-US" sz="1350" dirty="0"/>
          </a:p>
        </p:txBody>
      </p:sp>
      <p:sp>
        <p:nvSpPr>
          <p:cNvPr id="14" name="Shape 12"/>
          <p:cNvSpPr/>
          <p:nvPr/>
        </p:nvSpPr>
        <p:spPr>
          <a:xfrm>
            <a:off x="3383280" y="4572000"/>
            <a:ext cx="0" cy="274320"/>
          </a:xfrm>
          <a:prstGeom prst="line">
            <a:avLst/>
          </a:prstGeom>
          <a:noFill/>
          <a:ln w="16510">
            <a:solidFill>
              <a:srgbClr val="3E5C76"/>
            </a:solidFill>
            <a:prstDash val="solid"/>
            <a:tailEnd type="triangle"/>
          </a:ln>
        </p:spPr>
      </p:sp>
      <p:sp>
        <p:nvSpPr>
          <p:cNvPr id="15" name="Shape 13"/>
          <p:cNvSpPr/>
          <p:nvPr/>
        </p:nvSpPr>
        <p:spPr>
          <a:xfrm>
            <a:off x="640080" y="4846320"/>
            <a:ext cx="5486400" cy="868680"/>
          </a:xfrm>
          <a:prstGeom prst="roundRect">
            <a:avLst>
              <a:gd name="adj" fmla="val 7368"/>
            </a:avLst>
          </a:prstGeom>
          <a:solidFill>
            <a:srgbClr val="3E5C76"/>
          </a:solidFill>
          <a:ln w="15240">
            <a:solidFill>
              <a:srgbClr val="3E5C76"/>
            </a:solidFill>
            <a:prstDash val="solid"/>
          </a:ln>
        </p:spPr>
      </p:sp>
      <p:sp>
        <p:nvSpPr>
          <p:cNvPr id="16" name="Text 14"/>
          <p:cNvSpPr/>
          <p:nvPr/>
        </p:nvSpPr>
        <p:spPr>
          <a:xfrm>
            <a:off x="685800" y="4846320"/>
            <a:ext cx="5394960" cy="868680"/>
          </a:xfrm>
          <a:prstGeom prst="rect">
            <a:avLst/>
          </a:prstGeom>
          <a:noFill/>
          <a:ln/>
        </p:spPr>
        <p:txBody>
          <a:bodyPr wrap="square" lIns="0" tIns="0" rIns="0" bIns="0" rtlCol="0" anchor="ctr"/>
          <a:lstStyle/>
          <a:p>
            <a:pPr algn="ctr" indent="0" marL="0">
              <a:lnSpc>
                <a:spcPct val="95000"/>
              </a:lnSpc>
              <a:buNone/>
            </a:pPr>
            <a:r>
              <a:rPr lang="en-US" sz="1350" b="1" dirty="0">
                <a:solidFill>
                  <a:srgbClr val="FFFFFF"/>
                </a:solidFill>
                <a:latin typeface="Calibri" pitchFamily="34" charset="0"/>
                <a:ea typeface="Calibri" pitchFamily="34" charset="-122"/>
                <a:cs typeface="Calibri" pitchFamily="34" charset="-120"/>
              </a:rPr>
              <a:t>Database</a:t>
            </a:r>
            <a:endParaRPr lang="en-US" sz="1350" dirty="0"/>
          </a:p>
          <a:p>
            <a:pPr algn="ctr" indent="0" marL="0">
              <a:lnSpc>
                <a:spcPct val="95000"/>
              </a:lnSpc>
              <a:buNone/>
            </a:pPr>
            <a:r>
              <a:rPr lang="en-US" sz="1200" i="1" dirty="0">
                <a:solidFill>
                  <a:srgbClr val="D6E2EE"/>
                </a:solidFill>
                <a:latin typeface="Calibri" pitchFamily="34" charset="0"/>
                <a:ea typeface="Calibri" pitchFamily="34" charset="-122"/>
                <a:cs typeface="Calibri" pitchFamily="34" charset="-120"/>
              </a:rPr>
              <a:t>ParkingSlot · ParkingTicket · Payment · User</a:t>
            </a:r>
            <a:endParaRPr lang="en-US" sz="1350" dirty="0"/>
          </a:p>
        </p:txBody>
      </p:sp>
      <p:sp>
        <p:nvSpPr>
          <p:cNvPr id="17" name="Shape 15"/>
          <p:cNvSpPr/>
          <p:nvPr/>
        </p:nvSpPr>
        <p:spPr>
          <a:xfrm>
            <a:off x="6537960" y="1325880"/>
            <a:ext cx="5120640" cy="4937760"/>
          </a:xfrm>
          <a:prstGeom prst="roundRect">
            <a:avLst>
              <a:gd name="adj" fmla="val 1481"/>
            </a:avLst>
          </a:prstGeom>
          <a:solidFill>
            <a:srgbClr val="F1F5F9"/>
          </a:solidFill>
          <a:ln w="12700">
            <a:solidFill>
              <a:srgbClr val="DCE4EC"/>
            </a:solidFill>
            <a:prstDash val="solid"/>
          </a:ln>
        </p:spPr>
      </p:sp>
      <p:sp>
        <p:nvSpPr>
          <p:cNvPr id="18" name="Text 16"/>
          <p:cNvSpPr/>
          <p:nvPr/>
        </p:nvSpPr>
        <p:spPr>
          <a:xfrm>
            <a:off x="6748272" y="1426464"/>
            <a:ext cx="4754880" cy="292608"/>
          </a:xfrm>
          <a:prstGeom prst="rect">
            <a:avLst/>
          </a:prstGeom>
          <a:noFill/>
          <a:ln/>
        </p:spPr>
        <p:txBody>
          <a:bodyPr wrap="square" lIns="0" tIns="0" rIns="0" bIns="0" rtlCol="0" anchor="ctr"/>
          <a:lstStyle/>
          <a:p>
            <a:pPr indent="0" marL="0">
              <a:buNone/>
            </a:pPr>
            <a:r>
              <a:rPr lang="en-US" sz="1350" b="1" dirty="0">
                <a:solidFill>
                  <a:srgbClr val="12726B"/>
                </a:solidFill>
                <a:latin typeface="Calibri" pitchFamily="34" charset="0"/>
                <a:ea typeface="Calibri" pitchFamily="34" charset="-122"/>
                <a:cs typeface="Calibri" pitchFamily="34" charset="-120"/>
              </a:rPr>
              <a:t>Biện luận mẫu (dùng được trong đồ án)</a:t>
            </a:r>
            <a:endParaRPr lang="en-US" sz="1350" dirty="0"/>
          </a:p>
        </p:txBody>
      </p:sp>
      <p:sp>
        <p:nvSpPr>
          <p:cNvPr id="19" name="Text 17"/>
          <p:cNvSpPr/>
          <p:nvPr/>
        </p:nvSpPr>
        <p:spPr>
          <a:xfrm>
            <a:off x="6748272" y="1783080"/>
            <a:ext cx="4754880" cy="4343400"/>
          </a:xfrm>
          <a:prstGeom prst="rect">
            <a:avLst/>
          </a:prstGeom>
          <a:noFill/>
          <a:ln/>
        </p:spPr>
        <p:txBody>
          <a:bodyPr wrap="square" lIns="0" tIns="0" rIns="0" bIns="0" rtlCol="0" anchor="t"/>
          <a:lstStyle/>
          <a:p>
            <a:pPr indent="0" marL="0">
              <a:lnSpc>
                <a:spcPct val="108000"/>
              </a:lnSpc>
              <a:buNone/>
            </a:pPr>
            <a:r>
              <a:rPr lang="en-US" sz="1050" dirty="0">
                <a:solidFill>
                  <a:srgbClr val="13315C"/>
                </a:solidFill>
                <a:latin typeface="Calibri" pitchFamily="34" charset="0"/>
                <a:ea typeface="Calibri" pitchFamily="34" charset="-122"/>
                <a:cs typeface="Calibri" pitchFamily="34" charset="-120"/>
              </a:rPr>
              <a:t>Chúng tôi chọn Layered Architecture cho SmartPark vì ba lý do.
</a:t>
            </a:r>
            <a:endParaRPr lang="en-US" sz="1050" dirty="0"/>
          </a:p>
          <a:p>
            <a:pPr indent="0" marL="0">
              <a:lnSpc>
                <a:spcPct val="108000"/>
              </a:lnSpc>
              <a:buNone/>
            </a:pPr>
            <a:r>
              <a:rPr lang="en-US" sz="1050" b="1" dirty="0">
                <a:solidFill>
                  <a:srgbClr val="0B2545"/>
                </a:solidFill>
                <a:latin typeface="Calibri" pitchFamily="34" charset="0"/>
                <a:ea typeface="Calibri" pitchFamily="34" charset="-122"/>
                <a:cs typeface="Calibri" pitchFamily="34" charset="-120"/>
              </a:rPr>
              <a:t>Thứ nhất, </a:t>
            </a:r>
            <a:pPr indent="0" marL="0">
              <a:lnSpc>
                <a:spcPct val="108000"/>
              </a:lnSpc>
              <a:buNone/>
            </a:pPr>
            <a:r>
              <a:rPr lang="en-US" sz="1050" dirty="0">
                <a:solidFill>
                  <a:srgbClr val="13315C"/>
                </a:solidFill>
                <a:latin typeface="Calibri" pitchFamily="34" charset="0"/>
                <a:ea typeface="Calibri" pitchFamily="34" charset="-122"/>
                <a:cs typeface="Calibri" pitchFamily="34" charset="-120"/>
              </a:rPr>
              <a:t>nghiệp vụ bãi xe có quy tắc rõ ràng và ổn định (tính phí theo thời lượng, kiểm tra chỗ trống), phù hợp với một tầng nghiệp vụ tập trung thay vì phân tán.
</a:t>
            </a:r>
            <a:endParaRPr lang="en-US" sz="1050" dirty="0"/>
          </a:p>
          <a:p>
            <a:pPr indent="0" marL="0">
              <a:lnSpc>
                <a:spcPct val="108000"/>
              </a:lnSpc>
              <a:buNone/>
            </a:pPr>
            <a:r>
              <a:rPr lang="en-US" sz="1050" b="1" dirty="0">
                <a:solidFill>
                  <a:srgbClr val="0B2545"/>
                </a:solidFill>
                <a:latin typeface="Calibri" pitchFamily="34" charset="0"/>
                <a:ea typeface="Calibri" pitchFamily="34" charset="-122"/>
                <a:cs typeface="Calibri" pitchFamily="34" charset="-120"/>
              </a:rPr>
              <a:t>Thứ hai, </a:t>
            </a:r>
            <a:pPr indent="0" marL="0">
              <a:lnSpc>
                <a:spcPct val="108000"/>
              </a:lnSpc>
              <a:buNone/>
            </a:pPr>
            <a:r>
              <a:rPr lang="en-US" sz="1050" dirty="0">
                <a:solidFill>
                  <a:srgbClr val="13315C"/>
                </a:solidFill>
                <a:latin typeface="Calibri" pitchFamily="34" charset="0"/>
                <a:ea typeface="Calibri" pitchFamily="34" charset="-122"/>
                <a:cs typeface="Calibri" pitchFamily="34" charset="-120"/>
              </a:rPr>
              <a:t>yêu cầu bắt buộc dùng Repository Pattern ánh xạ trực tiếp vào tầng Data Access, giúp đổi công nghệ lưu trữ mà không đụng tầng nghiệp vụ — tức là ưu tiên thuộc tính maintainability và testability.
</a:t>
            </a:r>
            <a:endParaRPr lang="en-US" sz="1050" dirty="0"/>
          </a:p>
          <a:p>
            <a:pPr indent="0" marL="0">
              <a:lnSpc>
                <a:spcPct val="108000"/>
              </a:lnSpc>
              <a:buNone/>
            </a:pPr>
            <a:r>
              <a:rPr lang="en-US" sz="1050" b="1" dirty="0">
                <a:solidFill>
                  <a:srgbClr val="0B2545"/>
                </a:solidFill>
                <a:latin typeface="Calibri" pitchFamily="34" charset="0"/>
                <a:ea typeface="Calibri" pitchFamily="34" charset="-122"/>
                <a:cs typeface="Calibri" pitchFamily="34" charset="-120"/>
              </a:rPr>
              <a:t>Thứ ba, </a:t>
            </a:r>
            <a:pPr indent="0" marL="0">
              <a:lnSpc>
                <a:spcPct val="108000"/>
              </a:lnSpc>
              <a:buNone/>
            </a:pPr>
            <a:r>
              <a:rPr lang="en-US" sz="1050" dirty="0">
                <a:solidFill>
                  <a:srgbClr val="13315C"/>
                </a:solidFill>
                <a:latin typeface="Calibri" pitchFamily="34" charset="0"/>
                <a:ea typeface="Calibri" pitchFamily="34" charset="-122"/>
                <a:cs typeface="Calibri" pitchFamily="34" charset="-120"/>
              </a:rPr>
              <a:t>quy mô một bãi xe không đòi hỏi mở rộng độc lập từng chức năng, nên chi phí vận hành của Microservices là không xứng đáng.
</a:t>
            </a:r>
            <a:endParaRPr lang="en-US" sz="1050" dirty="0"/>
          </a:p>
          <a:p>
            <a:pPr indent="0" marL="0">
              <a:lnSpc>
                <a:spcPct val="108000"/>
              </a:lnSpc>
              <a:buNone/>
            </a:pPr>
            <a:r>
              <a:rPr lang="en-US" sz="1050" b="1" dirty="0">
                <a:solidFill>
                  <a:srgbClr val="B23A32"/>
                </a:solidFill>
                <a:latin typeface="Calibri" pitchFamily="34" charset="0"/>
                <a:ea typeface="Calibri" pitchFamily="34" charset="-122"/>
                <a:cs typeface="Calibri" pitchFamily="34" charset="-120"/>
              </a:rPr>
              <a:t>Đánh đổi: </a:t>
            </a:r>
            <a:pPr indent="0" marL="0">
              <a:lnSpc>
                <a:spcPct val="108000"/>
              </a:lnSpc>
              <a:buNone/>
            </a:pPr>
            <a:r>
              <a:rPr lang="en-US" sz="1050" dirty="0">
                <a:solidFill>
                  <a:srgbClr val="13315C"/>
                </a:solidFill>
                <a:latin typeface="Calibri" pitchFamily="34" charset="0"/>
                <a:ea typeface="Calibri" pitchFamily="34" charset="-122"/>
                <a:cs typeface="Calibri" pitchFamily="34" charset="-120"/>
              </a:rPr>
              <a:t>nếu sau này SmartPark mở rộng ra hàng trăm bãi trên toàn quốc, chúng tôi sẽ tách Payment và Report thành service riêng.</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19</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Áp dụng: SmartPark theo Microservices</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Phương án thay thế — chọn nếu bạn muốn lập luận về khả năng mở rộng</a:t>
            </a:r>
            <a:endParaRPr lang="en-US" sz="1300" dirty="0"/>
          </a:p>
        </p:txBody>
      </p:sp>
      <p:sp>
        <p:nvSpPr>
          <p:cNvPr id="6" name="Shape 4"/>
          <p:cNvSpPr/>
          <p:nvPr/>
        </p:nvSpPr>
        <p:spPr>
          <a:xfrm>
            <a:off x="548640" y="2651760"/>
            <a:ext cx="1371600" cy="548640"/>
          </a:xfrm>
          <a:prstGeom prst="roundRect">
            <a:avLst>
              <a:gd name="adj" fmla="val 11667"/>
            </a:avLst>
          </a:prstGeom>
          <a:solidFill>
            <a:srgbClr val="E8A317"/>
          </a:solidFill>
          <a:ln w="15240">
            <a:solidFill>
              <a:srgbClr val="E8A317"/>
            </a:solidFill>
            <a:prstDash val="solid"/>
          </a:ln>
        </p:spPr>
      </p:sp>
      <p:sp>
        <p:nvSpPr>
          <p:cNvPr id="7" name="Text 5"/>
          <p:cNvSpPr/>
          <p:nvPr/>
        </p:nvSpPr>
        <p:spPr>
          <a:xfrm>
            <a:off x="594360" y="2651760"/>
            <a:ext cx="1280160" cy="548640"/>
          </a:xfrm>
          <a:prstGeom prst="rect">
            <a:avLst/>
          </a:prstGeom>
          <a:noFill/>
          <a:ln/>
        </p:spPr>
        <p:txBody>
          <a:bodyPr wrap="square" lIns="0" tIns="0" rIns="0" bIns="0" rtlCol="0" anchor="ctr"/>
          <a:lstStyle/>
          <a:p>
            <a:pPr algn="ctr" indent="0" marL="0">
              <a:lnSpc>
                <a:spcPct val="95000"/>
              </a:lnSpc>
              <a:buNone/>
            </a:pPr>
            <a:r>
              <a:rPr lang="en-US" sz="950" b="1" dirty="0">
                <a:solidFill>
                  <a:srgbClr val="0B2545"/>
                </a:solidFill>
                <a:latin typeface="Calibri" pitchFamily="34" charset="0"/>
                <a:ea typeface="Calibri" pitchFamily="34" charset="-122"/>
                <a:cs typeface="Calibri" pitchFamily="34" charset="-120"/>
              </a:rPr>
              <a:t>Mobile</a:t>
            </a:r>
            <a:endParaRPr lang="en-US" sz="950" dirty="0"/>
          </a:p>
          <a:p>
            <a:pPr algn="ctr" indent="0" marL="0">
              <a:lnSpc>
                <a:spcPct val="95000"/>
              </a:lnSpc>
              <a:buNone/>
            </a:pPr>
            <a:r>
              <a:rPr lang="en-US" sz="950" b="1" dirty="0">
                <a:solidFill>
                  <a:srgbClr val="0B2545"/>
                </a:solidFill>
                <a:latin typeface="Calibri" pitchFamily="34" charset="0"/>
                <a:ea typeface="Calibri" pitchFamily="34" charset="-122"/>
                <a:cs typeface="Calibri" pitchFamily="34" charset="-120"/>
              </a:rPr>
              <a:t>App</a:t>
            </a:r>
            <a:endParaRPr lang="en-US" sz="950" dirty="0"/>
          </a:p>
        </p:txBody>
      </p:sp>
      <p:sp>
        <p:nvSpPr>
          <p:cNvPr id="8" name="Shape 6"/>
          <p:cNvSpPr/>
          <p:nvPr/>
        </p:nvSpPr>
        <p:spPr>
          <a:xfrm>
            <a:off x="548640" y="3383280"/>
            <a:ext cx="1371600" cy="548640"/>
          </a:xfrm>
          <a:prstGeom prst="roundRect">
            <a:avLst>
              <a:gd name="adj" fmla="val 11667"/>
            </a:avLst>
          </a:prstGeom>
          <a:solidFill>
            <a:srgbClr val="E8A317"/>
          </a:solidFill>
          <a:ln w="15240">
            <a:solidFill>
              <a:srgbClr val="E8A317"/>
            </a:solidFill>
            <a:prstDash val="solid"/>
          </a:ln>
        </p:spPr>
      </p:sp>
      <p:sp>
        <p:nvSpPr>
          <p:cNvPr id="9" name="Text 7"/>
          <p:cNvSpPr/>
          <p:nvPr/>
        </p:nvSpPr>
        <p:spPr>
          <a:xfrm>
            <a:off x="594360" y="3383280"/>
            <a:ext cx="1280160" cy="548640"/>
          </a:xfrm>
          <a:prstGeom prst="rect">
            <a:avLst/>
          </a:prstGeom>
          <a:noFill/>
          <a:ln/>
        </p:spPr>
        <p:txBody>
          <a:bodyPr wrap="square" lIns="0" tIns="0" rIns="0" bIns="0" rtlCol="0" anchor="ctr"/>
          <a:lstStyle/>
          <a:p>
            <a:pPr algn="ctr" indent="0" marL="0">
              <a:lnSpc>
                <a:spcPct val="95000"/>
              </a:lnSpc>
              <a:buNone/>
            </a:pPr>
            <a:r>
              <a:rPr lang="en-US" sz="950" b="1" dirty="0">
                <a:solidFill>
                  <a:srgbClr val="0B2545"/>
                </a:solidFill>
                <a:latin typeface="Calibri" pitchFamily="34" charset="0"/>
                <a:ea typeface="Calibri" pitchFamily="34" charset="-122"/>
                <a:cs typeface="Calibri" pitchFamily="34" charset="-120"/>
              </a:rPr>
              <a:t>Gate</a:t>
            </a:r>
            <a:endParaRPr lang="en-US" sz="950" dirty="0"/>
          </a:p>
          <a:p>
            <a:pPr algn="ctr" indent="0" marL="0">
              <a:lnSpc>
                <a:spcPct val="95000"/>
              </a:lnSpc>
              <a:buNone/>
            </a:pPr>
            <a:r>
              <a:rPr lang="en-US" sz="950" b="1" dirty="0">
                <a:solidFill>
                  <a:srgbClr val="0B2545"/>
                </a:solidFill>
                <a:latin typeface="Calibri" pitchFamily="34" charset="0"/>
                <a:ea typeface="Calibri" pitchFamily="34" charset="-122"/>
                <a:cs typeface="Calibri" pitchFamily="34" charset="-120"/>
              </a:rPr>
              <a:t>Device</a:t>
            </a:r>
            <a:endParaRPr lang="en-US" sz="950" dirty="0"/>
          </a:p>
        </p:txBody>
      </p:sp>
      <p:sp>
        <p:nvSpPr>
          <p:cNvPr id="10" name="Shape 8"/>
          <p:cNvSpPr/>
          <p:nvPr/>
        </p:nvSpPr>
        <p:spPr>
          <a:xfrm>
            <a:off x="2377440" y="2788920"/>
            <a:ext cx="1645920" cy="914400"/>
          </a:xfrm>
          <a:prstGeom prst="roundRect">
            <a:avLst>
              <a:gd name="adj" fmla="val 7000"/>
            </a:avLst>
          </a:prstGeom>
          <a:solidFill>
            <a:srgbClr val="0B2545"/>
          </a:solidFill>
          <a:ln w="15240">
            <a:solidFill>
              <a:srgbClr val="0B2545"/>
            </a:solidFill>
            <a:prstDash val="solid"/>
          </a:ln>
        </p:spPr>
      </p:sp>
      <p:sp>
        <p:nvSpPr>
          <p:cNvPr id="11" name="Text 9"/>
          <p:cNvSpPr/>
          <p:nvPr/>
        </p:nvSpPr>
        <p:spPr>
          <a:xfrm>
            <a:off x="2423160" y="2788920"/>
            <a:ext cx="1554480" cy="914400"/>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a:p>
            <a:pPr algn="ctr" indent="0" marL="0">
              <a:lnSpc>
                <a:spcPct val="95000"/>
              </a:lnSpc>
              <a:buNone/>
            </a:pPr>
            <a:r>
              <a:rPr lang="en-US" sz="950" i="1" dirty="0">
                <a:solidFill>
                  <a:srgbClr val="D6E2EE"/>
                </a:solidFill>
                <a:latin typeface="Calibri" pitchFamily="34" charset="0"/>
                <a:ea typeface="Calibri" pitchFamily="34" charset="-122"/>
                <a:cs typeface="Calibri" pitchFamily="34" charset="-120"/>
              </a:rPr>
              <a:t>định tuyến · xác thực</a:t>
            </a:r>
            <a:endParaRPr lang="en-US" sz="1100" dirty="0"/>
          </a:p>
        </p:txBody>
      </p:sp>
      <p:sp>
        <p:nvSpPr>
          <p:cNvPr id="12" name="Shape 10"/>
          <p:cNvSpPr/>
          <p:nvPr/>
        </p:nvSpPr>
        <p:spPr>
          <a:xfrm>
            <a:off x="1920240" y="2926080"/>
            <a:ext cx="457200" cy="182880"/>
          </a:xfrm>
          <a:prstGeom prst="line">
            <a:avLst/>
          </a:prstGeom>
          <a:noFill/>
          <a:ln w="16510">
            <a:solidFill>
              <a:srgbClr val="0B2545"/>
            </a:solidFill>
            <a:prstDash val="solid"/>
            <a:tailEnd type="triangle"/>
          </a:ln>
        </p:spPr>
      </p:sp>
      <p:sp>
        <p:nvSpPr>
          <p:cNvPr id="13" name="Shape 11"/>
          <p:cNvSpPr/>
          <p:nvPr/>
        </p:nvSpPr>
        <p:spPr>
          <a:xfrm>
            <a:off x="1920240" y="3429000"/>
            <a:ext cx="457200" cy="228600"/>
          </a:xfrm>
          <a:prstGeom prst="line">
            <a:avLst/>
          </a:prstGeom>
          <a:noFill/>
          <a:ln w="16510">
            <a:solidFill>
              <a:srgbClr val="0B2545"/>
            </a:solidFill>
            <a:prstDash val="solid"/>
            <a:headEnd type="triangle"/>
          </a:ln>
        </p:spPr>
      </p:sp>
      <p:sp>
        <p:nvSpPr>
          <p:cNvPr id="14" name="Shape 12"/>
          <p:cNvSpPr/>
          <p:nvPr/>
        </p:nvSpPr>
        <p:spPr>
          <a:xfrm>
            <a:off x="4983480" y="1463040"/>
            <a:ext cx="2377440" cy="777240"/>
          </a:xfrm>
          <a:prstGeom prst="roundRect">
            <a:avLst>
              <a:gd name="adj" fmla="val 8235"/>
            </a:avLst>
          </a:prstGeom>
          <a:solidFill>
            <a:srgbClr val="12726B"/>
          </a:solidFill>
          <a:ln w="15240">
            <a:solidFill>
              <a:srgbClr val="12726B"/>
            </a:solidFill>
            <a:prstDash val="solid"/>
          </a:ln>
        </p:spPr>
      </p:sp>
      <p:sp>
        <p:nvSpPr>
          <p:cNvPr id="15" name="Text 13"/>
          <p:cNvSpPr/>
          <p:nvPr/>
        </p:nvSpPr>
        <p:spPr>
          <a:xfrm>
            <a:off x="5029200" y="1463040"/>
            <a:ext cx="2286000" cy="77724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Parking Service</a:t>
            </a:r>
            <a:endParaRPr lang="en-US" sz="1050" dirty="0"/>
          </a:p>
          <a:p>
            <a:pPr algn="ctr" indent="0" marL="0">
              <a:lnSpc>
                <a:spcPct val="95000"/>
              </a:lnSpc>
              <a:buNone/>
            </a:pPr>
            <a:r>
              <a:rPr lang="en-US" sz="900" i="1" dirty="0">
                <a:solidFill>
                  <a:srgbClr val="D6E2EE"/>
                </a:solidFill>
                <a:latin typeface="Calibri" pitchFamily="34" charset="0"/>
                <a:ea typeface="Calibri" pitchFamily="34" charset="-122"/>
                <a:cs typeface="Calibri" pitchFamily="34" charset="-120"/>
              </a:rPr>
              <a:t>quản lý chỗ đỗ &amp; vé</a:t>
            </a:r>
            <a:endParaRPr lang="en-US" sz="1050" dirty="0"/>
          </a:p>
        </p:txBody>
      </p:sp>
      <p:sp>
        <p:nvSpPr>
          <p:cNvPr id="16" name="Shape 14"/>
          <p:cNvSpPr/>
          <p:nvPr/>
        </p:nvSpPr>
        <p:spPr>
          <a:xfrm>
            <a:off x="8001000" y="1572768"/>
            <a:ext cx="1371600" cy="548640"/>
          </a:xfrm>
          <a:prstGeom prst="roundRect">
            <a:avLst>
              <a:gd name="adj" fmla="val 11667"/>
            </a:avLst>
          </a:prstGeom>
          <a:solidFill>
            <a:srgbClr val="3E5C76"/>
          </a:solidFill>
          <a:ln w="15240">
            <a:solidFill>
              <a:srgbClr val="3E5C76"/>
            </a:solidFill>
            <a:prstDash val="solid"/>
          </a:ln>
        </p:spPr>
      </p:sp>
      <p:sp>
        <p:nvSpPr>
          <p:cNvPr id="17" name="Text 15"/>
          <p:cNvSpPr/>
          <p:nvPr/>
        </p:nvSpPr>
        <p:spPr>
          <a:xfrm>
            <a:off x="8046720" y="1572768"/>
            <a:ext cx="1280160" cy="54864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DB</a:t>
            </a:r>
            <a:endParaRPr lang="en-US" sz="950" dirty="0"/>
          </a:p>
        </p:txBody>
      </p:sp>
      <p:sp>
        <p:nvSpPr>
          <p:cNvPr id="18" name="Shape 16"/>
          <p:cNvSpPr/>
          <p:nvPr/>
        </p:nvSpPr>
        <p:spPr>
          <a:xfrm>
            <a:off x="7360920" y="1847088"/>
            <a:ext cx="640080" cy="0"/>
          </a:xfrm>
          <a:prstGeom prst="line">
            <a:avLst/>
          </a:prstGeom>
          <a:noFill/>
          <a:ln w="16510">
            <a:solidFill>
              <a:srgbClr val="12726B"/>
            </a:solidFill>
            <a:prstDash val="solid"/>
            <a:tailEnd type="triangle"/>
          </a:ln>
        </p:spPr>
      </p:sp>
      <p:sp>
        <p:nvSpPr>
          <p:cNvPr id="19" name="Shape 17"/>
          <p:cNvSpPr/>
          <p:nvPr/>
        </p:nvSpPr>
        <p:spPr>
          <a:xfrm>
            <a:off x="4023360" y="3246120"/>
            <a:ext cx="685800" cy="0"/>
          </a:xfrm>
          <a:prstGeom prst="line">
            <a:avLst/>
          </a:prstGeom>
          <a:noFill/>
          <a:ln w="16510">
            <a:solidFill>
              <a:srgbClr val="0B2545"/>
            </a:solidFill>
            <a:prstDash val="solid"/>
          </a:ln>
        </p:spPr>
      </p:sp>
      <p:sp>
        <p:nvSpPr>
          <p:cNvPr id="20" name="Shape 18"/>
          <p:cNvSpPr/>
          <p:nvPr/>
        </p:nvSpPr>
        <p:spPr>
          <a:xfrm>
            <a:off x="4709160" y="1847088"/>
            <a:ext cx="0" cy="1399032"/>
          </a:xfrm>
          <a:prstGeom prst="line">
            <a:avLst/>
          </a:prstGeom>
          <a:noFill/>
          <a:ln w="16510">
            <a:solidFill>
              <a:srgbClr val="0B2545"/>
            </a:solidFill>
            <a:prstDash val="solid"/>
          </a:ln>
        </p:spPr>
      </p:sp>
      <p:sp>
        <p:nvSpPr>
          <p:cNvPr id="21" name="Shape 19"/>
          <p:cNvSpPr/>
          <p:nvPr/>
        </p:nvSpPr>
        <p:spPr>
          <a:xfrm>
            <a:off x="4709160" y="1847088"/>
            <a:ext cx="274320" cy="0"/>
          </a:xfrm>
          <a:prstGeom prst="line">
            <a:avLst/>
          </a:prstGeom>
          <a:noFill/>
          <a:ln w="16510">
            <a:solidFill>
              <a:srgbClr val="0B2545"/>
            </a:solidFill>
            <a:prstDash val="solid"/>
            <a:tailEnd type="triangle"/>
          </a:ln>
        </p:spPr>
      </p:sp>
      <p:sp>
        <p:nvSpPr>
          <p:cNvPr id="22" name="Shape 20"/>
          <p:cNvSpPr/>
          <p:nvPr/>
        </p:nvSpPr>
        <p:spPr>
          <a:xfrm>
            <a:off x="4983480" y="2651760"/>
            <a:ext cx="2377440" cy="777240"/>
          </a:xfrm>
          <a:prstGeom prst="roundRect">
            <a:avLst>
              <a:gd name="adj" fmla="val 8235"/>
            </a:avLst>
          </a:prstGeom>
          <a:solidFill>
            <a:srgbClr val="12726B"/>
          </a:solidFill>
          <a:ln w="15240">
            <a:solidFill>
              <a:srgbClr val="12726B"/>
            </a:solidFill>
            <a:prstDash val="solid"/>
          </a:ln>
        </p:spPr>
      </p:sp>
      <p:sp>
        <p:nvSpPr>
          <p:cNvPr id="23" name="Text 21"/>
          <p:cNvSpPr/>
          <p:nvPr/>
        </p:nvSpPr>
        <p:spPr>
          <a:xfrm>
            <a:off x="5029200" y="2651760"/>
            <a:ext cx="2286000" cy="77724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Payment Service</a:t>
            </a:r>
            <a:endParaRPr lang="en-US" sz="1050" dirty="0"/>
          </a:p>
          <a:p>
            <a:pPr algn="ctr" indent="0" marL="0">
              <a:lnSpc>
                <a:spcPct val="95000"/>
              </a:lnSpc>
              <a:buNone/>
            </a:pPr>
            <a:r>
              <a:rPr lang="en-US" sz="900" i="1" dirty="0">
                <a:solidFill>
                  <a:srgbClr val="D6E2EE"/>
                </a:solidFill>
                <a:latin typeface="Calibri" pitchFamily="34" charset="0"/>
                <a:ea typeface="Calibri" pitchFamily="34" charset="-122"/>
                <a:cs typeface="Calibri" pitchFamily="34" charset="-120"/>
              </a:rPr>
              <a:t>giao dịch thanh toán</a:t>
            </a:r>
            <a:endParaRPr lang="en-US" sz="1050" dirty="0"/>
          </a:p>
        </p:txBody>
      </p:sp>
      <p:sp>
        <p:nvSpPr>
          <p:cNvPr id="24" name="Shape 22"/>
          <p:cNvSpPr/>
          <p:nvPr/>
        </p:nvSpPr>
        <p:spPr>
          <a:xfrm>
            <a:off x="8001000" y="2761488"/>
            <a:ext cx="1371600" cy="548640"/>
          </a:xfrm>
          <a:prstGeom prst="roundRect">
            <a:avLst>
              <a:gd name="adj" fmla="val 11667"/>
            </a:avLst>
          </a:prstGeom>
          <a:solidFill>
            <a:srgbClr val="3E5C76"/>
          </a:solidFill>
          <a:ln w="15240">
            <a:solidFill>
              <a:srgbClr val="3E5C76"/>
            </a:solidFill>
            <a:prstDash val="solid"/>
          </a:ln>
        </p:spPr>
      </p:sp>
      <p:sp>
        <p:nvSpPr>
          <p:cNvPr id="25" name="Text 23"/>
          <p:cNvSpPr/>
          <p:nvPr/>
        </p:nvSpPr>
        <p:spPr>
          <a:xfrm>
            <a:off x="8046720" y="2761488"/>
            <a:ext cx="1280160" cy="54864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DB</a:t>
            </a:r>
            <a:endParaRPr lang="en-US" sz="950" dirty="0"/>
          </a:p>
        </p:txBody>
      </p:sp>
      <p:sp>
        <p:nvSpPr>
          <p:cNvPr id="26" name="Shape 24"/>
          <p:cNvSpPr/>
          <p:nvPr/>
        </p:nvSpPr>
        <p:spPr>
          <a:xfrm>
            <a:off x="7360920" y="3035808"/>
            <a:ext cx="640080" cy="0"/>
          </a:xfrm>
          <a:prstGeom prst="line">
            <a:avLst/>
          </a:prstGeom>
          <a:noFill/>
          <a:ln w="16510">
            <a:solidFill>
              <a:srgbClr val="12726B"/>
            </a:solidFill>
            <a:prstDash val="solid"/>
            <a:tailEnd type="triangle"/>
          </a:ln>
        </p:spPr>
      </p:sp>
      <p:sp>
        <p:nvSpPr>
          <p:cNvPr id="27" name="Shape 25"/>
          <p:cNvSpPr/>
          <p:nvPr/>
        </p:nvSpPr>
        <p:spPr>
          <a:xfrm>
            <a:off x="4023360" y="3246120"/>
            <a:ext cx="685800" cy="0"/>
          </a:xfrm>
          <a:prstGeom prst="line">
            <a:avLst/>
          </a:prstGeom>
          <a:noFill/>
          <a:ln w="16510">
            <a:solidFill>
              <a:srgbClr val="0B2545"/>
            </a:solidFill>
            <a:prstDash val="solid"/>
          </a:ln>
        </p:spPr>
      </p:sp>
      <p:sp>
        <p:nvSpPr>
          <p:cNvPr id="28" name="Shape 26"/>
          <p:cNvSpPr/>
          <p:nvPr/>
        </p:nvSpPr>
        <p:spPr>
          <a:xfrm>
            <a:off x="4709160" y="3035808"/>
            <a:ext cx="0" cy="210312"/>
          </a:xfrm>
          <a:prstGeom prst="line">
            <a:avLst/>
          </a:prstGeom>
          <a:noFill/>
          <a:ln w="16510">
            <a:solidFill>
              <a:srgbClr val="0B2545"/>
            </a:solidFill>
            <a:prstDash val="solid"/>
          </a:ln>
        </p:spPr>
      </p:sp>
      <p:sp>
        <p:nvSpPr>
          <p:cNvPr id="29" name="Shape 27"/>
          <p:cNvSpPr/>
          <p:nvPr/>
        </p:nvSpPr>
        <p:spPr>
          <a:xfrm>
            <a:off x="4709160" y="3035808"/>
            <a:ext cx="274320" cy="0"/>
          </a:xfrm>
          <a:prstGeom prst="line">
            <a:avLst/>
          </a:prstGeom>
          <a:noFill/>
          <a:ln w="16510">
            <a:solidFill>
              <a:srgbClr val="0B2545"/>
            </a:solidFill>
            <a:prstDash val="solid"/>
            <a:tailEnd type="triangle"/>
          </a:ln>
        </p:spPr>
      </p:sp>
      <p:sp>
        <p:nvSpPr>
          <p:cNvPr id="30" name="Shape 28"/>
          <p:cNvSpPr/>
          <p:nvPr/>
        </p:nvSpPr>
        <p:spPr>
          <a:xfrm>
            <a:off x="4983480" y="3840480"/>
            <a:ext cx="2377440" cy="777240"/>
          </a:xfrm>
          <a:prstGeom prst="roundRect">
            <a:avLst>
              <a:gd name="adj" fmla="val 8235"/>
            </a:avLst>
          </a:prstGeom>
          <a:solidFill>
            <a:srgbClr val="12726B"/>
          </a:solidFill>
          <a:ln w="15240">
            <a:solidFill>
              <a:srgbClr val="12726B"/>
            </a:solidFill>
            <a:prstDash val="solid"/>
          </a:ln>
        </p:spPr>
      </p:sp>
      <p:sp>
        <p:nvSpPr>
          <p:cNvPr id="31" name="Text 29"/>
          <p:cNvSpPr/>
          <p:nvPr/>
        </p:nvSpPr>
        <p:spPr>
          <a:xfrm>
            <a:off x="5029200" y="3840480"/>
            <a:ext cx="2286000" cy="77724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Report Service</a:t>
            </a:r>
            <a:endParaRPr lang="en-US" sz="1050" dirty="0"/>
          </a:p>
          <a:p>
            <a:pPr algn="ctr" indent="0" marL="0">
              <a:lnSpc>
                <a:spcPct val="95000"/>
              </a:lnSpc>
              <a:buNone/>
            </a:pPr>
            <a:r>
              <a:rPr lang="en-US" sz="900" i="1" dirty="0">
                <a:solidFill>
                  <a:srgbClr val="D6E2EE"/>
                </a:solidFill>
                <a:latin typeface="Calibri" pitchFamily="34" charset="0"/>
                <a:ea typeface="Calibri" pitchFamily="34" charset="-122"/>
                <a:cs typeface="Calibri" pitchFamily="34" charset="-120"/>
              </a:rPr>
              <a:t>thống kê doanh thu</a:t>
            </a:r>
            <a:endParaRPr lang="en-US" sz="1050" dirty="0"/>
          </a:p>
        </p:txBody>
      </p:sp>
      <p:sp>
        <p:nvSpPr>
          <p:cNvPr id="32" name="Shape 30"/>
          <p:cNvSpPr/>
          <p:nvPr/>
        </p:nvSpPr>
        <p:spPr>
          <a:xfrm>
            <a:off x="8001000" y="3950208"/>
            <a:ext cx="1371600" cy="548640"/>
          </a:xfrm>
          <a:prstGeom prst="roundRect">
            <a:avLst>
              <a:gd name="adj" fmla="val 11667"/>
            </a:avLst>
          </a:prstGeom>
          <a:solidFill>
            <a:srgbClr val="3E5C76"/>
          </a:solidFill>
          <a:ln w="15240">
            <a:solidFill>
              <a:srgbClr val="3E5C76"/>
            </a:solidFill>
            <a:prstDash val="solid"/>
          </a:ln>
        </p:spPr>
      </p:sp>
      <p:sp>
        <p:nvSpPr>
          <p:cNvPr id="33" name="Text 31"/>
          <p:cNvSpPr/>
          <p:nvPr/>
        </p:nvSpPr>
        <p:spPr>
          <a:xfrm>
            <a:off x="8046720" y="3950208"/>
            <a:ext cx="1280160" cy="54864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DB</a:t>
            </a:r>
            <a:endParaRPr lang="en-US" sz="950" dirty="0"/>
          </a:p>
        </p:txBody>
      </p:sp>
      <p:sp>
        <p:nvSpPr>
          <p:cNvPr id="34" name="Shape 32"/>
          <p:cNvSpPr/>
          <p:nvPr/>
        </p:nvSpPr>
        <p:spPr>
          <a:xfrm>
            <a:off x="7360920" y="4224528"/>
            <a:ext cx="640080" cy="0"/>
          </a:xfrm>
          <a:prstGeom prst="line">
            <a:avLst/>
          </a:prstGeom>
          <a:noFill/>
          <a:ln w="16510">
            <a:solidFill>
              <a:srgbClr val="12726B"/>
            </a:solidFill>
            <a:prstDash val="solid"/>
            <a:tailEnd type="triangle"/>
          </a:ln>
        </p:spPr>
      </p:sp>
      <p:sp>
        <p:nvSpPr>
          <p:cNvPr id="35" name="Shape 33"/>
          <p:cNvSpPr/>
          <p:nvPr/>
        </p:nvSpPr>
        <p:spPr>
          <a:xfrm>
            <a:off x="4023360" y="3246120"/>
            <a:ext cx="685800" cy="0"/>
          </a:xfrm>
          <a:prstGeom prst="line">
            <a:avLst/>
          </a:prstGeom>
          <a:noFill/>
          <a:ln w="16510">
            <a:solidFill>
              <a:srgbClr val="0B2545"/>
            </a:solidFill>
            <a:prstDash val="solid"/>
          </a:ln>
        </p:spPr>
      </p:sp>
      <p:sp>
        <p:nvSpPr>
          <p:cNvPr id="36" name="Shape 34"/>
          <p:cNvSpPr/>
          <p:nvPr/>
        </p:nvSpPr>
        <p:spPr>
          <a:xfrm>
            <a:off x="4709160" y="3246120"/>
            <a:ext cx="0" cy="978408"/>
          </a:xfrm>
          <a:prstGeom prst="line">
            <a:avLst/>
          </a:prstGeom>
          <a:noFill/>
          <a:ln w="16510">
            <a:solidFill>
              <a:srgbClr val="0B2545"/>
            </a:solidFill>
            <a:prstDash val="solid"/>
          </a:ln>
        </p:spPr>
      </p:sp>
      <p:sp>
        <p:nvSpPr>
          <p:cNvPr id="37" name="Shape 35"/>
          <p:cNvSpPr/>
          <p:nvPr/>
        </p:nvSpPr>
        <p:spPr>
          <a:xfrm>
            <a:off x="4709160" y="4224528"/>
            <a:ext cx="274320" cy="0"/>
          </a:xfrm>
          <a:prstGeom prst="line">
            <a:avLst/>
          </a:prstGeom>
          <a:noFill/>
          <a:ln w="16510">
            <a:solidFill>
              <a:srgbClr val="0B2545"/>
            </a:solidFill>
            <a:prstDash val="solid"/>
            <a:tailEnd type="triangle"/>
          </a:ln>
        </p:spPr>
      </p:sp>
      <p:sp>
        <p:nvSpPr>
          <p:cNvPr id="38" name="Shape 36"/>
          <p:cNvSpPr/>
          <p:nvPr/>
        </p:nvSpPr>
        <p:spPr>
          <a:xfrm>
            <a:off x="4983480" y="5029200"/>
            <a:ext cx="2377440" cy="777240"/>
          </a:xfrm>
          <a:prstGeom prst="roundRect">
            <a:avLst>
              <a:gd name="adj" fmla="val 8235"/>
            </a:avLst>
          </a:prstGeom>
          <a:solidFill>
            <a:srgbClr val="12726B"/>
          </a:solidFill>
          <a:ln w="15240">
            <a:solidFill>
              <a:srgbClr val="12726B"/>
            </a:solidFill>
            <a:prstDash val="solid"/>
          </a:ln>
        </p:spPr>
      </p:sp>
      <p:sp>
        <p:nvSpPr>
          <p:cNvPr id="39" name="Text 37"/>
          <p:cNvSpPr/>
          <p:nvPr/>
        </p:nvSpPr>
        <p:spPr>
          <a:xfrm>
            <a:off x="5029200" y="5029200"/>
            <a:ext cx="2286000" cy="77724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Identity Service</a:t>
            </a:r>
            <a:endParaRPr lang="en-US" sz="1050" dirty="0"/>
          </a:p>
          <a:p>
            <a:pPr algn="ctr" indent="0" marL="0">
              <a:lnSpc>
                <a:spcPct val="95000"/>
              </a:lnSpc>
              <a:buNone/>
            </a:pPr>
            <a:r>
              <a:rPr lang="en-US" sz="900" i="1" dirty="0">
                <a:solidFill>
                  <a:srgbClr val="D6E2EE"/>
                </a:solidFill>
                <a:latin typeface="Calibri" pitchFamily="34" charset="0"/>
                <a:ea typeface="Calibri" pitchFamily="34" charset="-122"/>
                <a:cs typeface="Calibri" pitchFamily="34" charset="-120"/>
              </a:rPr>
              <a:t>người dùng &amp; phân quyền</a:t>
            </a:r>
            <a:endParaRPr lang="en-US" sz="1050" dirty="0"/>
          </a:p>
        </p:txBody>
      </p:sp>
      <p:sp>
        <p:nvSpPr>
          <p:cNvPr id="40" name="Shape 38"/>
          <p:cNvSpPr/>
          <p:nvPr/>
        </p:nvSpPr>
        <p:spPr>
          <a:xfrm>
            <a:off x="8001000" y="5138928"/>
            <a:ext cx="1371600" cy="548640"/>
          </a:xfrm>
          <a:prstGeom prst="roundRect">
            <a:avLst>
              <a:gd name="adj" fmla="val 11667"/>
            </a:avLst>
          </a:prstGeom>
          <a:solidFill>
            <a:srgbClr val="3E5C76"/>
          </a:solidFill>
          <a:ln w="15240">
            <a:solidFill>
              <a:srgbClr val="3E5C76"/>
            </a:solidFill>
            <a:prstDash val="solid"/>
          </a:ln>
        </p:spPr>
      </p:sp>
      <p:sp>
        <p:nvSpPr>
          <p:cNvPr id="41" name="Text 39"/>
          <p:cNvSpPr/>
          <p:nvPr/>
        </p:nvSpPr>
        <p:spPr>
          <a:xfrm>
            <a:off x="8046720" y="5138928"/>
            <a:ext cx="1280160" cy="548640"/>
          </a:xfrm>
          <a:prstGeom prst="rect">
            <a:avLst/>
          </a:prstGeom>
          <a:noFill/>
          <a:ln/>
        </p:spPr>
        <p:txBody>
          <a:bodyPr wrap="square" lIns="0" tIns="0" rIns="0" bIns="0"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DB</a:t>
            </a:r>
            <a:endParaRPr lang="en-US" sz="950" dirty="0"/>
          </a:p>
        </p:txBody>
      </p:sp>
      <p:sp>
        <p:nvSpPr>
          <p:cNvPr id="42" name="Shape 40"/>
          <p:cNvSpPr/>
          <p:nvPr/>
        </p:nvSpPr>
        <p:spPr>
          <a:xfrm>
            <a:off x="7360920" y="5413248"/>
            <a:ext cx="640080" cy="0"/>
          </a:xfrm>
          <a:prstGeom prst="line">
            <a:avLst/>
          </a:prstGeom>
          <a:noFill/>
          <a:ln w="16510">
            <a:solidFill>
              <a:srgbClr val="12726B"/>
            </a:solidFill>
            <a:prstDash val="solid"/>
            <a:tailEnd type="triangle"/>
          </a:ln>
        </p:spPr>
      </p:sp>
      <p:sp>
        <p:nvSpPr>
          <p:cNvPr id="43" name="Shape 41"/>
          <p:cNvSpPr/>
          <p:nvPr/>
        </p:nvSpPr>
        <p:spPr>
          <a:xfrm>
            <a:off x="4023360" y="3246120"/>
            <a:ext cx="685800" cy="0"/>
          </a:xfrm>
          <a:prstGeom prst="line">
            <a:avLst/>
          </a:prstGeom>
          <a:noFill/>
          <a:ln w="16510">
            <a:solidFill>
              <a:srgbClr val="0B2545"/>
            </a:solidFill>
            <a:prstDash val="solid"/>
          </a:ln>
        </p:spPr>
      </p:sp>
      <p:sp>
        <p:nvSpPr>
          <p:cNvPr id="44" name="Shape 42"/>
          <p:cNvSpPr/>
          <p:nvPr/>
        </p:nvSpPr>
        <p:spPr>
          <a:xfrm>
            <a:off x="4709160" y="3246120"/>
            <a:ext cx="0" cy="2167128"/>
          </a:xfrm>
          <a:prstGeom prst="line">
            <a:avLst/>
          </a:prstGeom>
          <a:noFill/>
          <a:ln w="16510">
            <a:solidFill>
              <a:srgbClr val="0B2545"/>
            </a:solidFill>
            <a:prstDash val="solid"/>
          </a:ln>
        </p:spPr>
      </p:sp>
      <p:sp>
        <p:nvSpPr>
          <p:cNvPr id="45" name="Shape 43"/>
          <p:cNvSpPr/>
          <p:nvPr/>
        </p:nvSpPr>
        <p:spPr>
          <a:xfrm>
            <a:off x="4709160" y="5413248"/>
            <a:ext cx="274320" cy="0"/>
          </a:xfrm>
          <a:prstGeom prst="line">
            <a:avLst/>
          </a:prstGeom>
          <a:noFill/>
          <a:ln w="16510">
            <a:solidFill>
              <a:srgbClr val="0B2545"/>
            </a:solidFill>
            <a:prstDash val="solid"/>
            <a:tailEnd type="triangle"/>
          </a:ln>
        </p:spPr>
      </p:sp>
      <p:sp>
        <p:nvSpPr>
          <p:cNvPr id="46" name="Text 44"/>
          <p:cNvSpPr/>
          <p:nvPr/>
        </p:nvSpPr>
        <p:spPr>
          <a:xfrm>
            <a:off x="4937760" y="5943600"/>
            <a:ext cx="5120640" cy="365760"/>
          </a:xfrm>
          <a:prstGeom prst="rect">
            <a:avLst/>
          </a:prstGeom>
          <a:noFill/>
          <a:ln/>
        </p:spPr>
        <p:txBody>
          <a:bodyPr wrap="square" lIns="0" tIns="0" rIns="0" bIns="0" rtlCol="0" anchor="ctr"/>
          <a:lstStyle/>
          <a:p>
            <a:pPr algn="ctr" indent="0" marL="0">
              <a:buNone/>
            </a:pPr>
            <a:r>
              <a:rPr lang="en-US" sz="1000" b="1" i="1" dirty="0">
                <a:solidFill>
                  <a:srgbClr val="B23A32"/>
                </a:solidFill>
                <a:latin typeface="Calibri" pitchFamily="34" charset="0"/>
                <a:ea typeface="Calibri" pitchFamily="34" charset="-122"/>
                <a:cs typeface="Calibri" pitchFamily="34" charset="-120"/>
              </a:rPr>
              <a:t>Mỗi service một CSDL riêng — không service nào đọc bảng của service khác.</a:t>
            </a:r>
            <a:endParaRPr lang="en-US" sz="1000" dirty="0"/>
          </a:p>
        </p:txBody>
      </p:sp>
      <p:sp>
        <p:nvSpPr>
          <p:cNvPr id="47" name="Shape 45"/>
          <p:cNvSpPr/>
          <p:nvPr/>
        </p:nvSpPr>
        <p:spPr>
          <a:xfrm>
            <a:off x="9601200" y="1325880"/>
            <a:ext cx="2057400" cy="4434840"/>
          </a:xfrm>
          <a:prstGeom prst="roundRect">
            <a:avLst>
              <a:gd name="adj" fmla="val 3556"/>
            </a:avLst>
          </a:prstGeom>
          <a:solidFill>
            <a:srgbClr val="F1F5F9"/>
          </a:solidFill>
          <a:ln w="12700">
            <a:solidFill>
              <a:srgbClr val="DCE4EC"/>
            </a:solidFill>
            <a:prstDash val="solid"/>
          </a:ln>
        </p:spPr>
      </p:sp>
      <p:sp>
        <p:nvSpPr>
          <p:cNvPr id="48" name="Text 46"/>
          <p:cNvSpPr/>
          <p:nvPr/>
        </p:nvSpPr>
        <p:spPr>
          <a:xfrm>
            <a:off x="9765792" y="1426464"/>
            <a:ext cx="1783080" cy="274320"/>
          </a:xfrm>
          <a:prstGeom prst="rect">
            <a:avLst/>
          </a:prstGeom>
          <a:noFill/>
          <a:ln/>
        </p:spPr>
        <p:txBody>
          <a:bodyPr wrap="square" lIns="0" tIns="0" rIns="0" bIns="0" rtlCol="0" anchor="ctr"/>
          <a:lstStyle/>
          <a:p>
            <a:pPr indent="0" marL="0">
              <a:buNone/>
            </a:pPr>
            <a:r>
              <a:rPr lang="en-US" sz="1200" b="1" dirty="0">
                <a:solidFill>
                  <a:srgbClr val="12726B"/>
                </a:solidFill>
                <a:latin typeface="Calibri" pitchFamily="34" charset="0"/>
                <a:ea typeface="Calibri" pitchFamily="34" charset="-122"/>
                <a:cs typeface="Calibri" pitchFamily="34" charset="-120"/>
              </a:rPr>
              <a:t>Phải nói thêm gì</a:t>
            </a:r>
            <a:endParaRPr lang="en-US" sz="1200" dirty="0"/>
          </a:p>
        </p:txBody>
      </p:sp>
      <p:sp>
        <p:nvSpPr>
          <p:cNvPr id="49" name="Text 47"/>
          <p:cNvSpPr/>
          <p:nvPr/>
        </p:nvSpPr>
        <p:spPr>
          <a:xfrm>
            <a:off x="9765792" y="1828800"/>
            <a:ext cx="1783080" cy="237744"/>
          </a:xfrm>
          <a:prstGeom prst="rect">
            <a:avLst/>
          </a:prstGeom>
          <a:noFill/>
          <a:ln/>
        </p:spPr>
        <p:txBody>
          <a:bodyPr wrap="square" lIns="0" tIns="0" rIns="0" bIns="0" rtlCol="0" anchor="ctr"/>
          <a:lstStyle/>
          <a:p>
            <a:pPr indent="0" marL="0">
              <a:buNone/>
            </a:pPr>
            <a:r>
              <a:rPr lang="en-US" sz="1050" b="1" dirty="0">
                <a:solidFill>
                  <a:srgbClr val="0B2545"/>
                </a:solidFill>
                <a:latin typeface="Calibri" pitchFamily="34" charset="0"/>
                <a:ea typeface="Calibri" pitchFamily="34" charset="-122"/>
                <a:cs typeface="Calibri" pitchFamily="34" charset="-120"/>
              </a:rPr>
              <a:t>Ranh giới service</a:t>
            </a:r>
            <a:endParaRPr lang="en-US" sz="1050" dirty="0"/>
          </a:p>
        </p:txBody>
      </p:sp>
      <p:sp>
        <p:nvSpPr>
          <p:cNvPr id="50" name="Text 48"/>
          <p:cNvSpPr/>
          <p:nvPr/>
        </p:nvSpPr>
        <p:spPr>
          <a:xfrm>
            <a:off x="9765792" y="2084832"/>
            <a:ext cx="1828800" cy="685800"/>
          </a:xfrm>
          <a:prstGeom prst="rect">
            <a:avLst/>
          </a:prstGeom>
          <a:noFill/>
          <a:ln/>
        </p:spPr>
        <p:txBody>
          <a:bodyPr wrap="square" lIns="0" tIns="0" rIns="0" bIns="0" rtlCol="0" anchor="t"/>
          <a:lstStyle/>
          <a:p>
            <a:pPr indent="0" marL="0">
              <a:lnSpc>
                <a:spcPct val="105000"/>
              </a:lnSpc>
              <a:buNone/>
            </a:pPr>
            <a:r>
              <a:rPr lang="en-US" sz="900" dirty="0">
                <a:solidFill>
                  <a:srgbClr val="3E5C76"/>
                </a:solidFill>
                <a:latin typeface="Calibri" pitchFamily="34" charset="0"/>
                <a:ea typeface="Calibri" pitchFamily="34" charset="-122"/>
                <a:cs typeface="Calibri" pitchFamily="34" charset="-120"/>
              </a:rPr>
              <a:t>Chia theo năng lực nghiệp vụ, không chia theo tầng kỹ thuật.</a:t>
            </a:r>
            <a:endParaRPr lang="en-US" sz="900" dirty="0"/>
          </a:p>
        </p:txBody>
      </p:sp>
      <p:sp>
        <p:nvSpPr>
          <p:cNvPr id="51" name="Text 49"/>
          <p:cNvSpPr/>
          <p:nvPr/>
        </p:nvSpPr>
        <p:spPr>
          <a:xfrm>
            <a:off x="9765792" y="2816352"/>
            <a:ext cx="1783080" cy="237744"/>
          </a:xfrm>
          <a:prstGeom prst="rect">
            <a:avLst/>
          </a:prstGeom>
          <a:noFill/>
          <a:ln/>
        </p:spPr>
        <p:txBody>
          <a:bodyPr wrap="square" lIns="0" tIns="0" rIns="0" bIns="0" rtlCol="0" anchor="ctr"/>
          <a:lstStyle/>
          <a:p>
            <a:pPr indent="0" marL="0">
              <a:buNone/>
            </a:pPr>
            <a:r>
              <a:rPr lang="en-US" sz="1050" b="1" dirty="0">
                <a:solidFill>
                  <a:srgbClr val="0B2545"/>
                </a:solidFill>
                <a:latin typeface="Calibri" pitchFamily="34" charset="0"/>
                <a:ea typeface="Calibri" pitchFamily="34" charset="-122"/>
                <a:cs typeface="Calibri" pitchFamily="34" charset="-120"/>
              </a:rPr>
              <a:t>Giao tiếp</a:t>
            </a:r>
            <a:endParaRPr lang="en-US" sz="1050" dirty="0"/>
          </a:p>
        </p:txBody>
      </p:sp>
      <p:sp>
        <p:nvSpPr>
          <p:cNvPr id="52" name="Text 50"/>
          <p:cNvSpPr/>
          <p:nvPr/>
        </p:nvSpPr>
        <p:spPr>
          <a:xfrm>
            <a:off x="9765792" y="3072384"/>
            <a:ext cx="1828800" cy="685800"/>
          </a:xfrm>
          <a:prstGeom prst="rect">
            <a:avLst/>
          </a:prstGeom>
          <a:noFill/>
          <a:ln/>
        </p:spPr>
        <p:txBody>
          <a:bodyPr wrap="square" lIns="0" tIns="0" rIns="0" bIns="0" rtlCol="0" anchor="t"/>
          <a:lstStyle/>
          <a:p>
            <a:pPr indent="0" marL="0">
              <a:lnSpc>
                <a:spcPct val="105000"/>
              </a:lnSpc>
              <a:buNone/>
            </a:pPr>
            <a:r>
              <a:rPr lang="en-US" sz="900" dirty="0">
                <a:solidFill>
                  <a:srgbClr val="3E5C76"/>
                </a:solidFill>
                <a:latin typeface="Calibri" pitchFamily="34" charset="0"/>
                <a:ea typeface="Calibri" pitchFamily="34" charset="-122"/>
                <a:cs typeface="Calibri" pitchFamily="34" charset="-120"/>
              </a:rPr>
              <a:t>Gate → Parking đồng bộ; Parking → Report bất đồng bộ qua sự kiện.</a:t>
            </a:r>
            <a:endParaRPr lang="en-US" sz="900" dirty="0"/>
          </a:p>
        </p:txBody>
      </p:sp>
      <p:sp>
        <p:nvSpPr>
          <p:cNvPr id="53" name="Text 51"/>
          <p:cNvSpPr/>
          <p:nvPr/>
        </p:nvSpPr>
        <p:spPr>
          <a:xfrm>
            <a:off x="9765792" y="3803904"/>
            <a:ext cx="1783080" cy="237744"/>
          </a:xfrm>
          <a:prstGeom prst="rect">
            <a:avLst/>
          </a:prstGeom>
          <a:noFill/>
          <a:ln/>
        </p:spPr>
        <p:txBody>
          <a:bodyPr wrap="square" lIns="0" tIns="0" rIns="0" bIns="0" rtlCol="0" anchor="ctr"/>
          <a:lstStyle/>
          <a:p>
            <a:pPr indent="0" marL="0">
              <a:buNone/>
            </a:pPr>
            <a:r>
              <a:rPr lang="en-US" sz="1050" b="1" dirty="0">
                <a:solidFill>
                  <a:srgbClr val="0B2545"/>
                </a:solidFill>
                <a:latin typeface="Calibri" pitchFamily="34" charset="0"/>
                <a:ea typeface="Calibri" pitchFamily="34" charset="-122"/>
                <a:cs typeface="Calibri" pitchFamily="34" charset="-120"/>
              </a:rPr>
              <a:t>Nhất quán</a:t>
            </a:r>
            <a:endParaRPr lang="en-US" sz="1050" dirty="0"/>
          </a:p>
        </p:txBody>
      </p:sp>
      <p:sp>
        <p:nvSpPr>
          <p:cNvPr id="54" name="Text 52"/>
          <p:cNvSpPr/>
          <p:nvPr/>
        </p:nvSpPr>
        <p:spPr>
          <a:xfrm>
            <a:off x="9765792" y="4059936"/>
            <a:ext cx="1828800" cy="685800"/>
          </a:xfrm>
          <a:prstGeom prst="rect">
            <a:avLst/>
          </a:prstGeom>
          <a:noFill/>
          <a:ln/>
        </p:spPr>
        <p:txBody>
          <a:bodyPr wrap="square" lIns="0" tIns="0" rIns="0" bIns="0" rtlCol="0" anchor="t"/>
          <a:lstStyle/>
          <a:p>
            <a:pPr indent="0" marL="0">
              <a:lnSpc>
                <a:spcPct val="105000"/>
              </a:lnSpc>
              <a:buNone/>
            </a:pPr>
            <a:r>
              <a:rPr lang="en-US" sz="900" dirty="0">
                <a:solidFill>
                  <a:srgbClr val="3E5C76"/>
                </a:solidFill>
                <a:latin typeface="Calibri" pitchFamily="34" charset="0"/>
                <a:ea typeface="Calibri" pitchFamily="34" charset="-122"/>
                <a:cs typeface="Calibri" pitchFamily="34" charset="-120"/>
              </a:rPr>
              <a:t>Thanh toán và mở barie thuộc hai service, cần saga hoặc bù trừ.</a:t>
            </a:r>
            <a:endParaRPr lang="en-US" sz="900" dirty="0"/>
          </a:p>
        </p:txBody>
      </p:sp>
      <p:sp>
        <p:nvSpPr>
          <p:cNvPr id="55" name="Text 53"/>
          <p:cNvSpPr/>
          <p:nvPr/>
        </p:nvSpPr>
        <p:spPr>
          <a:xfrm>
            <a:off x="9765792" y="4791456"/>
            <a:ext cx="1783080" cy="237744"/>
          </a:xfrm>
          <a:prstGeom prst="rect">
            <a:avLst/>
          </a:prstGeom>
          <a:noFill/>
          <a:ln/>
        </p:spPr>
        <p:txBody>
          <a:bodyPr wrap="square" lIns="0" tIns="0" rIns="0" bIns="0" rtlCol="0" anchor="ctr"/>
          <a:lstStyle/>
          <a:p>
            <a:pPr indent="0" marL="0">
              <a:buNone/>
            </a:pPr>
            <a:r>
              <a:rPr lang="en-US" sz="1050" b="1" dirty="0">
                <a:solidFill>
                  <a:srgbClr val="0B2545"/>
                </a:solidFill>
                <a:latin typeface="Calibri" pitchFamily="34" charset="0"/>
                <a:ea typeface="Calibri" pitchFamily="34" charset="-122"/>
                <a:cs typeface="Calibri" pitchFamily="34" charset="-120"/>
              </a:rPr>
              <a:t>Đánh đổi</a:t>
            </a:r>
            <a:endParaRPr lang="en-US" sz="1050" dirty="0"/>
          </a:p>
        </p:txBody>
      </p:sp>
      <p:sp>
        <p:nvSpPr>
          <p:cNvPr id="56" name="Text 54"/>
          <p:cNvSpPr/>
          <p:nvPr/>
        </p:nvSpPr>
        <p:spPr>
          <a:xfrm>
            <a:off x="9765792" y="5047488"/>
            <a:ext cx="1828800" cy="685800"/>
          </a:xfrm>
          <a:prstGeom prst="rect">
            <a:avLst/>
          </a:prstGeom>
          <a:noFill/>
          <a:ln/>
        </p:spPr>
        <p:txBody>
          <a:bodyPr wrap="square" lIns="0" tIns="0" rIns="0" bIns="0" rtlCol="0" anchor="t"/>
          <a:lstStyle/>
          <a:p>
            <a:pPr indent="0" marL="0">
              <a:lnSpc>
                <a:spcPct val="105000"/>
              </a:lnSpc>
              <a:buNone/>
            </a:pPr>
            <a:r>
              <a:rPr lang="en-US" sz="900" dirty="0">
                <a:solidFill>
                  <a:srgbClr val="3E5C76"/>
                </a:solidFill>
                <a:latin typeface="Calibri" pitchFamily="34" charset="0"/>
                <a:ea typeface="Calibri" pitchFamily="34" charset="-122"/>
                <a:cs typeface="Calibri" pitchFamily="34" charset="-120"/>
              </a:rPr>
              <a:t>Được scale độc lập, mất tính đơn giản và transaction.</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457200" cy="457200"/>
          </a:xfrm>
          <a:prstGeom prst="roundRect">
            <a:avLst>
              <a:gd name="adj" fmla="val 24000"/>
            </a:avLst>
          </a:prstGeom>
          <a:solidFill>
            <a:srgbClr val="E8A317"/>
          </a:solidFill>
          <a:ln w="12700">
            <a:solidFill>
              <a:srgbClr val="E8A317"/>
            </a:solidFill>
            <a:prstDash val="solid"/>
          </a:ln>
        </p:spPr>
      </p:sp>
      <p:sp>
        <p:nvSpPr>
          <p:cNvPr id="3" name="Text 1"/>
          <p:cNvSpPr/>
          <p:nvPr/>
        </p:nvSpPr>
        <p:spPr>
          <a:xfrm>
            <a:off x="502920" y="329184"/>
            <a:ext cx="457200" cy="457200"/>
          </a:xfrm>
          <a:prstGeom prst="rect">
            <a:avLst/>
          </a:prstGeom>
          <a:noFill/>
          <a:ln/>
        </p:spPr>
        <p:txBody>
          <a:bodyPr wrap="square" lIns="0" tIns="0" rIns="0" bIns="0" rtlCol="0" anchor="ctr"/>
          <a:lstStyle/>
          <a:p>
            <a:pPr algn="ctr" indent="0" marL="0">
              <a:buNone/>
            </a:pPr>
            <a:r>
              <a:rPr lang="en-US" sz="1800" b="1" dirty="0">
                <a:solidFill>
                  <a:srgbClr val="0B2545"/>
                </a:solidFill>
                <a:latin typeface="Calibri" pitchFamily="34" charset="0"/>
                <a:ea typeface="Calibri" pitchFamily="34" charset="-122"/>
                <a:cs typeface="Calibri" pitchFamily="34" charset="-120"/>
              </a:rPr>
              <a:t>20</a:t>
            </a:r>
            <a:endParaRPr lang="en-US" sz="1800" dirty="0"/>
          </a:p>
        </p:txBody>
      </p:sp>
      <p:sp>
        <p:nvSpPr>
          <p:cNvPr id="4" name="Text 2"/>
          <p:cNvSpPr/>
          <p:nvPr/>
        </p:nvSpPr>
        <p:spPr>
          <a:xfrm>
            <a:off x="1097280" y="274320"/>
            <a:ext cx="10607040" cy="566928"/>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Sáu sai lầm khi trình bày kiến trúc</a:t>
            </a:r>
            <a:endParaRPr lang="en-US" sz="2800" dirty="0"/>
          </a:p>
        </p:txBody>
      </p:sp>
      <p:sp>
        <p:nvSpPr>
          <p:cNvPr id="5" name="Text 3"/>
          <p:cNvSpPr/>
          <p:nvPr/>
        </p:nvSpPr>
        <p:spPr>
          <a:xfrm>
            <a:off x="1097280" y="822960"/>
            <a:ext cx="10607040" cy="292608"/>
          </a:xfrm>
          <a:prstGeom prst="rect">
            <a:avLst/>
          </a:prstGeom>
          <a:noFill/>
          <a:ln/>
        </p:spPr>
        <p:txBody>
          <a:bodyPr wrap="square" lIns="0" tIns="0" rIns="0" bIns="0" rtlCol="0" anchor="t"/>
          <a:lstStyle/>
          <a:p>
            <a:pPr indent="0" marL="0">
              <a:buNone/>
            </a:pPr>
            <a:r>
              <a:rPr lang="en-US" sz="1300" i="1" dirty="0">
                <a:solidFill>
                  <a:srgbClr val="6B7A8F"/>
                </a:solidFill>
                <a:latin typeface="Calibri" pitchFamily="34" charset="0"/>
                <a:ea typeface="Calibri" pitchFamily="34" charset="-122"/>
                <a:cs typeface="Calibri" pitchFamily="34" charset="-120"/>
              </a:rPr>
              <a:t>Áp dụng cho cả bài thi, đồ án lẫn phỏng vấn xin việc</a:t>
            </a:r>
            <a:endParaRPr lang="en-US" sz="1300" dirty="0"/>
          </a:p>
        </p:txBody>
      </p:sp>
      <p:sp>
        <p:nvSpPr>
          <p:cNvPr id="6" name="Shape 4"/>
          <p:cNvSpPr/>
          <p:nvPr/>
        </p:nvSpPr>
        <p:spPr>
          <a:xfrm>
            <a:off x="502920" y="1298448"/>
            <a:ext cx="5394960" cy="1508760"/>
          </a:xfrm>
          <a:prstGeom prst="roundRect">
            <a:avLst>
              <a:gd name="adj" fmla="val 4848"/>
            </a:avLst>
          </a:prstGeom>
          <a:solidFill>
            <a:srgbClr val="F1F5F9"/>
          </a:solidFill>
          <a:ln w="12700">
            <a:solidFill>
              <a:srgbClr val="DCE4EC"/>
            </a:solidFill>
            <a:prstDash val="solid"/>
          </a:ln>
        </p:spPr>
      </p:sp>
      <p:sp>
        <p:nvSpPr>
          <p:cNvPr id="7" name="Shape 5"/>
          <p:cNvSpPr/>
          <p:nvPr/>
        </p:nvSpPr>
        <p:spPr>
          <a:xfrm>
            <a:off x="685800" y="1463040"/>
            <a:ext cx="292608" cy="292608"/>
          </a:xfrm>
          <a:prstGeom prst="roundRect">
            <a:avLst>
              <a:gd name="adj" fmla="val 31250"/>
            </a:avLst>
          </a:prstGeom>
          <a:solidFill>
            <a:srgbClr val="B23A32"/>
          </a:solidFill>
          <a:ln w="12700">
            <a:solidFill>
              <a:srgbClr val="B23A32"/>
            </a:solidFill>
            <a:prstDash val="solid"/>
          </a:ln>
        </p:spPr>
      </p:sp>
      <p:sp>
        <p:nvSpPr>
          <p:cNvPr id="8" name="Text 6"/>
          <p:cNvSpPr/>
          <p:nvPr/>
        </p:nvSpPr>
        <p:spPr>
          <a:xfrm>
            <a:off x="685800" y="146304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069848" y="1426464"/>
            <a:ext cx="4663440" cy="347472"/>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Chọn kiến trúc theo “trend”</a:t>
            </a:r>
            <a:endParaRPr lang="en-US" sz="1250" dirty="0"/>
          </a:p>
        </p:txBody>
      </p:sp>
      <p:sp>
        <p:nvSpPr>
          <p:cNvPr id="10" name="Text 8"/>
          <p:cNvSpPr/>
          <p:nvPr/>
        </p:nvSpPr>
        <p:spPr>
          <a:xfrm>
            <a:off x="704088" y="1828800"/>
            <a:ext cx="4983480" cy="566928"/>
          </a:xfrm>
          <a:prstGeom prst="rect">
            <a:avLst/>
          </a:prstGeom>
          <a:noFill/>
          <a:ln/>
        </p:spPr>
        <p:txBody>
          <a:bodyPr wrap="square" lIns="0" tIns="0" rIns="0" bIns="0" rtlCol="0" anchor="t"/>
          <a:lstStyle/>
          <a:p>
            <a:pPr indent="0" marL="0">
              <a:lnSpc>
                <a:spcPct val="105000"/>
              </a:lnSpc>
              <a:buNone/>
            </a:pPr>
            <a:r>
              <a:rPr lang="en-US" sz="1050" dirty="0">
                <a:solidFill>
                  <a:srgbClr val="3E5C76"/>
                </a:solidFill>
                <a:latin typeface="Calibri" pitchFamily="34" charset="0"/>
                <a:ea typeface="Calibri" pitchFamily="34" charset="-122"/>
                <a:cs typeface="Calibri" pitchFamily="34" charset="-120"/>
              </a:rPr>
              <a:t>Chọn Microservices vì nghe hiện đại, không phải vì bài toán cần. Người chấm sẽ hỏi “vì sao?” và bạn sẽ không trả lời được.</a:t>
            </a:r>
            <a:endParaRPr lang="en-US" sz="1050" dirty="0"/>
          </a:p>
        </p:txBody>
      </p:sp>
      <p:sp>
        <p:nvSpPr>
          <p:cNvPr id="11" name="Text 9"/>
          <p:cNvSpPr/>
          <p:nvPr/>
        </p:nvSpPr>
        <p:spPr>
          <a:xfrm>
            <a:off x="704088" y="2414016"/>
            <a:ext cx="4983480" cy="329184"/>
          </a:xfrm>
          <a:prstGeom prst="rect">
            <a:avLst/>
          </a:prstGeom>
          <a:noFill/>
          <a:ln/>
        </p:spPr>
        <p:txBody>
          <a:bodyPr wrap="square" lIns="0" tIns="0" rIns="0" bIns="0" rtlCol="0" anchor="t"/>
          <a:lstStyle/>
          <a:p>
            <a:pPr indent="0" marL="0">
              <a:buNone/>
            </a:pPr>
            <a:r>
              <a:rPr lang="en-US" sz="1050" b="1" dirty="0">
                <a:solidFill>
                  <a:srgbClr val="1E7A44"/>
                </a:solidFill>
                <a:latin typeface="Calibri" pitchFamily="34" charset="0"/>
                <a:ea typeface="Calibri" pitchFamily="34" charset="-122"/>
                <a:cs typeface="Calibri" pitchFamily="34" charset="-120"/>
              </a:rPr>
              <a:t>Cách sửa: </a:t>
            </a:r>
            <a:pPr indent="0" marL="0">
              <a:buNone/>
            </a:pPr>
            <a:r>
              <a:rPr lang="en-US" sz="1050" dirty="0">
                <a:solidFill>
                  <a:srgbClr val="13315C"/>
                </a:solidFill>
                <a:latin typeface="Calibri" pitchFamily="34" charset="0"/>
                <a:ea typeface="Calibri" pitchFamily="34" charset="-122"/>
                <a:cs typeface="Calibri" pitchFamily="34" charset="-120"/>
              </a:rPr>
              <a:t>Luôn gắn lựa chọn với một thuộc tính chất lượng cụ thể.</a:t>
            </a:r>
            <a:endParaRPr lang="en-US" sz="1050" dirty="0"/>
          </a:p>
        </p:txBody>
      </p:sp>
      <p:sp>
        <p:nvSpPr>
          <p:cNvPr id="12" name="Shape 10"/>
          <p:cNvSpPr/>
          <p:nvPr/>
        </p:nvSpPr>
        <p:spPr>
          <a:xfrm>
            <a:off x="6217920" y="1298448"/>
            <a:ext cx="5394960" cy="1508760"/>
          </a:xfrm>
          <a:prstGeom prst="roundRect">
            <a:avLst>
              <a:gd name="adj" fmla="val 4848"/>
            </a:avLst>
          </a:prstGeom>
          <a:solidFill>
            <a:srgbClr val="FFFFFF"/>
          </a:solidFill>
          <a:ln w="12700">
            <a:solidFill>
              <a:srgbClr val="DCE4EC"/>
            </a:solidFill>
            <a:prstDash val="solid"/>
          </a:ln>
        </p:spPr>
      </p:sp>
      <p:sp>
        <p:nvSpPr>
          <p:cNvPr id="13" name="Shape 11"/>
          <p:cNvSpPr/>
          <p:nvPr/>
        </p:nvSpPr>
        <p:spPr>
          <a:xfrm>
            <a:off x="6400800" y="1463040"/>
            <a:ext cx="292608" cy="292608"/>
          </a:xfrm>
          <a:prstGeom prst="roundRect">
            <a:avLst>
              <a:gd name="adj" fmla="val 31250"/>
            </a:avLst>
          </a:prstGeom>
          <a:solidFill>
            <a:srgbClr val="B23A32"/>
          </a:solidFill>
          <a:ln w="12700">
            <a:solidFill>
              <a:srgbClr val="B23A32"/>
            </a:solidFill>
            <a:prstDash val="solid"/>
          </a:ln>
        </p:spPr>
      </p:sp>
      <p:sp>
        <p:nvSpPr>
          <p:cNvPr id="14" name="Text 12"/>
          <p:cNvSpPr/>
          <p:nvPr/>
        </p:nvSpPr>
        <p:spPr>
          <a:xfrm>
            <a:off x="6400800" y="146304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6784848" y="1426464"/>
            <a:ext cx="4663440" cy="347472"/>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Không nêu đánh đổi</a:t>
            </a:r>
            <a:endParaRPr lang="en-US" sz="1250" dirty="0"/>
          </a:p>
        </p:txBody>
      </p:sp>
      <p:sp>
        <p:nvSpPr>
          <p:cNvPr id="16" name="Text 14"/>
          <p:cNvSpPr/>
          <p:nvPr/>
        </p:nvSpPr>
        <p:spPr>
          <a:xfrm>
            <a:off x="6419088" y="1828800"/>
            <a:ext cx="4983480" cy="566928"/>
          </a:xfrm>
          <a:prstGeom prst="rect">
            <a:avLst/>
          </a:prstGeom>
          <a:noFill/>
          <a:ln/>
        </p:spPr>
        <p:txBody>
          <a:bodyPr wrap="square" lIns="0" tIns="0" rIns="0" bIns="0" rtlCol="0" anchor="t"/>
          <a:lstStyle/>
          <a:p>
            <a:pPr indent="0" marL="0">
              <a:lnSpc>
                <a:spcPct val="105000"/>
              </a:lnSpc>
              <a:buNone/>
            </a:pPr>
            <a:r>
              <a:rPr lang="en-US" sz="1050" dirty="0">
                <a:solidFill>
                  <a:srgbClr val="3E5C76"/>
                </a:solidFill>
                <a:latin typeface="Calibri" pitchFamily="34" charset="0"/>
                <a:ea typeface="Calibri" pitchFamily="34" charset="-122"/>
                <a:cs typeface="Calibri" pitchFamily="34" charset="-120"/>
              </a:rPr>
              <a:t>Chỉ liệt kê ưu điểm. Kiến trúc nào cũng có cái giá của nó; không nói được cái giá nghĩa là chưa hiểu.</a:t>
            </a:r>
            <a:endParaRPr lang="en-US" sz="1050" dirty="0"/>
          </a:p>
        </p:txBody>
      </p:sp>
      <p:sp>
        <p:nvSpPr>
          <p:cNvPr id="17" name="Text 15"/>
          <p:cNvSpPr/>
          <p:nvPr/>
        </p:nvSpPr>
        <p:spPr>
          <a:xfrm>
            <a:off x="6419088" y="2414016"/>
            <a:ext cx="4983480" cy="329184"/>
          </a:xfrm>
          <a:prstGeom prst="rect">
            <a:avLst/>
          </a:prstGeom>
          <a:noFill/>
          <a:ln/>
        </p:spPr>
        <p:txBody>
          <a:bodyPr wrap="square" lIns="0" tIns="0" rIns="0" bIns="0" rtlCol="0" anchor="t"/>
          <a:lstStyle/>
          <a:p>
            <a:pPr indent="0" marL="0">
              <a:buNone/>
            </a:pPr>
            <a:r>
              <a:rPr lang="en-US" sz="1050" b="1" dirty="0">
                <a:solidFill>
                  <a:srgbClr val="1E7A44"/>
                </a:solidFill>
                <a:latin typeface="Calibri" pitchFamily="34" charset="0"/>
                <a:ea typeface="Calibri" pitchFamily="34" charset="-122"/>
                <a:cs typeface="Calibri" pitchFamily="34" charset="-120"/>
              </a:rPr>
              <a:t>Cách sửa: </a:t>
            </a:r>
            <a:pPr indent="0" marL="0">
              <a:buNone/>
            </a:pPr>
            <a:r>
              <a:rPr lang="en-US" sz="1050" dirty="0">
                <a:solidFill>
                  <a:srgbClr val="13315C"/>
                </a:solidFill>
                <a:latin typeface="Calibri" pitchFamily="34" charset="0"/>
                <a:ea typeface="Calibri" pitchFamily="34" charset="-122"/>
                <a:cs typeface="Calibri" pitchFamily="34" charset="-120"/>
              </a:rPr>
              <a:t>Câu mẫu: “Chúng tôi ưu tiên X và chấp nhận hy sinh Y.”</a:t>
            </a:r>
            <a:endParaRPr lang="en-US" sz="1050" dirty="0"/>
          </a:p>
        </p:txBody>
      </p:sp>
      <p:sp>
        <p:nvSpPr>
          <p:cNvPr id="18" name="Shape 16"/>
          <p:cNvSpPr/>
          <p:nvPr/>
        </p:nvSpPr>
        <p:spPr>
          <a:xfrm>
            <a:off x="502920" y="2962656"/>
            <a:ext cx="5394960" cy="1508760"/>
          </a:xfrm>
          <a:prstGeom prst="roundRect">
            <a:avLst>
              <a:gd name="adj" fmla="val 4848"/>
            </a:avLst>
          </a:prstGeom>
          <a:solidFill>
            <a:srgbClr val="F1F5F9"/>
          </a:solidFill>
          <a:ln w="12700">
            <a:solidFill>
              <a:srgbClr val="DCE4EC"/>
            </a:solidFill>
            <a:prstDash val="solid"/>
          </a:ln>
        </p:spPr>
      </p:sp>
      <p:sp>
        <p:nvSpPr>
          <p:cNvPr id="19" name="Shape 17"/>
          <p:cNvSpPr/>
          <p:nvPr/>
        </p:nvSpPr>
        <p:spPr>
          <a:xfrm>
            <a:off x="685800" y="3127248"/>
            <a:ext cx="292608" cy="292608"/>
          </a:xfrm>
          <a:prstGeom prst="roundRect">
            <a:avLst>
              <a:gd name="adj" fmla="val 31250"/>
            </a:avLst>
          </a:prstGeom>
          <a:solidFill>
            <a:srgbClr val="B23A32"/>
          </a:solidFill>
          <a:ln w="12700">
            <a:solidFill>
              <a:srgbClr val="B23A32"/>
            </a:solidFill>
            <a:prstDash val="solid"/>
          </a:ln>
        </p:spPr>
      </p:sp>
      <p:sp>
        <p:nvSpPr>
          <p:cNvPr id="20" name="Text 18"/>
          <p:cNvSpPr/>
          <p:nvPr/>
        </p:nvSpPr>
        <p:spPr>
          <a:xfrm>
            <a:off x="685800" y="312724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1069848" y="3090672"/>
            <a:ext cx="4663440" cy="347472"/>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Nhầm layer với tier</a:t>
            </a:r>
            <a:endParaRPr lang="en-US" sz="1250" dirty="0"/>
          </a:p>
        </p:txBody>
      </p:sp>
      <p:sp>
        <p:nvSpPr>
          <p:cNvPr id="22" name="Text 20"/>
          <p:cNvSpPr/>
          <p:nvPr/>
        </p:nvSpPr>
        <p:spPr>
          <a:xfrm>
            <a:off x="704088" y="3493008"/>
            <a:ext cx="4983480" cy="566928"/>
          </a:xfrm>
          <a:prstGeom prst="rect">
            <a:avLst/>
          </a:prstGeom>
          <a:noFill/>
          <a:ln/>
        </p:spPr>
        <p:txBody>
          <a:bodyPr wrap="square" lIns="0" tIns="0" rIns="0" bIns="0" rtlCol="0" anchor="t"/>
          <a:lstStyle/>
          <a:p>
            <a:pPr indent="0" marL="0">
              <a:lnSpc>
                <a:spcPct val="105000"/>
              </a:lnSpc>
              <a:buNone/>
            </a:pPr>
            <a:r>
              <a:rPr lang="en-US" sz="1050" dirty="0">
                <a:solidFill>
                  <a:srgbClr val="3E5C76"/>
                </a:solidFill>
                <a:latin typeface="Calibri" pitchFamily="34" charset="0"/>
                <a:ea typeface="Calibri" pitchFamily="34" charset="-122"/>
                <a:cs typeface="Calibri" pitchFamily="34" charset="-120"/>
              </a:rPr>
              <a:t>Nói “hệ thống 3-tier” trong khi thực ra chỉ chia mã thành 3 layer chạy trên một máy.</a:t>
            </a:r>
            <a:endParaRPr lang="en-US" sz="1050" dirty="0"/>
          </a:p>
        </p:txBody>
      </p:sp>
      <p:sp>
        <p:nvSpPr>
          <p:cNvPr id="23" name="Text 21"/>
          <p:cNvSpPr/>
          <p:nvPr/>
        </p:nvSpPr>
        <p:spPr>
          <a:xfrm>
            <a:off x="704088" y="4078224"/>
            <a:ext cx="4983480" cy="329184"/>
          </a:xfrm>
          <a:prstGeom prst="rect">
            <a:avLst/>
          </a:prstGeom>
          <a:noFill/>
          <a:ln/>
        </p:spPr>
        <p:txBody>
          <a:bodyPr wrap="square" lIns="0" tIns="0" rIns="0" bIns="0" rtlCol="0" anchor="t"/>
          <a:lstStyle/>
          <a:p>
            <a:pPr indent="0" marL="0">
              <a:buNone/>
            </a:pPr>
            <a:r>
              <a:rPr lang="en-US" sz="1050" b="1" dirty="0">
                <a:solidFill>
                  <a:srgbClr val="1E7A44"/>
                </a:solidFill>
                <a:latin typeface="Calibri" pitchFamily="34" charset="0"/>
                <a:ea typeface="Calibri" pitchFamily="34" charset="-122"/>
                <a:cs typeface="Calibri" pitchFamily="34" charset="-120"/>
              </a:rPr>
              <a:t>Cách sửa: </a:t>
            </a:r>
            <a:pPr indent="0" marL="0">
              <a:buNone/>
            </a:pPr>
            <a:r>
              <a:rPr lang="en-US" sz="1050" dirty="0">
                <a:solidFill>
                  <a:srgbClr val="13315C"/>
                </a:solidFill>
                <a:latin typeface="Calibri" pitchFamily="34" charset="0"/>
                <a:ea typeface="Calibri" pitchFamily="34" charset="-122"/>
                <a:cs typeface="Calibri" pitchFamily="34" charset="-120"/>
              </a:rPr>
              <a:t>Layer là logic, tier là vật lý. Dùng đúng từ.</a:t>
            </a:r>
            <a:endParaRPr lang="en-US" sz="1050" dirty="0"/>
          </a:p>
        </p:txBody>
      </p:sp>
      <p:sp>
        <p:nvSpPr>
          <p:cNvPr id="24" name="Shape 22"/>
          <p:cNvSpPr/>
          <p:nvPr/>
        </p:nvSpPr>
        <p:spPr>
          <a:xfrm>
            <a:off x="6217920" y="2962656"/>
            <a:ext cx="5394960" cy="1508760"/>
          </a:xfrm>
          <a:prstGeom prst="roundRect">
            <a:avLst>
              <a:gd name="adj" fmla="val 4848"/>
            </a:avLst>
          </a:prstGeom>
          <a:solidFill>
            <a:srgbClr val="FFFFFF"/>
          </a:solidFill>
          <a:ln w="12700">
            <a:solidFill>
              <a:srgbClr val="DCE4EC"/>
            </a:solidFill>
            <a:prstDash val="solid"/>
          </a:ln>
        </p:spPr>
      </p:sp>
      <p:sp>
        <p:nvSpPr>
          <p:cNvPr id="25" name="Shape 23"/>
          <p:cNvSpPr/>
          <p:nvPr/>
        </p:nvSpPr>
        <p:spPr>
          <a:xfrm>
            <a:off x="6400800" y="3127248"/>
            <a:ext cx="292608" cy="292608"/>
          </a:xfrm>
          <a:prstGeom prst="roundRect">
            <a:avLst>
              <a:gd name="adj" fmla="val 31250"/>
            </a:avLst>
          </a:prstGeom>
          <a:solidFill>
            <a:srgbClr val="B23A32"/>
          </a:solidFill>
          <a:ln w="12700">
            <a:solidFill>
              <a:srgbClr val="B23A32"/>
            </a:solidFill>
            <a:prstDash val="solid"/>
          </a:ln>
        </p:spPr>
      </p:sp>
      <p:sp>
        <p:nvSpPr>
          <p:cNvPr id="26" name="Text 24"/>
          <p:cNvSpPr/>
          <p:nvPr/>
        </p:nvSpPr>
        <p:spPr>
          <a:xfrm>
            <a:off x="6400800" y="312724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6784848" y="3090672"/>
            <a:ext cx="4663440" cy="347472"/>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Kiến trúc không nhất quán giữa các sơ đồ</a:t>
            </a:r>
            <a:endParaRPr lang="en-US" sz="1250" dirty="0"/>
          </a:p>
        </p:txBody>
      </p:sp>
      <p:sp>
        <p:nvSpPr>
          <p:cNvPr id="28" name="Text 26"/>
          <p:cNvSpPr/>
          <p:nvPr/>
        </p:nvSpPr>
        <p:spPr>
          <a:xfrm>
            <a:off x="6419088" y="3493008"/>
            <a:ext cx="4983480" cy="566928"/>
          </a:xfrm>
          <a:prstGeom prst="rect">
            <a:avLst/>
          </a:prstGeom>
          <a:noFill/>
          <a:ln/>
        </p:spPr>
        <p:txBody>
          <a:bodyPr wrap="square" lIns="0" tIns="0" rIns="0" bIns="0" rtlCol="0" anchor="t"/>
          <a:lstStyle/>
          <a:p>
            <a:pPr indent="0" marL="0">
              <a:lnSpc>
                <a:spcPct val="105000"/>
              </a:lnSpc>
              <a:buNone/>
            </a:pPr>
            <a:r>
              <a:rPr lang="en-US" sz="1050" dirty="0">
                <a:solidFill>
                  <a:srgbClr val="3E5C76"/>
                </a:solidFill>
                <a:latin typeface="Calibri" pitchFamily="34" charset="0"/>
                <a:ea typeface="Calibri" pitchFamily="34" charset="-122"/>
                <a:cs typeface="Calibri" pitchFamily="34" charset="-120"/>
              </a:rPr>
              <a:t>Class Diagram có Repository nhưng Sequence Diagram lại cho UI gọi thẳng database.</a:t>
            </a:r>
            <a:endParaRPr lang="en-US" sz="1050" dirty="0"/>
          </a:p>
        </p:txBody>
      </p:sp>
      <p:sp>
        <p:nvSpPr>
          <p:cNvPr id="29" name="Text 27"/>
          <p:cNvSpPr/>
          <p:nvPr/>
        </p:nvSpPr>
        <p:spPr>
          <a:xfrm>
            <a:off x="6419088" y="4078224"/>
            <a:ext cx="4983480" cy="329184"/>
          </a:xfrm>
          <a:prstGeom prst="rect">
            <a:avLst/>
          </a:prstGeom>
          <a:noFill/>
          <a:ln/>
        </p:spPr>
        <p:txBody>
          <a:bodyPr wrap="square" lIns="0" tIns="0" rIns="0" bIns="0" rtlCol="0" anchor="t"/>
          <a:lstStyle/>
          <a:p>
            <a:pPr indent="0" marL="0">
              <a:buNone/>
            </a:pPr>
            <a:r>
              <a:rPr lang="en-US" sz="1050" b="1" dirty="0">
                <a:solidFill>
                  <a:srgbClr val="1E7A44"/>
                </a:solidFill>
                <a:latin typeface="Calibri" pitchFamily="34" charset="0"/>
                <a:ea typeface="Calibri" pitchFamily="34" charset="-122"/>
                <a:cs typeface="Calibri" pitchFamily="34" charset="-120"/>
              </a:rPr>
              <a:t>Cách sửa: </a:t>
            </a:r>
            <a:pPr indent="0" marL="0">
              <a:buNone/>
            </a:pPr>
            <a:r>
              <a:rPr lang="en-US" sz="1050" dirty="0">
                <a:solidFill>
                  <a:srgbClr val="13315C"/>
                </a:solidFill>
                <a:latin typeface="Calibri" pitchFamily="34" charset="0"/>
                <a:ea typeface="Calibri" pitchFamily="34" charset="-122"/>
                <a:cs typeface="Calibri" pitchFamily="34" charset="-120"/>
              </a:rPr>
              <a:t>Rà chéo ba sơ đồ trước khi nộp.</a:t>
            </a:r>
            <a:endParaRPr lang="en-US" sz="1050" dirty="0"/>
          </a:p>
        </p:txBody>
      </p:sp>
      <p:sp>
        <p:nvSpPr>
          <p:cNvPr id="30" name="Shape 28"/>
          <p:cNvSpPr/>
          <p:nvPr/>
        </p:nvSpPr>
        <p:spPr>
          <a:xfrm>
            <a:off x="502920" y="4626864"/>
            <a:ext cx="5394960" cy="1508760"/>
          </a:xfrm>
          <a:prstGeom prst="roundRect">
            <a:avLst>
              <a:gd name="adj" fmla="val 4848"/>
            </a:avLst>
          </a:prstGeom>
          <a:solidFill>
            <a:srgbClr val="F1F5F9"/>
          </a:solidFill>
          <a:ln w="12700">
            <a:solidFill>
              <a:srgbClr val="DCE4EC"/>
            </a:solidFill>
            <a:prstDash val="solid"/>
          </a:ln>
        </p:spPr>
      </p:sp>
      <p:sp>
        <p:nvSpPr>
          <p:cNvPr id="31" name="Shape 29"/>
          <p:cNvSpPr/>
          <p:nvPr/>
        </p:nvSpPr>
        <p:spPr>
          <a:xfrm>
            <a:off x="685800" y="4791456"/>
            <a:ext cx="292608" cy="292608"/>
          </a:xfrm>
          <a:prstGeom prst="roundRect">
            <a:avLst>
              <a:gd name="adj" fmla="val 31250"/>
            </a:avLst>
          </a:prstGeom>
          <a:solidFill>
            <a:srgbClr val="B23A32"/>
          </a:solidFill>
          <a:ln w="12700">
            <a:solidFill>
              <a:srgbClr val="B23A32"/>
            </a:solidFill>
            <a:prstDash val="solid"/>
          </a:ln>
        </p:spPr>
      </p:sp>
      <p:sp>
        <p:nvSpPr>
          <p:cNvPr id="32" name="Text 30"/>
          <p:cNvSpPr/>
          <p:nvPr/>
        </p:nvSpPr>
        <p:spPr>
          <a:xfrm>
            <a:off x="685800" y="479145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1069848" y="4754880"/>
            <a:ext cx="4663440" cy="347472"/>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Vẽ sơ đồ không có mũi tên có nghĩa</a:t>
            </a:r>
            <a:endParaRPr lang="en-US" sz="1250" dirty="0"/>
          </a:p>
        </p:txBody>
      </p:sp>
      <p:sp>
        <p:nvSpPr>
          <p:cNvPr id="34" name="Text 32"/>
          <p:cNvSpPr/>
          <p:nvPr/>
        </p:nvSpPr>
        <p:spPr>
          <a:xfrm>
            <a:off x="704088" y="5157216"/>
            <a:ext cx="4983480" cy="566928"/>
          </a:xfrm>
          <a:prstGeom prst="rect">
            <a:avLst/>
          </a:prstGeom>
          <a:noFill/>
          <a:ln/>
        </p:spPr>
        <p:txBody>
          <a:bodyPr wrap="square" lIns="0" tIns="0" rIns="0" bIns="0" rtlCol="0" anchor="t"/>
          <a:lstStyle/>
          <a:p>
            <a:pPr indent="0" marL="0">
              <a:lnSpc>
                <a:spcPct val="105000"/>
              </a:lnSpc>
              <a:buNone/>
            </a:pPr>
            <a:r>
              <a:rPr lang="en-US" sz="1050" dirty="0">
                <a:solidFill>
                  <a:srgbClr val="3E5C76"/>
                </a:solidFill>
                <a:latin typeface="Calibri" pitchFamily="34" charset="0"/>
                <a:ea typeface="Calibri" pitchFamily="34" charset="-122"/>
                <a:cs typeface="Calibri" pitchFamily="34" charset="-120"/>
              </a:rPr>
              <a:t>Nối mọi thứ với mọi thứ, không ghi hướng gọi hay kiểu giao tiếp.</a:t>
            </a:r>
            <a:endParaRPr lang="en-US" sz="1050" dirty="0"/>
          </a:p>
        </p:txBody>
      </p:sp>
      <p:sp>
        <p:nvSpPr>
          <p:cNvPr id="35" name="Text 33"/>
          <p:cNvSpPr/>
          <p:nvPr/>
        </p:nvSpPr>
        <p:spPr>
          <a:xfrm>
            <a:off x="704088" y="5742432"/>
            <a:ext cx="4983480" cy="329184"/>
          </a:xfrm>
          <a:prstGeom prst="rect">
            <a:avLst/>
          </a:prstGeom>
          <a:noFill/>
          <a:ln/>
        </p:spPr>
        <p:txBody>
          <a:bodyPr wrap="square" lIns="0" tIns="0" rIns="0" bIns="0" rtlCol="0" anchor="t"/>
          <a:lstStyle/>
          <a:p>
            <a:pPr indent="0" marL="0">
              <a:buNone/>
            </a:pPr>
            <a:r>
              <a:rPr lang="en-US" sz="1050" b="1" dirty="0">
                <a:solidFill>
                  <a:srgbClr val="1E7A44"/>
                </a:solidFill>
                <a:latin typeface="Calibri" pitchFamily="34" charset="0"/>
                <a:ea typeface="Calibri" pitchFamily="34" charset="-122"/>
                <a:cs typeface="Calibri" pitchFamily="34" charset="-120"/>
              </a:rPr>
              <a:t>Cách sửa: </a:t>
            </a:r>
            <a:pPr indent="0" marL="0">
              <a:buNone/>
            </a:pPr>
            <a:r>
              <a:rPr lang="en-US" sz="1050" dirty="0">
                <a:solidFill>
                  <a:srgbClr val="13315C"/>
                </a:solidFill>
                <a:latin typeface="Calibri" pitchFamily="34" charset="0"/>
                <a:ea typeface="Calibri" pitchFamily="34" charset="-122"/>
                <a:cs typeface="Calibri" pitchFamily="34" charset="-120"/>
              </a:rPr>
              <a:t>Mỗi mũi tên phải trả lời: ai gọi ai, đồng bộ hay bất đồng bộ.</a:t>
            </a:r>
            <a:endParaRPr lang="en-US" sz="1050" dirty="0"/>
          </a:p>
        </p:txBody>
      </p:sp>
      <p:sp>
        <p:nvSpPr>
          <p:cNvPr id="36" name="Shape 34"/>
          <p:cNvSpPr/>
          <p:nvPr/>
        </p:nvSpPr>
        <p:spPr>
          <a:xfrm>
            <a:off x="6217920" y="4626864"/>
            <a:ext cx="5394960" cy="1508760"/>
          </a:xfrm>
          <a:prstGeom prst="roundRect">
            <a:avLst>
              <a:gd name="adj" fmla="val 4848"/>
            </a:avLst>
          </a:prstGeom>
          <a:solidFill>
            <a:srgbClr val="FFFFFF"/>
          </a:solidFill>
          <a:ln w="12700">
            <a:solidFill>
              <a:srgbClr val="DCE4EC"/>
            </a:solidFill>
            <a:prstDash val="solid"/>
          </a:ln>
        </p:spPr>
      </p:sp>
      <p:sp>
        <p:nvSpPr>
          <p:cNvPr id="37" name="Shape 35"/>
          <p:cNvSpPr/>
          <p:nvPr/>
        </p:nvSpPr>
        <p:spPr>
          <a:xfrm>
            <a:off x="6400800" y="4791456"/>
            <a:ext cx="292608" cy="292608"/>
          </a:xfrm>
          <a:prstGeom prst="roundRect">
            <a:avLst>
              <a:gd name="adj" fmla="val 31250"/>
            </a:avLst>
          </a:prstGeom>
          <a:solidFill>
            <a:srgbClr val="B23A32"/>
          </a:solidFill>
          <a:ln w="12700">
            <a:solidFill>
              <a:srgbClr val="B23A32"/>
            </a:solidFill>
            <a:prstDash val="solid"/>
          </a:ln>
        </p:spPr>
      </p:sp>
      <p:sp>
        <p:nvSpPr>
          <p:cNvPr id="38" name="Text 36"/>
          <p:cNvSpPr/>
          <p:nvPr/>
        </p:nvSpPr>
        <p:spPr>
          <a:xfrm>
            <a:off x="6400800" y="479145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9" name="Text 37"/>
          <p:cNvSpPr/>
          <p:nvPr/>
        </p:nvSpPr>
        <p:spPr>
          <a:xfrm>
            <a:off x="6784848" y="4754880"/>
            <a:ext cx="4663440" cy="347472"/>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Bỏ qua tầng dữ liệu</a:t>
            </a:r>
            <a:endParaRPr lang="en-US" sz="1250" dirty="0"/>
          </a:p>
        </p:txBody>
      </p:sp>
      <p:sp>
        <p:nvSpPr>
          <p:cNvPr id="40" name="Text 38"/>
          <p:cNvSpPr/>
          <p:nvPr/>
        </p:nvSpPr>
        <p:spPr>
          <a:xfrm>
            <a:off x="6419088" y="5157216"/>
            <a:ext cx="4983480" cy="566928"/>
          </a:xfrm>
          <a:prstGeom prst="rect">
            <a:avLst/>
          </a:prstGeom>
          <a:noFill/>
          <a:ln/>
        </p:spPr>
        <p:txBody>
          <a:bodyPr wrap="square" lIns="0" tIns="0" rIns="0" bIns="0" rtlCol="0" anchor="t"/>
          <a:lstStyle/>
          <a:p>
            <a:pPr indent="0" marL="0">
              <a:lnSpc>
                <a:spcPct val="105000"/>
              </a:lnSpc>
              <a:buNone/>
            </a:pPr>
            <a:r>
              <a:rPr lang="en-US" sz="1050" dirty="0">
                <a:solidFill>
                  <a:srgbClr val="3E5C76"/>
                </a:solidFill>
                <a:latin typeface="Calibri" pitchFamily="34" charset="0"/>
                <a:ea typeface="Calibri" pitchFamily="34" charset="-122"/>
                <a:cs typeface="Calibri" pitchFamily="34" charset="-120"/>
              </a:rPr>
              <a:t>Sơ đồ dừng ở Service, không thể hiện dữ liệu được lưu ở đâu và bởi ai.</a:t>
            </a:r>
            <a:endParaRPr lang="en-US" sz="1050" dirty="0"/>
          </a:p>
        </p:txBody>
      </p:sp>
      <p:sp>
        <p:nvSpPr>
          <p:cNvPr id="41" name="Text 39"/>
          <p:cNvSpPr/>
          <p:nvPr/>
        </p:nvSpPr>
        <p:spPr>
          <a:xfrm>
            <a:off x="6419088" y="5742432"/>
            <a:ext cx="4983480" cy="329184"/>
          </a:xfrm>
          <a:prstGeom prst="rect">
            <a:avLst/>
          </a:prstGeom>
          <a:noFill/>
          <a:ln/>
        </p:spPr>
        <p:txBody>
          <a:bodyPr wrap="square" lIns="0" tIns="0" rIns="0" bIns="0" rtlCol="0" anchor="t"/>
          <a:lstStyle/>
          <a:p>
            <a:pPr indent="0" marL="0">
              <a:buNone/>
            </a:pPr>
            <a:r>
              <a:rPr lang="en-US" sz="1050" b="1" dirty="0">
                <a:solidFill>
                  <a:srgbClr val="1E7A44"/>
                </a:solidFill>
                <a:latin typeface="Calibri" pitchFamily="34" charset="0"/>
                <a:ea typeface="Calibri" pitchFamily="34" charset="-122"/>
                <a:cs typeface="Calibri" pitchFamily="34" charset="-120"/>
              </a:rPr>
              <a:t>Cách sửa: </a:t>
            </a:r>
            <a:pPr indent="0" marL="0">
              <a:buNone/>
            </a:pPr>
            <a:r>
              <a:rPr lang="en-US" sz="1050" dirty="0">
                <a:solidFill>
                  <a:srgbClr val="13315C"/>
                </a:solidFill>
                <a:latin typeface="Calibri" pitchFamily="34" charset="0"/>
                <a:ea typeface="Calibri" pitchFamily="34" charset="-122"/>
                <a:cs typeface="Calibri" pitchFamily="34" charset="-120"/>
              </a:rPr>
              <a:t>Luôn vẽ tới Repository và Database.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731520" y="548640"/>
            <a:ext cx="5486400" cy="5486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Tóm lại</a:t>
            </a:r>
            <a:endParaRPr lang="en-US" sz="3400" dirty="0"/>
          </a:p>
        </p:txBody>
      </p:sp>
      <p:sp>
        <p:nvSpPr>
          <p:cNvPr id="3" name="Text 1"/>
          <p:cNvSpPr/>
          <p:nvPr/>
        </p:nvSpPr>
        <p:spPr>
          <a:xfrm>
            <a:off x="731520" y="1097280"/>
            <a:ext cx="5486400" cy="320040"/>
          </a:xfrm>
          <a:prstGeom prst="rect">
            <a:avLst/>
          </a:prstGeom>
          <a:noFill/>
          <a:ln/>
        </p:spPr>
        <p:txBody>
          <a:bodyPr wrap="square" lIns="0" tIns="0" rIns="0" bIns="0" rtlCol="0" anchor="ctr"/>
          <a:lstStyle/>
          <a:p>
            <a:pPr indent="0" marL="0">
              <a:buNone/>
            </a:pPr>
            <a:r>
              <a:rPr lang="en-US" sz="1400" i="1" dirty="0">
                <a:solidFill>
                  <a:srgbClr val="AFC6DE"/>
                </a:solidFill>
                <a:latin typeface="Calibri" pitchFamily="34" charset="0"/>
                <a:ea typeface="Calibri" pitchFamily="34" charset="-122"/>
                <a:cs typeface="Calibri" pitchFamily="34" charset="-120"/>
              </a:rPr>
              <a:t>Bốn điều mang về sau buổi học</a:t>
            </a:r>
            <a:endParaRPr lang="en-US" sz="1400" dirty="0"/>
          </a:p>
        </p:txBody>
      </p:sp>
      <p:sp>
        <p:nvSpPr>
          <p:cNvPr id="4" name="Shape 2"/>
          <p:cNvSpPr/>
          <p:nvPr/>
        </p:nvSpPr>
        <p:spPr>
          <a:xfrm>
            <a:off x="731520" y="1691640"/>
            <a:ext cx="6949440" cy="1060704"/>
          </a:xfrm>
          <a:prstGeom prst="roundRect">
            <a:avLst>
              <a:gd name="adj" fmla="val 6897"/>
            </a:avLst>
          </a:prstGeom>
          <a:solidFill>
            <a:srgbClr val="13315C"/>
          </a:solidFill>
          <a:ln w="12700">
            <a:solidFill>
              <a:srgbClr val="27548A"/>
            </a:solidFill>
            <a:prstDash val="solid"/>
          </a:ln>
        </p:spPr>
      </p:sp>
      <p:sp>
        <p:nvSpPr>
          <p:cNvPr id="5" name="Shape 3"/>
          <p:cNvSpPr/>
          <p:nvPr/>
        </p:nvSpPr>
        <p:spPr>
          <a:xfrm>
            <a:off x="932688" y="1929384"/>
            <a:ext cx="420624" cy="420624"/>
          </a:xfrm>
          <a:prstGeom prst="roundRect">
            <a:avLst>
              <a:gd name="adj" fmla="val 28261"/>
            </a:avLst>
          </a:prstGeom>
          <a:solidFill>
            <a:srgbClr val="E8A317"/>
          </a:solidFill>
          <a:ln w="12700">
            <a:solidFill>
              <a:srgbClr val="E8A317"/>
            </a:solidFill>
            <a:prstDash val="solid"/>
          </a:ln>
        </p:spPr>
      </p:sp>
      <p:sp>
        <p:nvSpPr>
          <p:cNvPr id="6" name="Text 4"/>
          <p:cNvSpPr/>
          <p:nvPr/>
        </p:nvSpPr>
        <p:spPr>
          <a:xfrm>
            <a:off x="932688" y="1929384"/>
            <a:ext cx="420624" cy="420624"/>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36192" y="1783080"/>
            <a:ext cx="59436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Kiến trúc = cấu trúc + giao tiếp</a:t>
            </a:r>
            <a:endParaRPr lang="en-US" sz="1400" dirty="0"/>
          </a:p>
        </p:txBody>
      </p:sp>
      <p:sp>
        <p:nvSpPr>
          <p:cNvPr id="8" name="Text 6"/>
          <p:cNvSpPr/>
          <p:nvPr/>
        </p:nvSpPr>
        <p:spPr>
          <a:xfrm>
            <a:off x="1536192" y="2093976"/>
            <a:ext cx="5943600" cy="621792"/>
          </a:xfrm>
          <a:prstGeom prst="rect">
            <a:avLst/>
          </a:prstGeom>
          <a:noFill/>
          <a:ln/>
        </p:spPr>
        <p:txBody>
          <a:bodyPr wrap="square" lIns="0" tIns="0" rIns="0" bIns="0" rtlCol="0" anchor="t"/>
          <a:lstStyle/>
          <a:p>
            <a:pPr indent="0" marL="0">
              <a:lnSpc>
                <a:spcPct val="106000"/>
              </a:lnSpc>
              <a:buNone/>
            </a:pPr>
            <a:r>
              <a:rPr lang="en-US" sz="1050" dirty="0">
                <a:solidFill>
                  <a:srgbClr val="C3D5E8"/>
                </a:solidFill>
                <a:latin typeface="Calibri" pitchFamily="34" charset="0"/>
                <a:ea typeface="Calibri" pitchFamily="34" charset="-122"/>
                <a:cs typeface="Calibri" pitchFamily="34" charset="-120"/>
              </a:rPr>
              <a:t>Một kiến trúc hoàn chỉnh gồm một mẫu CẤU TRÚC (chia hệ thống thế nào) và một hoặc vài mẫu GIAO TIẾP (các phần nói chuyện ra sao).</a:t>
            </a:r>
            <a:endParaRPr lang="en-US" sz="1050" dirty="0"/>
          </a:p>
        </p:txBody>
      </p:sp>
      <p:sp>
        <p:nvSpPr>
          <p:cNvPr id="9" name="Shape 7"/>
          <p:cNvSpPr/>
          <p:nvPr/>
        </p:nvSpPr>
        <p:spPr>
          <a:xfrm>
            <a:off x="731520" y="2898648"/>
            <a:ext cx="6949440" cy="1060704"/>
          </a:xfrm>
          <a:prstGeom prst="roundRect">
            <a:avLst>
              <a:gd name="adj" fmla="val 6897"/>
            </a:avLst>
          </a:prstGeom>
          <a:solidFill>
            <a:srgbClr val="13315C"/>
          </a:solidFill>
          <a:ln w="12700">
            <a:solidFill>
              <a:srgbClr val="27548A"/>
            </a:solidFill>
            <a:prstDash val="solid"/>
          </a:ln>
        </p:spPr>
      </p:sp>
      <p:sp>
        <p:nvSpPr>
          <p:cNvPr id="10" name="Shape 8"/>
          <p:cNvSpPr/>
          <p:nvPr/>
        </p:nvSpPr>
        <p:spPr>
          <a:xfrm>
            <a:off x="932688" y="3136392"/>
            <a:ext cx="420624" cy="420624"/>
          </a:xfrm>
          <a:prstGeom prst="roundRect">
            <a:avLst>
              <a:gd name="adj" fmla="val 28261"/>
            </a:avLst>
          </a:prstGeom>
          <a:solidFill>
            <a:srgbClr val="E8A317"/>
          </a:solidFill>
          <a:ln w="12700">
            <a:solidFill>
              <a:srgbClr val="E8A317"/>
            </a:solidFill>
            <a:prstDash val="solid"/>
          </a:ln>
        </p:spPr>
      </p:sp>
      <p:sp>
        <p:nvSpPr>
          <p:cNvPr id="11" name="Text 9"/>
          <p:cNvSpPr/>
          <p:nvPr/>
        </p:nvSpPr>
        <p:spPr>
          <a:xfrm>
            <a:off x="932688" y="3136392"/>
            <a:ext cx="420624" cy="420624"/>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36192" y="2990088"/>
            <a:ext cx="59436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Chọn kiến trúc là chọn đánh đổi</a:t>
            </a:r>
            <a:endParaRPr lang="en-US" sz="1400" dirty="0"/>
          </a:p>
        </p:txBody>
      </p:sp>
      <p:sp>
        <p:nvSpPr>
          <p:cNvPr id="13" name="Text 11"/>
          <p:cNvSpPr/>
          <p:nvPr/>
        </p:nvSpPr>
        <p:spPr>
          <a:xfrm>
            <a:off x="1536192" y="3300984"/>
            <a:ext cx="5943600" cy="621792"/>
          </a:xfrm>
          <a:prstGeom prst="rect">
            <a:avLst/>
          </a:prstGeom>
          <a:noFill/>
          <a:ln/>
        </p:spPr>
        <p:txBody>
          <a:bodyPr wrap="square" lIns="0" tIns="0" rIns="0" bIns="0" rtlCol="0" anchor="t"/>
          <a:lstStyle/>
          <a:p>
            <a:pPr indent="0" marL="0">
              <a:lnSpc>
                <a:spcPct val="106000"/>
              </a:lnSpc>
              <a:buNone/>
            </a:pPr>
            <a:r>
              <a:rPr lang="en-US" sz="1050" dirty="0">
                <a:solidFill>
                  <a:srgbClr val="C3D5E8"/>
                </a:solidFill>
                <a:latin typeface="Calibri" pitchFamily="34" charset="0"/>
                <a:ea typeface="Calibri" pitchFamily="34" charset="-122"/>
                <a:cs typeface="Calibri" pitchFamily="34" charset="-120"/>
              </a:rPr>
              <a:t>Không có kiến trúc tốt nhất. Chỉ có kiến trúc phù hợp với thuộc tính chất lượng bạn ưu tiên, và bạn phải nói được mình hy sinh gì.</a:t>
            </a:r>
            <a:endParaRPr lang="en-US" sz="1050" dirty="0"/>
          </a:p>
        </p:txBody>
      </p:sp>
      <p:sp>
        <p:nvSpPr>
          <p:cNvPr id="14" name="Shape 12"/>
          <p:cNvSpPr/>
          <p:nvPr/>
        </p:nvSpPr>
        <p:spPr>
          <a:xfrm>
            <a:off x="731520" y="4105656"/>
            <a:ext cx="6949440" cy="1060704"/>
          </a:xfrm>
          <a:prstGeom prst="roundRect">
            <a:avLst>
              <a:gd name="adj" fmla="val 6897"/>
            </a:avLst>
          </a:prstGeom>
          <a:solidFill>
            <a:srgbClr val="13315C"/>
          </a:solidFill>
          <a:ln w="12700">
            <a:solidFill>
              <a:srgbClr val="27548A"/>
            </a:solidFill>
            <a:prstDash val="solid"/>
          </a:ln>
        </p:spPr>
      </p:sp>
      <p:sp>
        <p:nvSpPr>
          <p:cNvPr id="15" name="Shape 13"/>
          <p:cNvSpPr/>
          <p:nvPr/>
        </p:nvSpPr>
        <p:spPr>
          <a:xfrm>
            <a:off x="932688" y="4343400"/>
            <a:ext cx="420624" cy="420624"/>
          </a:xfrm>
          <a:prstGeom prst="roundRect">
            <a:avLst>
              <a:gd name="adj" fmla="val 28261"/>
            </a:avLst>
          </a:prstGeom>
          <a:solidFill>
            <a:srgbClr val="E8A317"/>
          </a:solidFill>
          <a:ln w="12700">
            <a:solidFill>
              <a:srgbClr val="E8A317"/>
            </a:solidFill>
            <a:prstDash val="solid"/>
          </a:ln>
        </p:spPr>
      </p:sp>
      <p:sp>
        <p:nvSpPr>
          <p:cNvPr id="16" name="Text 14"/>
          <p:cNvSpPr/>
          <p:nvPr/>
        </p:nvSpPr>
        <p:spPr>
          <a:xfrm>
            <a:off x="932688" y="4343400"/>
            <a:ext cx="420624" cy="420624"/>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36192" y="4197096"/>
            <a:ext cx="59436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Layer là logic, tier là vật lý</a:t>
            </a:r>
            <a:endParaRPr lang="en-US" sz="1400" dirty="0"/>
          </a:p>
        </p:txBody>
      </p:sp>
      <p:sp>
        <p:nvSpPr>
          <p:cNvPr id="18" name="Text 16"/>
          <p:cNvSpPr/>
          <p:nvPr/>
        </p:nvSpPr>
        <p:spPr>
          <a:xfrm>
            <a:off x="1536192" y="4507992"/>
            <a:ext cx="5943600" cy="621792"/>
          </a:xfrm>
          <a:prstGeom prst="rect">
            <a:avLst/>
          </a:prstGeom>
          <a:noFill/>
          <a:ln/>
        </p:spPr>
        <p:txBody>
          <a:bodyPr wrap="square" lIns="0" tIns="0" rIns="0" bIns="0" rtlCol="0" anchor="t"/>
          <a:lstStyle/>
          <a:p>
            <a:pPr indent="0" marL="0">
              <a:lnSpc>
                <a:spcPct val="106000"/>
              </a:lnSpc>
              <a:buNone/>
            </a:pPr>
            <a:r>
              <a:rPr lang="en-US" sz="1050" dirty="0">
                <a:solidFill>
                  <a:srgbClr val="C3D5E8"/>
                </a:solidFill>
                <a:latin typeface="Calibri" pitchFamily="34" charset="0"/>
                <a:ea typeface="Calibri" pitchFamily="34" charset="-122"/>
                <a:cs typeface="Calibri" pitchFamily="34" charset="-120"/>
              </a:rPr>
              <a:t>Nhầm hai khái niệm này là lỗi bị bắt lỗi nhiều nhất ở cả bài thi lẫn phỏng vấn.</a:t>
            </a:r>
            <a:endParaRPr lang="en-US" sz="1050" dirty="0"/>
          </a:p>
        </p:txBody>
      </p:sp>
      <p:sp>
        <p:nvSpPr>
          <p:cNvPr id="19" name="Shape 17"/>
          <p:cNvSpPr/>
          <p:nvPr/>
        </p:nvSpPr>
        <p:spPr>
          <a:xfrm>
            <a:off x="731520" y="5312664"/>
            <a:ext cx="6949440" cy="1060704"/>
          </a:xfrm>
          <a:prstGeom prst="roundRect">
            <a:avLst>
              <a:gd name="adj" fmla="val 6897"/>
            </a:avLst>
          </a:prstGeom>
          <a:solidFill>
            <a:srgbClr val="13315C"/>
          </a:solidFill>
          <a:ln w="12700">
            <a:solidFill>
              <a:srgbClr val="27548A"/>
            </a:solidFill>
            <a:prstDash val="solid"/>
          </a:ln>
        </p:spPr>
      </p:sp>
      <p:sp>
        <p:nvSpPr>
          <p:cNvPr id="20" name="Shape 18"/>
          <p:cNvSpPr/>
          <p:nvPr/>
        </p:nvSpPr>
        <p:spPr>
          <a:xfrm>
            <a:off x="932688" y="5550408"/>
            <a:ext cx="420624" cy="420624"/>
          </a:xfrm>
          <a:prstGeom prst="roundRect">
            <a:avLst>
              <a:gd name="adj" fmla="val 28261"/>
            </a:avLst>
          </a:prstGeom>
          <a:solidFill>
            <a:srgbClr val="E8A317"/>
          </a:solidFill>
          <a:ln w="12700">
            <a:solidFill>
              <a:srgbClr val="E8A317"/>
            </a:solidFill>
            <a:prstDash val="solid"/>
          </a:ln>
        </p:spPr>
      </p:sp>
      <p:sp>
        <p:nvSpPr>
          <p:cNvPr id="21" name="Text 19"/>
          <p:cNvSpPr/>
          <p:nvPr/>
        </p:nvSpPr>
        <p:spPr>
          <a:xfrm>
            <a:off x="932688" y="5550408"/>
            <a:ext cx="420624" cy="420624"/>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536192" y="5404104"/>
            <a:ext cx="59436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Nhất quán quan trọng hơn hoành tráng</a:t>
            </a:r>
            <a:endParaRPr lang="en-US" sz="1400" dirty="0"/>
          </a:p>
        </p:txBody>
      </p:sp>
      <p:sp>
        <p:nvSpPr>
          <p:cNvPr id="23" name="Text 21"/>
          <p:cNvSpPr/>
          <p:nvPr/>
        </p:nvSpPr>
        <p:spPr>
          <a:xfrm>
            <a:off x="1536192" y="5715000"/>
            <a:ext cx="5943600" cy="621792"/>
          </a:xfrm>
          <a:prstGeom prst="rect">
            <a:avLst/>
          </a:prstGeom>
          <a:noFill/>
          <a:ln/>
        </p:spPr>
        <p:txBody>
          <a:bodyPr wrap="square" lIns="0" tIns="0" rIns="0" bIns="0" rtlCol="0" anchor="t"/>
          <a:lstStyle/>
          <a:p>
            <a:pPr indent="0" marL="0">
              <a:lnSpc>
                <a:spcPct val="106000"/>
              </a:lnSpc>
              <a:buNone/>
            </a:pPr>
            <a:r>
              <a:rPr lang="en-US" sz="1050" dirty="0">
                <a:solidFill>
                  <a:srgbClr val="C3D5E8"/>
                </a:solidFill>
                <a:latin typeface="Calibri" pitchFamily="34" charset="0"/>
                <a:ea typeface="Calibri" pitchFamily="34" charset="-122"/>
                <a:cs typeface="Calibri" pitchFamily="34" charset="-120"/>
              </a:rPr>
              <a:t>Rubric không thưởng cho kiến trúc phức tạp. Nó thưởng cho kiến trúc được thể hiện đúng và giống nhau trên mọi sơ đồ.</a:t>
            </a:r>
            <a:endParaRPr lang="en-US" sz="1050" dirty="0"/>
          </a:p>
        </p:txBody>
      </p:sp>
      <p:sp>
        <p:nvSpPr>
          <p:cNvPr id="24" name="Shape 22"/>
          <p:cNvSpPr/>
          <p:nvPr/>
        </p:nvSpPr>
        <p:spPr>
          <a:xfrm>
            <a:off x="8092440" y="1691640"/>
            <a:ext cx="3566160" cy="4663440"/>
          </a:xfrm>
          <a:prstGeom prst="roundRect">
            <a:avLst>
              <a:gd name="adj" fmla="val 2564"/>
            </a:avLst>
          </a:prstGeom>
          <a:solidFill>
            <a:srgbClr val="13315C"/>
          </a:solidFill>
          <a:ln w="12700">
            <a:solidFill>
              <a:srgbClr val="27548A"/>
            </a:solidFill>
            <a:prstDash val="solid"/>
          </a:ln>
        </p:spPr>
      </p:sp>
      <p:sp>
        <p:nvSpPr>
          <p:cNvPr id="25" name="Text 23"/>
          <p:cNvSpPr/>
          <p:nvPr/>
        </p:nvSpPr>
        <p:spPr>
          <a:xfrm>
            <a:off x="8321040" y="1828800"/>
            <a:ext cx="3108960" cy="320040"/>
          </a:xfrm>
          <a:prstGeom prst="rect">
            <a:avLst/>
          </a:prstGeom>
          <a:noFill/>
          <a:ln/>
        </p:spPr>
        <p:txBody>
          <a:bodyPr wrap="square" lIns="0" tIns="0" rIns="0" bIns="0" rtlCol="0" anchor="ctr"/>
          <a:lstStyle/>
          <a:p>
            <a:pPr indent="0" marL="0">
              <a:buNone/>
            </a:pPr>
            <a:r>
              <a:rPr lang="en-US" sz="1500" b="1" dirty="0">
                <a:solidFill>
                  <a:srgbClr val="E8A317"/>
                </a:solidFill>
                <a:latin typeface="Calibri" pitchFamily="34" charset="0"/>
                <a:ea typeface="Calibri" pitchFamily="34" charset="-122"/>
                <a:cs typeface="Calibri" pitchFamily="34" charset="-120"/>
              </a:rPr>
              <a:t>Ôn tập &amp; bài tập</a:t>
            </a:r>
            <a:endParaRPr lang="en-US" sz="1500" dirty="0"/>
          </a:p>
        </p:txBody>
      </p:sp>
      <p:sp>
        <p:nvSpPr>
          <p:cNvPr id="26" name="Text 24"/>
          <p:cNvSpPr/>
          <p:nvPr/>
        </p:nvSpPr>
        <p:spPr>
          <a:xfrm>
            <a:off x="8321040" y="2240280"/>
            <a:ext cx="3154680" cy="3383280"/>
          </a:xfrm>
          <a:prstGeom prst="rect">
            <a:avLst/>
          </a:prstGeom>
          <a:noFill/>
          <a:ln/>
        </p:spPr>
        <p:txBody>
          <a:bodyPr wrap="square" lIns="0" tIns="0" rIns="0" bIns="0" rtlCol="0" anchor="t"/>
          <a:lstStyle/>
          <a:p>
            <a:pPr marL="342900" indent="-342900">
              <a:lnSpc>
                <a:spcPct val="108000"/>
              </a:lnSpc>
              <a:spcAft>
                <a:spcPts val="1100"/>
              </a:spcAft>
              <a:buSzPct val="100000"/>
              <a:buChar char="•"/>
            </a:pPr>
            <a:r>
              <a:rPr lang="en-US" sz="1100" dirty="0">
                <a:solidFill>
                  <a:srgbClr val="C3D5E8"/>
                </a:solidFill>
                <a:latin typeface="Calibri" pitchFamily="34" charset="0"/>
                <a:ea typeface="Calibri" pitchFamily="34" charset="-122"/>
                <a:cs typeface="Calibri" pitchFamily="34" charset="-120"/>
              </a:rPr>
              <a:t>Với mỗi kiến trúc trong bảng tổng hợp, tự viết một câu mô tả và một ví dụ hệ thống thực tế.</a:t>
            </a:r>
            <a:endParaRPr lang="en-US" sz="1100" dirty="0"/>
          </a:p>
          <a:p>
            <a:pPr marL="342900" indent="-342900">
              <a:lnSpc>
                <a:spcPct val="108000"/>
              </a:lnSpc>
              <a:spcAft>
                <a:spcPts val="1100"/>
              </a:spcAft>
              <a:buSzPct val="100000"/>
              <a:buChar char="•"/>
            </a:pPr>
            <a:r>
              <a:rPr lang="en-US" sz="1100" dirty="0">
                <a:solidFill>
                  <a:srgbClr val="C3D5E8"/>
                </a:solidFill>
                <a:latin typeface="Calibri" pitchFamily="34" charset="0"/>
                <a:ea typeface="Calibri" pitchFamily="34" charset="-122"/>
                <a:cs typeface="Calibri" pitchFamily="34" charset="-120"/>
              </a:rPr>
              <a:t>Lấy đồ án nhóm mình: viết đoạn biện luận 5 câu vì sao chọn kiến trúc đó, có nêu đánh đổi.</a:t>
            </a:r>
            <a:endParaRPr lang="en-US" sz="1100" dirty="0"/>
          </a:p>
          <a:p>
            <a:pPr marL="342900" indent="-342900">
              <a:lnSpc>
                <a:spcPct val="108000"/>
              </a:lnSpc>
              <a:spcAft>
                <a:spcPts val="1100"/>
              </a:spcAft>
              <a:buSzPct val="100000"/>
              <a:buChar char="•"/>
            </a:pPr>
            <a:r>
              <a:rPr lang="en-US" sz="1100" dirty="0">
                <a:solidFill>
                  <a:srgbClr val="C3D5E8"/>
                </a:solidFill>
                <a:latin typeface="Calibri" pitchFamily="34" charset="0"/>
                <a:ea typeface="Calibri" pitchFamily="34" charset="-122"/>
                <a:cs typeface="Calibri" pitchFamily="34" charset="-120"/>
              </a:rPr>
              <a:t>Vẽ lại SmartPark theo cả Layered và Microservices, so sánh số lượng thành phần phải quản lý.</a:t>
            </a:r>
            <a:endParaRPr lang="en-US" sz="1100" dirty="0"/>
          </a:p>
          <a:p>
            <a:pPr marL="342900" indent="-342900">
              <a:lnSpc>
                <a:spcPct val="108000"/>
              </a:lnSpc>
              <a:spcAft>
                <a:spcPts val="1100"/>
              </a:spcAft>
              <a:buSzPct val="100000"/>
              <a:buChar char="•"/>
            </a:pPr>
            <a:r>
              <a:rPr lang="en-US" sz="1100" dirty="0">
                <a:solidFill>
                  <a:srgbClr val="C3D5E8"/>
                </a:solidFill>
                <a:latin typeface="Calibri" pitchFamily="34" charset="0"/>
                <a:ea typeface="Calibri" pitchFamily="34" charset="-122"/>
                <a:cs typeface="Calibri" pitchFamily="34" charset="-120"/>
              </a:rPr>
              <a:t>Tự đặt 10 câu trắc nghiệm phân biệt SOA với Microservices, layer với tier — đây là dạng hay ra ở Theory Exam.</a:t>
            </a:r>
            <a:endParaRPr lang="en-US" sz="1100" dirty="0"/>
          </a:p>
        </p:txBody>
      </p:sp>
      <p:sp>
        <p:nvSpPr>
          <p:cNvPr id="27" name="Text 25"/>
          <p:cNvSpPr/>
          <p:nvPr/>
        </p:nvSpPr>
        <p:spPr>
          <a:xfrm>
            <a:off x="8321040" y="5715000"/>
            <a:ext cx="3154680" cy="548640"/>
          </a:xfrm>
          <a:prstGeom prst="rect">
            <a:avLst/>
          </a:prstGeom>
          <a:noFill/>
          <a:ln/>
        </p:spPr>
        <p:txBody>
          <a:bodyPr wrap="square" lIns="0" tIns="0" rIns="0" bIns="0" rtlCol="0" anchor="t"/>
          <a:lstStyle/>
          <a:p>
            <a:pPr indent="0" marL="0">
              <a:lnSpc>
                <a:spcPct val="105000"/>
              </a:lnSpc>
              <a:buNone/>
            </a:pPr>
            <a:r>
              <a:rPr lang="en-US" sz="1000" i="1" dirty="0">
                <a:solidFill>
                  <a:srgbClr val="8FA9C4"/>
                </a:solidFill>
                <a:latin typeface="Calibri" pitchFamily="34" charset="0"/>
                <a:ea typeface="Calibri" pitchFamily="34" charset="-122"/>
                <a:cs typeface="Calibri" pitchFamily="34" charset="-120"/>
              </a:rPr>
              <a:t>Đọc thêm: Gomaa – Software Modeling and Design, Chapter 12–18 và các case study Chapter 21–24.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 loai kien truc phan mem - SWD392</dc:title>
  <dc:subject>PptxGenJS Presentation</dc:subject>
  <dc:creator>SWD392</dc:creator>
  <cp:lastModifiedBy>SWD392</cp:lastModifiedBy>
  <cp:revision>1</cp:revision>
  <dcterms:created xsi:type="dcterms:W3CDTF">2026-08-11T08:30:28Z</dcterms:created>
  <dcterms:modified xsi:type="dcterms:W3CDTF">2026-08-11T08:30:28Z</dcterms:modified>
</cp:coreProperties>
</file>