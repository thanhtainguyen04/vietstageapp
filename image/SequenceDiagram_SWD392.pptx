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Class Diagram trả lời 'hệ thống có gì', Sequence Diagram trả lời 'chúng nói chuyện với nhau ra sao'. Question 2 là câu nhiều điểm nhất của đề (4.0/10).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Lưu ý điểm 4: rubric Q2.1 chấm tính nhất quán kiến trúc giữa các sơ đồ.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Chỉ vào sơ đồ nhỏ bên trái khi giải thích từng thành phần. Nhấn mạnh activation bar vì đó là lỗi bị trừ điểm thật ở kỳ SU26.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Thanh màu bên trái mỗi ô chính là mã màu dùng lại ở sơ đồ lời giải, giúp sinh viên đối chiếu nhanh.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to kịch bản 8 dòng này rồi chỉ sang slide sau: mỗi dòng biến thành đúng một mũi tên.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Chỉ rõ: message 3-4 là kiểm tra chỗ trống (Q2.5), message 5-7 là tạo vé và cập nhật slot (Q2.6), khung alt là Q2.7, hai nhánh mở cổng/từ chối là Q2.8.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05156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13315C"/>
          </a:solidFill>
          <a:ln w="12700">
            <a:solidFill>
              <a:srgbClr val="1F4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59368" y="1371600"/>
            <a:ext cx="877824" cy="310896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59368" y="137160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GateUI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098280" y="1682496"/>
            <a:ext cx="0" cy="2286000"/>
          </a:xfrm>
          <a:prstGeom prst="line">
            <a:avLst/>
          </a:prstGeom>
          <a:noFill/>
          <a:ln w="12700">
            <a:solidFill>
              <a:srgbClr val="6E86A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043416" y="1965960"/>
            <a:ext cx="109728" cy="1463040"/>
          </a:xfrm>
          <a:prstGeom prst="rect">
            <a:avLst/>
          </a:prstGeom>
          <a:solidFill>
            <a:srgbClr val="13315C"/>
          </a:solidFill>
          <a:ln w="12700">
            <a:solidFill>
              <a:srgbClr val="AFC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65208" y="1371600"/>
            <a:ext cx="877824" cy="310896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5208" y="137160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104120" y="1682496"/>
            <a:ext cx="0" cy="2286000"/>
          </a:xfrm>
          <a:prstGeom prst="line">
            <a:avLst/>
          </a:prstGeom>
          <a:noFill/>
          <a:ln w="12700">
            <a:solidFill>
              <a:srgbClr val="6E86A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049256" y="2240280"/>
            <a:ext cx="109728" cy="1143000"/>
          </a:xfrm>
          <a:prstGeom prst="rect">
            <a:avLst/>
          </a:prstGeom>
          <a:solidFill>
            <a:srgbClr val="13315C"/>
          </a:solidFill>
          <a:ln w="12700">
            <a:solidFill>
              <a:srgbClr val="AFC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1048" y="1371600"/>
            <a:ext cx="877824" cy="310896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71048" y="137160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109960" y="1682496"/>
            <a:ext cx="0" cy="2286000"/>
          </a:xfrm>
          <a:prstGeom prst="line">
            <a:avLst/>
          </a:prstGeom>
          <a:noFill/>
          <a:ln w="12700">
            <a:solidFill>
              <a:srgbClr val="6E86A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55096" y="2514600"/>
            <a:ext cx="109728" cy="822960"/>
          </a:xfrm>
          <a:prstGeom prst="rect">
            <a:avLst/>
          </a:prstGeom>
          <a:solidFill>
            <a:srgbClr val="13315C"/>
          </a:solidFill>
          <a:ln w="12700">
            <a:solidFill>
              <a:srgbClr val="AFC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2240280"/>
            <a:ext cx="1005840" cy="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104120" y="2606040"/>
            <a:ext cx="1005840" cy="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04120" y="3063240"/>
            <a:ext cx="1005840" cy="0"/>
          </a:xfrm>
          <a:prstGeom prst="line">
            <a:avLst/>
          </a:prstGeom>
          <a:noFill/>
          <a:ln w="15240">
            <a:solidFill>
              <a:srgbClr val="8FA9C4"/>
            </a:solidFill>
            <a:prstDash val="dash"/>
            <a:headEnd type="arrow"/>
          </a:ln>
        </p:spPr>
      </p:sp>
      <p:sp>
        <p:nvSpPr>
          <p:cNvPr id="18" name="Shape 16"/>
          <p:cNvSpPr/>
          <p:nvPr/>
        </p:nvSpPr>
        <p:spPr>
          <a:xfrm>
            <a:off x="9098280" y="3520440"/>
            <a:ext cx="1005840" cy="0"/>
          </a:xfrm>
          <a:prstGeom prst="line">
            <a:avLst/>
          </a:prstGeom>
          <a:noFill/>
          <a:ln w="15240">
            <a:solidFill>
              <a:srgbClr val="8FA9C4"/>
            </a:solidFill>
            <a:prstDash val="dash"/>
            <a:headEnd type="arrow"/>
          </a:ln>
        </p:spPr>
      </p:sp>
      <p:sp>
        <p:nvSpPr>
          <p:cNvPr id="19" name="Text 17"/>
          <p:cNvSpPr/>
          <p:nvPr/>
        </p:nvSpPr>
        <p:spPr>
          <a:xfrm>
            <a:off x="873252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luôn chảy từ trên xuống.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11887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SWD392 – SOFTWARE ARCHITECTURE AND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1600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31520" y="25420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hoá tương tác động giữa các đối tượng theo thời gian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2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của bộ ba sơ đồ trong đề thi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SmartPark – Question 2 (4.0 điểm) · Use Case: Vehicle Entry and Ticket Generation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29768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– Interaction Modeling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06040" y="42976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429768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– Dynamic Modeling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42976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429768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 · CLO3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2976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29768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15–18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5760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ôn tập &amp; giảng dạy · FPT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bài này bạn sẽ làm được gì?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là câu chiếm nhiều điểm nhất trong đề: 4.0 /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81328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81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99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sơ đồ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7099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lifeline, activation bar, và phân biệt bốn loại message chỉ bằng cách nhìn mũi tên.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295144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78024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478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395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use case thành sơ đồ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7066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một đoạn mô tả luồng nghiệp vụ thành chuỗi message có thứ tự, không sót bước.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474720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474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392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combined fragment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đúng alt / opt / loop để thể hiện rẽ nhánh và lặp — riêng alt đã đáng 0.6 điểm.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288536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71416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471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kiến trúc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700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lifeline theo đúng tầng Boundary → Control → Repository, nhất quán với Class Diagram ở Question 1.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5285232"/>
            <a:ext cx="1115568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46811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468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417320" y="5385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chấm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56967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bài làm với 8 tiêu chí rubric và tránh các lỗi đã bị trừ điểm thật.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là gì?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hành vi (behavioral), đối lập với Class Diagram là sơ đồ cấu trúc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6720840" cy="1234440"/>
          </a:xfrm>
          <a:prstGeom prst="roundRect">
            <a:avLst>
              <a:gd name="adj" fmla="val 5926"/>
            </a:avLst>
          </a:prstGeom>
          <a:solidFill>
            <a:srgbClr val="FDF2DA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(sơ đồ tuần tự) mô tả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thông điệp trao đổi giữa các đối tượng theo trình tự thời gian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hoàn thành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use case cụ thể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3108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trục cố định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3493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Trục ngang: các đối tượng tham gia. Trục dọc: thời gian, luôn chảy từ trên xuống. Đổi thứ tự message là đổi luôn nghiệp vụ.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312724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9712" y="3108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sơ đồ = một use 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34930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nhồi mọi chức năng vào một sơ đồ. Đề chỉ định rõ use case “Vehicle Entry and Ticket Generation”.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5537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75488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đối tượng, không vẽ lớp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" y="51206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là thể hiện (instance) lúc chạy, nên tên gạch chân và có dấu hai chấm: :ParkingService.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5537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475488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9712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khớp với Class Diagram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37376" y="51206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message phải tương ứng với một phương thức đã khai báo ở Question 1. Đây là điểm nhất quán giám khảo kiểm tra.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52360" y="12801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1353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Sequence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16459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ĐƯỢC CẤU TẠO từ gì (tĩnh)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CHẠY ra sao (động)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phẫu một sequence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thành phần — thiếu bất kỳ cái nào cũng bị trừ điểm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15568" y="1216152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E5C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453896"/>
            <a:ext cx="0" cy="128016"/>
          </a:xfrm>
          <a:prstGeom prst="line">
            <a:avLst/>
          </a:prstGeom>
          <a:noFill/>
          <a:ln w="17780">
            <a:solidFill>
              <a:srgbClr val="3E5C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1371600" cy="420624"/>
          </a:xfrm>
          <a:prstGeom prst="rect">
            <a:avLst/>
          </a:prstGeom>
          <a:solidFill>
            <a:srgbClr val="3E5C76"/>
          </a:solidFill>
          <a:ln w="15240">
            <a:solidFill>
              <a:srgbClr val="3E5C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2020824"/>
            <a:ext cx="0" cy="31455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308860" y="1600200"/>
            <a:ext cx="1508760" cy="420624"/>
          </a:xfrm>
          <a:prstGeom prst="rect">
            <a:avLst/>
          </a:prstGeom>
          <a:solidFill>
            <a:srgbClr val="E8A317"/>
          </a:solidFill>
          <a:ln w="1524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8860" y="16002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:GateUI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2020824"/>
            <a:ext cx="0" cy="31455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37660" y="1600200"/>
            <a:ext cx="1508760" cy="420624"/>
          </a:xfrm>
          <a:prstGeom prst="rect">
            <a:avLst/>
          </a:prstGeom>
          <a:solidFill>
            <a:srgbClr val="0B2545"/>
          </a:solidFill>
          <a:ln w="1524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7660" y="16002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020824"/>
            <a:ext cx="0" cy="31455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70432" y="2331720"/>
            <a:ext cx="128016" cy="2514600"/>
          </a:xfrm>
          <a:prstGeom prst="rect">
            <a:avLst/>
          </a:prstGeom>
          <a:solidFill>
            <a:srgbClr val="FFFFFF"/>
          </a:solidFill>
          <a:ln w="13970">
            <a:solidFill>
              <a:srgbClr val="3E5C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9232" y="2331720"/>
            <a:ext cx="12801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A3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880360"/>
            <a:ext cx="128016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2377440"/>
            <a:ext cx="182880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88720" y="2112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quét vé()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63240" y="2926080"/>
            <a:ext cx="182880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017520" y="2660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xửLý(vé)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63240" y="4023360"/>
            <a:ext cx="182880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25" name="Text 23"/>
          <p:cNvSpPr/>
          <p:nvPr/>
        </p:nvSpPr>
        <p:spPr>
          <a:xfrm>
            <a:off x="3017520" y="3758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kếtQuả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234440" y="4617720"/>
            <a:ext cx="182880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27" name="Text 25"/>
          <p:cNvSpPr/>
          <p:nvPr/>
        </p:nvSpPr>
        <p:spPr>
          <a:xfrm>
            <a:off x="1188720" y="43525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mở barie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1417320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161848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1472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Đối tượng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20840" y="17647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người hoặc hộp chữ nhật ở đỉnh. Là bên tham gia trao đổi.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212848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24140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2677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(đường đời)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20840" y="256032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nét đứt thẳng đứng, thể hiện đối tượng tồn tại theo thời gian.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3008376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320954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3063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bar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720840" y="335584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chữ nhật mảnh trên lifeline, cho biết đối tượng đang thực thi.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3803904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1072" y="400507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38587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đồng bộ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720840" y="415137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Nét liền + đầu mũi tên ĐẶC. Bên gửi chờ bên nhận trả lời.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4599432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91072" y="480060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4654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message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720840" y="494690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Nét ĐỨT + đầu mũi tên mảnh. Kết quả trả về cho bên gọi.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26480" y="5394960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559612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5596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54498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đánh số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720840" y="574243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số 1, 2, 3… giúp giám khảo dò luồng và giúp bạn không sót bước.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&amp; cách đặt tên đối tượng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hai chấm nhỏ xíu nhưng phân biệt lớp với đối tượng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3108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viết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Gọi là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dùng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:ParkingService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7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ẩn danh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Phổ biến nhất. Chỉ cần biết nó thuộc lớp nào, không cần tên riêng.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svc : ParkingService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7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có tên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trong sơ đồ có nhiều đối tượng cùng lớp, cần phân biệt.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ParkingService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7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LỚP (sai ngữ cảnh)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dùng cho lớp static. Viết thế này ở sequence thường bị coi là thiếu dấu hai chấm.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Khách hàng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7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 ngoài hệ thống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hoặc hệ thống ngoài. Vẽ bằng hình người, không cần dấu hai chấm.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FDF2DA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261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quy ước dễ quên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Tên đối tượng được GẠCH CHÂN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đây là quy ước UML để phân biệt instance với class.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Có thể gắn stereotype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«boundary», «control», «entity» để lộ rõ vai trò theo kiến trúc.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Sắp lifeline theo thứ tự luồng chạy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từ trái sang phải: Actor → UI → Service → Repository. Sơ đồ sẽ ít đường cắt nhau.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1325880"/>
            <a:ext cx="3931920" cy="475488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lifeline của Question 2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36992" y="184708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36992" y="1847088"/>
            <a:ext cx="109728" cy="713232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6448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0" y="18836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56448" y="2194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xe tới cổng vào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36992" y="267004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36992" y="2670048"/>
            <a:ext cx="109728" cy="713232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56448" y="27066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:CameraGateUI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58400" y="27066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«boundary»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56448" y="3017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biển số, mở barie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36992" y="349300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36992" y="3493008"/>
            <a:ext cx="109728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56448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:ParkingService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058400" y="3529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«control»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56448" y="38404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toàn bộ nghiệp vụ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36992" y="431596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36992" y="4315968"/>
            <a:ext cx="109728" cy="713232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56448" y="43525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:SlotRepository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058400" y="4352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«repository»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56448" y="4663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&amp; cập nhật chỗ đỗ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936992" y="513892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36992" y="5138928"/>
            <a:ext cx="109728" cy="713232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56448" y="51755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:TicketRepository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058400" y="5175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«repository»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156448" y="5486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vé gửi xe mới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loại message: nhìn mũi tên là biết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sai đầu mũi tên = mô tả sai cách hệ thống giao tiếp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(synchronous)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7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issueTicket(plate)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0" y="1682496"/>
            <a:ext cx="22860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49440" y="13167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gửi DỪNG LẠI chờ kết quả. Gần như mọi lời gọi hàm thường đều thuộc loại này.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276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(return / reply)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7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2642616"/>
            <a:ext cx="2286000" cy="0"/>
          </a:xfrm>
          <a:prstGeom prst="line">
            <a:avLst/>
          </a:prstGeom>
          <a:noFill/>
          <a:ln w="19050">
            <a:solidFill>
              <a:srgbClr val="3E5C76"/>
            </a:solidFill>
            <a:prstDash val="dash"/>
            <a:headEnd type="arrow"/>
          </a:ln>
        </p:spPr>
      </p:sp>
      <p:sp>
        <p:nvSpPr>
          <p:cNvPr id="14" name="Text 12"/>
          <p:cNvSpPr/>
          <p:nvPr/>
        </p:nvSpPr>
        <p:spPr>
          <a:xfrm>
            <a:off x="6949440" y="227685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gửi ngược lại cho bên gọi. Nét ĐỨT. Không bắt buộc vẽ hết, nhưng nên vẽ ở các bước quan trọng.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369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đồng bộ (asynchronous)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7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sendNotification(msg)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0" y="3602736"/>
            <a:ext cx="2286000" cy="0"/>
          </a:xfrm>
          <a:prstGeom prst="line">
            <a:avLst/>
          </a:prstGeom>
          <a:noFill/>
          <a:ln w="19050">
            <a:solidFill>
              <a:srgbClr val="12726B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6949440" y="323697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gửi KHÔNG chờ, chạy tiếp ngay. Dùng cho hàng đợi, sự kiện, thông báo.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41970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gọi (self message)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507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7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4453128"/>
            <a:ext cx="502920" cy="0"/>
          </a:xfrm>
          <a:prstGeom prst="line">
            <a:avLst/>
          </a:prstGeom>
          <a:noFill/>
          <a:ln w="17780">
            <a:solidFill>
              <a:srgbClr val="0B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4453128"/>
            <a:ext cx="0" cy="219456"/>
          </a:xfrm>
          <a:prstGeom prst="line">
            <a:avLst/>
          </a:prstGeom>
          <a:noFill/>
          <a:ln w="17780">
            <a:solidFill>
              <a:srgbClr val="0B2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672584"/>
            <a:ext cx="502920" cy="0"/>
          </a:xfrm>
          <a:prstGeom prst="line">
            <a:avLst/>
          </a:prstGeom>
          <a:noFill/>
          <a:ln w="17780">
            <a:solidFill>
              <a:srgbClr val="0B2545"/>
            </a:solidFill>
            <a:prstDash val="solid"/>
            <a:headEnd type="triangle"/>
          </a:ln>
        </p:spPr>
      </p:sp>
      <p:sp>
        <p:nvSpPr>
          <p:cNvPr id="25" name="Text 23"/>
          <p:cNvSpPr/>
          <p:nvPr/>
        </p:nvSpPr>
        <p:spPr>
          <a:xfrm>
            <a:off x="6949440" y="41970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gọi phương thức của chính nó. Vẽ móc vuông quay lại cùng lifeline.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08406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157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đối tượng (create)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468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7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«create»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5522976"/>
            <a:ext cx="1920240" cy="0"/>
          </a:xfrm>
          <a:prstGeom prst="line">
            <a:avLst/>
          </a:prstGeom>
          <a:noFill/>
          <a:ln w="19050">
            <a:solidFill>
              <a:srgbClr val="E8A317"/>
            </a:solidFill>
            <a:prstDash val="dash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943600" y="5376672"/>
            <a:ext cx="777240" cy="292608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53766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:Ticket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51572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ra một đối tượng mới giữa chừng. Mũi tên nét đứt trỏ thẳng vào hộp đối tượng.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17220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đề SmartPark, gần như toàn bộ message là ĐỒNG BỘ. Chỉ dùng bất đồng bộ nếu bạn thật sự mô tả hàng đợi hoặc sự kiện nền.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bar — chi tiết bị bỏ quên nhiều nhất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của giám khảo kỳ SU26: “Thiếu activation bar cho Customer”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BEDEC"/>
          </a:solidFill>
          <a:ln w="12700">
            <a:solidFill>
              <a:srgbClr val="E4B4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Thiếu activation bar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874520"/>
            <a:ext cx="1280160" cy="329184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203704"/>
            <a:ext cx="0" cy="21945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26080" y="1874520"/>
            <a:ext cx="1280160" cy="32918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:GateUI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2203704"/>
            <a:ext cx="0" cy="21945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737360" y="2743200"/>
            <a:ext cx="182880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691640" y="24780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quétVé()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7360" y="3931920"/>
            <a:ext cx="182880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17" name="Text 15"/>
          <p:cNvSpPr/>
          <p:nvPr/>
        </p:nvSpPr>
        <p:spPr>
          <a:xfrm>
            <a:off x="1691640" y="3666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kếtQuả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nhìn ra được đối tượng nào đang xử lý, cũng không biết khoảng thời gian nó bận. Giám khảo coi là thiếu ký hiệu bắt buộc.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2801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9F3EC"/>
          </a:solidFill>
          <a:ln w="12700">
            <a:solidFill>
              <a:srgbClr val="9BC4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3898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 activation bar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66560" y="1874520"/>
            <a:ext cx="1280160" cy="329184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06640" y="2203704"/>
            <a:ext cx="0" cy="21945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595360" y="1874520"/>
            <a:ext cx="1280160" cy="32918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:GateUI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35440" y="2203704"/>
            <a:ext cx="0" cy="2194560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342632" y="2651760"/>
            <a:ext cx="128016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E5C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71432" y="2743200"/>
            <a:ext cx="128016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A3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2743200"/>
            <a:ext cx="182880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360920" y="24780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quétVé()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06640" y="3931920"/>
            <a:ext cx="182880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32" name="Text 30"/>
          <p:cNvSpPr/>
          <p:nvPr/>
        </p:nvSpPr>
        <p:spPr>
          <a:xfrm>
            <a:off x="7360920" y="3666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kếtQuả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của Khách dài hơn thanh của GateUI, thể hiện khách đang CHỜ trong lúc hệ thống xử lý. Đó chính là ngữ nghĩa của lời gọi đồng bộ.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DF2DA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bắt đầu khi đối tượng NHẬN message và kết thúc khi nó TRẢ VỀ. Thanh của bên gọi luôn bao trùm thanh của bên được gọi — nếu không, bạn đang mô tả một lời gọi bất đồng bộ.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fragment: rẽ nhánh và lặp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chữ nhật có “tab” ở góc trái trên — mỗi loại một ý nghĩa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508760"/>
            <a:ext cx="658368" cy="310896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5087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Rẽ nhánh loại trừ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194767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nhánh ngăn bằng đường nét đứt, mỗi nhánh một điều kiện [guard]. Chỉ MỘT nhánh chạy. Tương đương if – else.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3081528"/>
            <a:ext cx="3163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81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[còn chỗ] / [bãi đầy]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1508760"/>
            <a:ext cx="658368" cy="310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15087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Tuỳ chọn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17136" y="194767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nhánh duy nhất, chạy nếu điều kiện đúng, bỏ qua nếu sai. Tương đương if không có else.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98848" y="3081528"/>
            <a:ext cx="3163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081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[khách có vé tháng]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13258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3608" y="1508760"/>
            <a:ext cx="658368" cy="310896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5087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11896" y="194767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bên trong lặp lại. Ghi số lần hoặc điều kiện ở tab: loop(1,n) hoặc loop [còn xe].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93608" y="3081528"/>
            <a:ext cx="3163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081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[với mỗi camera]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3931920"/>
            <a:ext cx="658368" cy="310896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931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" y="43708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nhánh chạy đồng thời, không quy định thứ tự trước sau.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" y="5504688"/>
            <a:ext cx="3163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504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gửi SMS ‖ ghi log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374904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8848" y="3931920"/>
            <a:ext cx="658368" cy="310896"/>
          </a:xfrm>
          <a:prstGeom prst="rect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3931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chiếu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17136" y="437083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Trỏ tới một sequence diagram khác để tránh vẽ lặp. Hữu ích khi luồng quá dài.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98848" y="5504688"/>
            <a:ext cx="3163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5504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Xác thực người dùng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617220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SmartPark chỉ bắt buộc alt. Bốn loại còn lại là để bạn không bỡ ngỡ khi đọc sơ đồ của người khác.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fragment — riêng nó đã đáng 0.6 điểm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Q2.7: “Sử dụng alt fragment – Slot available / Parking full”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463040" cy="420624"/>
          </a:xfrm>
          <a:prstGeom prst="rect">
            <a:avLst/>
          </a:prstGeom>
          <a:solidFill>
            <a:srgbClr val="E8A317"/>
          </a:solidFill>
          <a:ln w="15240">
            <a:solidFill>
              <a:srgbClr val="E8A3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:GateUI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63040" y="1883664"/>
            <a:ext cx="0" cy="40599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97480" y="1463040"/>
            <a:ext cx="1463040" cy="420624"/>
          </a:xfrm>
          <a:prstGeom prst="rect">
            <a:avLst/>
          </a:prstGeom>
          <a:solidFill>
            <a:srgbClr val="0B2545"/>
          </a:solidFill>
          <a:ln w="1524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463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883664"/>
            <a:ext cx="0" cy="40599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1463040" cy="420624"/>
          </a:xfrm>
          <a:prstGeom prst="rect">
            <a:avLst/>
          </a:prstGeom>
          <a:solidFill>
            <a:srgbClr val="12726B"/>
          </a:solidFill>
          <a:ln w="15240">
            <a:solidFill>
              <a:srgbClr val="1272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63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:SlotRepo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1883664"/>
            <a:ext cx="0" cy="405993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99032" y="2148840"/>
            <a:ext cx="128016" cy="35204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A3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2240280"/>
            <a:ext cx="128016" cy="3291840"/>
          </a:xfrm>
          <a:prstGeom prst="rect">
            <a:avLst/>
          </a:prstGeom>
          <a:solidFill>
            <a:srgbClr val="FFFFFF"/>
          </a:solidFill>
          <a:ln w="1397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514600"/>
            <a:ext cx="12801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1272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2240280"/>
            <a:ext cx="196596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17320" y="1975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requestEntry()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9000" y="2560320"/>
            <a:ext cx="196596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383280" y="22951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findAvailable()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29000" y="2880360"/>
            <a:ext cx="196596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23" name="Text 21"/>
          <p:cNvSpPr/>
          <p:nvPr/>
        </p:nvSpPr>
        <p:spPr>
          <a:xfrm>
            <a:off x="3383280" y="26151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slot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3154680"/>
            <a:ext cx="5486400" cy="2377440"/>
          </a:xfrm>
          <a:prstGeom prst="rect">
            <a:avLst/>
          </a:prstGeom>
          <a:ln w="16510">
            <a:solidFill>
              <a:srgbClr val="1272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154680"/>
            <a:ext cx="566928" cy="237744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1546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280160" y="3200400"/>
            <a:ext cx="13716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6736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[slot != null]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63040" y="3977640"/>
            <a:ext cx="196596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30" name="Text 28"/>
          <p:cNvSpPr/>
          <p:nvPr/>
        </p:nvSpPr>
        <p:spPr>
          <a:xfrm>
            <a:off x="1417320" y="37124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ticket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527048" y="4160520"/>
            <a:ext cx="384048" cy="0"/>
          </a:xfrm>
          <a:prstGeom prst="line">
            <a:avLst/>
          </a:prstGeom>
          <a:noFill/>
          <a:ln w="16510">
            <a:solidFill>
              <a:srgbClr val="E8A3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1096" y="4160520"/>
            <a:ext cx="0" cy="292608"/>
          </a:xfrm>
          <a:prstGeom prst="line">
            <a:avLst/>
          </a:prstGeom>
          <a:noFill/>
          <a:ln w="16510">
            <a:solidFill>
              <a:srgbClr val="E8A3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7048" y="4453128"/>
            <a:ext cx="384048" cy="0"/>
          </a:xfrm>
          <a:prstGeom prst="line">
            <a:avLst/>
          </a:prstGeom>
          <a:noFill/>
          <a:ln w="16510">
            <a:solidFill>
              <a:srgbClr val="E8A317"/>
            </a:solidFill>
            <a:prstDash val="solid"/>
            <a:headEnd type="triangle"/>
          </a:ln>
        </p:spPr>
      </p:sp>
      <p:sp>
        <p:nvSpPr>
          <p:cNvPr id="34" name="Text 32"/>
          <p:cNvSpPr/>
          <p:nvPr/>
        </p:nvSpPr>
        <p:spPr>
          <a:xfrm>
            <a:off x="1984248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openGate()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4754880"/>
            <a:ext cx="5486400" cy="0"/>
          </a:xfrm>
          <a:prstGeom prst="line">
            <a:avLst/>
          </a:prstGeom>
          <a:noFill/>
          <a:ln w="13970">
            <a:solidFill>
              <a:srgbClr val="12726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280160" y="4800600"/>
            <a:ext cx="13716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16736" y="4800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[slot == null]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463040" y="5257800"/>
            <a:ext cx="1965960" cy="0"/>
          </a:xfrm>
          <a:prstGeom prst="line">
            <a:avLst/>
          </a:prstGeom>
          <a:noFill/>
          <a:ln w="16510">
            <a:solidFill>
              <a:srgbClr val="B23A32"/>
            </a:solidFill>
            <a:prstDash val="dash"/>
            <a:headEnd type="arrow"/>
          </a:ln>
        </p:spPr>
      </p:sp>
      <p:sp>
        <p:nvSpPr>
          <p:cNvPr id="39" name="Text 37"/>
          <p:cNvSpPr/>
          <p:nvPr/>
        </p:nvSpPr>
        <p:spPr>
          <a:xfrm>
            <a:off x="1417320" y="4992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parkingFull()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1325880"/>
            <a:ext cx="5257800" cy="886968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152704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1399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bao trọn các lifeline liên quan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995160" y="1691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khung phủ hết vùng ngang của những đối tượng có message bên trong. Khung quá hẹp là lỗi hình thức phổ biến.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2313432"/>
            <a:ext cx="525780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251460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95160" y="2386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“alt” nằm ở góc trái trên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995160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đúng chữ alt, không viết “if”, “else” hay “switch” — đó là ngôn ngữ lập trình, không phải UML.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0" y="3300984"/>
            <a:ext cx="5257800" cy="886968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350215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3374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nhánh phải có [guard]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995160" y="36667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đặt trong dấu ngoặc vuông, ở đầu mỗi nhánh. Thiếu guard thì không biết khi nào nhánh nào chạy.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0" y="4288536"/>
            <a:ext cx="525780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83680" y="4489704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95160" y="4361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nét đứt ngăn các nhánh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995160" y="465429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dấu hiệu duy nhất cho biết đâu là ranh giới giữa nhánh “còn chỗ” và nhánh “bãi đầy”.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0" y="5276088"/>
            <a:ext cx="5257800" cy="886968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3680" y="547725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5477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95160" y="5349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 phải loại trừ nhau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995160" y="56418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[slot != null] và [slot == null] phủ kín mọi khả năng. Điều kiện chồng lấn hoặc bỏ sót đều bị trừ điểm.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kiến trúc Layered lên lifeline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Q2.1–Q2.4 chấm 2.0 điểm chỉ cho việc bố trí đúng tầng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2194560" cy="548640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ngoài hệ thống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Khách gửi xe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3246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chứa logic. Chỉ khởi phát và nhận kết quả.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3291840"/>
            <a:ext cx="164592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55848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1572768"/>
            <a:ext cx="2194560" cy="5486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572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«boundary» / UI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38728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giao tiếp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38728" y="2542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:CameraGateUI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57016" y="3246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biển số, hiển thị thông báo, mở/đóng barie. KHÔNG tính phí, KHÔNG truy vấn DB.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5896" y="3291840"/>
            <a:ext cx="164592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08776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572768"/>
            <a:ext cx="219456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572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«control» /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91656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nghiệp vụ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91656" y="2542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:ParkingService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9944" y="3246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còn chỗ hay không, tạo vé, ra lệnh cập nhật. Là “nhạc trưởng” của sơ đồ.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78824" y="3291840"/>
            <a:ext cx="164592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61704" y="13258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90304" y="1572768"/>
            <a:ext cx="2194560" cy="548640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0304" y="1572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«repository»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44584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truy cập dữ liệu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44584" y="2542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:SlotRepository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:TicketRepository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62872" y="3246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đọc/ghi dữ liệu. KHÔNG chứa quyết định nghiệp vụ.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BEDEC"/>
          </a:solidFill>
          <a:ln w="12700">
            <a:solidFill>
              <a:srgbClr val="E4B4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chết người: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GateUI gọi thẳng SlotRepository, bỏ qua ParkingService. Sơ đồ trông ngắn gọn hơn nhưng phá vỡ kiến trúc phân tầng — mất điểm Q2.1 và Q2.3, đồng thời mâu thuẫn với Class Diagram ở Question 1.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6 bước: từ use case → sequence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kịch bản bằng lời trước, vẽ sau — nhanh hơn nhiều so với vẽ rồi sửa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63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3794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use case &amp; phạm vi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kỹ tên use case trong đề. Xác định đúng điểm bắt đầu (xe tới cổng) và điểm kết thúc (barie mở hoặc từ chối).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63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183794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lifeline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từ Class Diagram: actor + boundary + control + các repository. Sắp trái→phải theo thứ tự luồng chạy.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63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1837944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kịch bản bằng lời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số từng bước: “1. Camera nhận diện biển số → 2. GateUI gọi service…”. Đây là bước tiết kiệm thời gian nhất.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538728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59352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mỗi bước thành message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449884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câu thành một mũi tên. Tên message = tên phương thức đã có ở Class Diagram, luôn kèm cặp ngoặc ().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538728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3959352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Bọc phần rẽ nhánh bằng alt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26280" y="449884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chỗ kịch bản có chữ “nếu… ngược lại…”. Đó chính là vị trí đặt alt với hai guard.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3538728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3959352"/>
            <a:ext cx="3127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activation &amp; return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321040" y="449884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thanh hoạt động cho MỌI lifeline kể cả actor, thêm mũi tên nét đứt cho các kết quả quan trọng.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là bí quyết: một sinh viên viết được kịch bản 11 dòng sẽ vẽ xong sơ đồ trong 10 phút.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Question 2 – Vehicle Entry and Ticket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 SWD392 – SU26 · 4.0 điểm · câu nặng ký nhất của đề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67512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264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đề cho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6263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tập trung vào luồng tương tác xảy ra khi một chiếc xe đi vào khu vực bãi đỗ.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trình bắt đầu khi camera nhận diện biển số xe. Hệ thống kiểm tra xem còn chỗ đỗ trống hay không trước khi cấp vé.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còn chỗ, hệ thống tạo vé gửi xe, cập nhật trạng thái chỗ đỗ và mở barie cho xe vào.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khu vực bãi đã đầy, hệ thống từ chối cho vào và hiển thị thông báo phù hợp.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6675120" cy="2240280"/>
          </a:xfrm>
          <a:prstGeom prst="roundRect">
            <a:avLst>
              <a:gd name="adj" fmla="val 3265"/>
            </a:avLst>
          </a:prstGeom>
          <a:solidFill>
            <a:srgbClr val="FDF2DA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502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phải đáp ứng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42816"/>
            <a:ext cx="6263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theo Layered hoặc Microservices Architecture (nhất quán với Question 1).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 phải nêu rõ ba loại thành phần: component giao diện hoặc thiết bị đầu vào (Camera/Gate UI), component dịch vụ hoặc điều khiển xử lý nghiệp vụ, và component repository phụ trách truy cập dữ liệu.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thao tác repository phải được gọi thông qua tên phương thức rõ ràng.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có điều kiện phải mô hình hoá bằng alt fragment với hai nhánh: Parking slot available và Parking area full.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32588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viết bằng lời (bước 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1847088"/>
            <a:ext cx="3840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Xe tới cổng, camera nhận diện biển số.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GateUI gửi yêu cầu vào bãi kèm biển số.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ParkingService hỏi SlotRepository còn chỗ trống không.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SlotRepository trả về một chỗ trống hoặc null.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NẾU còn chỗ: tạo vé và lưu qua TicketRepository.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Cập nhật trạng thái chỗ đỗ thành OCCUPIED.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Trả vé về GateUI, in vé và mở barie cho khách.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NGƯỢC LẠI: trả lỗi “bãi đã đầy”, barie giữ nguyên, hiển thị thông báo cho khách.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1945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" y="1828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 giải: sequence diagram cho Vehicle Entry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252728" y="822960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E5C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60704"/>
            <a:ext cx="0" cy="128016"/>
          </a:xfrm>
          <a:prstGeom prst="line">
            <a:avLst/>
          </a:prstGeom>
          <a:noFill/>
          <a:ln w="17780">
            <a:solidFill>
              <a:srgbClr val="3E5C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1828800" cy="566928"/>
          </a:xfrm>
          <a:prstGeom prst="rect">
            <a:avLst/>
          </a:prstGeom>
          <a:solidFill>
            <a:srgbClr val="3E5C76"/>
          </a:solidFill>
          <a:ln w="15240">
            <a:solidFill>
              <a:srgbClr val="3E5C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gửi xe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0" y="1773936"/>
            <a:ext cx="0" cy="470001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06040" y="1207008"/>
            <a:ext cx="1828800" cy="566928"/>
          </a:xfrm>
          <a:prstGeom prst="rect">
            <a:avLst/>
          </a:prstGeom>
          <a:solidFill>
            <a:srgbClr val="E8A317"/>
          </a:solidFill>
          <a:ln w="1524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«boundary»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:CameraGateUI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1773936"/>
            <a:ext cx="0" cy="470001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1828800" cy="566928"/>
          </a:xfrm>
          <a:prstGeom prst="rect">
            <a:avLst/>
          </a:prstGeom>
          <a:solidFill>
            <a:srgbClr val="0B2545"/>
          </a:solidFill>
          <a:ln w="1524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«control»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:ParkingService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06440" y="1773936"/>
            <a:ext cx="0" cy="470001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23760" y="1207008"/>
            <a:ext cx="1828800" cy="566928"/>
          </a:xfrm>
          <a:prstGeom prst="rect">
            <a:avLst/>
          </a:prstGeom>
          <a:solidFill>
            <a:srgbClr val="12726B"/>
          </a:solidFill>
          <a:ln w="15240">
            <a:solidFill>
              <a:srgbClr val="127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«repository»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:SlotRepository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38160" y="1773936"/>
            <a:ext cx="0" cy="470001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46920" y="1207008"/>
            <a:ext cx="1828800" cy="566928"/>
          </a:xfrm>
          <a:prstGeom prst="rect">
            <a:avLst/>
          </a:prstGeom>
          <a:solidFill>
            <a:srgbClr val="12726B"/>
          </a:solidFill>
          <a:ln w="15240">
            <a:solidFill>
              <a:srgbClr val="1272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FF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«repository»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:TicketRepository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561320" y="1773936"/>
            <a:ext cx="0" cy="4700016"/>
          </a:xfrm>
          <a:prstGeom prst="line">
            <a:avLst/>
          </a:prstGeom>
          <a:noFill/>
          <a:ln w="12700">
            <a:solidFill>
              <a:srgbClr val="6B7A8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307592" y="1993392"/>
            <a:ext cx="128016" cy="4169664"/>
          </a:xfrm>
          <a:prstGeom prst="rect">
            <a:avLst/>
          </a:prstGeom>
          <a:solidFill>
            <a:srgbClr val="FFFFFF"/>
          </a:solidFill>
          <a:ln w="13970">
            <a:solidFill>
              <a:srgbClr val="3E5C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2029968"/>
            <a:ext cx="128016" cy="4096512"/>
          </a:xfrm>
          <a:prstGeom prst="rect">
            <a:avLst/>
          </a:prstGeom>
          <a:solidFill>
            <a:srgbClr val="FFFFFF"/>
          </a:solidFill>
          <a:ln w="13970">
            <a:solidFill>
              <a:srgbClr val="E8A3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42432" y="2340864"/>
            <a:ext cx="128016" cy="3364992"/>
          </a:xfrm>
          <a:prstGeom prst="rect">
            <a:avLst/>
          </a:prstGeom>
          <a:solidFill>
            <a:srgbClr val="FFFFFF"/>
          </a:solidFill>
          <a:ln w="13970">
            <a:solidFill>
              <a:srgbClr val="0B2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4152" y="2651760"/>
            <a:ext cx="128016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1272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74152" y="4443984"/>
            <a:ext cx="128016" cy="237744"/>
          </a:xfrm>
          <a:prstGeom prst="rect">
            <a:avLst/>
          </a:prstGeom>
          <a:solidFill>
            <a:srgbClr val="FFFFFF"/>
          </a:solidFill>
          <a:ln w="13970">
            <a:solidFill>
              <a:srgbClr val="1272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97312" y="3803904"/>
            <a:ext cx="128016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1272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2029968"/>
            <a:ext cx="214884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325880" y="17647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xe tới cổng, nhận diện biển số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20440" y="2340864"/>
            <a:ext cx="228600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474720" y="2075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requestEntry(licensePlate)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06440" y="2651760"/>
            <a:ext cx="233172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760720" y="23865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findAvailableSlot()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06440" y="2962656"/>
            <a:ext cx="233172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35" name="Text 33"/>
          <p:cNvSpPr/>
          <p:nvPr/>
        </p:nvSpPr>
        <p:spPr>
          <a:xfrm>
            <a:off x="5760720" y="26974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slot : ParkingSlot | null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" y="3255264"/>
            <a:ext cx="10744200" cy="2944368"/>
          </a:xfrm>
          <a:prstGeom prst="rect">
            <a:avLst/>
          </a:prstGeom>
          <a:ln w="16510">
            <a:solidFill>
              <a:srgbClr val="1272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255264"/>
            <a:ext cx="566928" cy="237744"/>
          </a:xfrm>
          <a:prstGeom prst="rect">
            <a:avLst/>
          </a:prstGeom>
          <a:solidFill>
            <a:srgbClr val="12726B"/>
          </a:solidFill>
          <a:ln w="12700">
            <a:solidFill>
              <a:srgbClr val="1272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2552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88720" y="3310128"/>
            <a:ext cx="22860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5296" y="3310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[slot != null]  —  còn chỗ trống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3803904"/>
            <a:ext cx="475488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760720" y="35387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save(new ParkingTicket(plate, slot))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06440" y="4114800"/>
            <a:ext cx="475488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44" name="Text 42"/>
          <p:cNvSpPr/>
          <p:nvPr/>
        </p:nvSpPr>
        <p:spPr>
          <a:xfrm>
            <a:off x="5760720" y="3849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ticket : ParkingTicket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06440" y="4443984"/>
            <a:ext cx="233172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760720" y="417880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updateStatus(slot, OCCUPIED)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06440" y="4681728"/>
            <a:ext cx="233172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48" name="Text 46"/>
          <p:cNvSpPr/>
          <p:nvPr/>
        </p:nvSpPr>
        <p:spPr>
          <a:xfrm>
            <a:off x="5760720" y="44165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ok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20440" y="4992624"/>
            <a:ext cx="2286000" cy="0"/>
          </a:xfrm>
          <a:prstGeom prst="line">
            <a:avLst/>
          </a:prstGeom>
          <a:noFill/>
          <a:ln w="16510">
            <a:solidFill>
              <a:srgbClr val="3E5C76"/>
            </a:solidFill>
            <a:prstDash val="dash"/>
            <a:headEnd type="arrow"/>
          </a:ln>
        </p:spPr>
      </p:sp>
      <p:sp>
        <p:nvSpPr>
          <p:cNvPr id="50" name="Text 48"/>
          <p:cNvSpPr/>
          <p:nvPr/>
        </p:nvSpPr>
        <p:spPr>
          <a:xfrm>
            <a:off x="3474720" y="4727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ticket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0" y="5266944"/>
            <a:ext cx="2148840" cy="0"/>
          </a:xfrm>
          <a:prstGeom prst="line">
            <a:avLst/>
          </a:prstGeom>
          <a:noFill/>
          <a:ln w="16510">
            <a:solidFill>
              <a:srgbClr val="0B2545"/>
            </a:solidFill>
            <a:prstDash val="solid"/>
            <a:headEnd type="triangle"/>
          </a:ln>
        </p:spPr>
      </p:sp>
      <p:sp>
        <p:nvSpPr>
          <p:cNvPr id="52" name="Text 50"/>
          <p:cNvSpPr/>
          <p:nvPr/>
        </p:nvSpPr>
        <p:spPr>
          <a:xfrm>
            <a:off x="1325880" y="50017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in vé + openGate()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5431536"/>
            <a:ext cx="10744200" cy="0"/>
          </a:xfrm>
          <a:prstGeom prst="line">
            <a:avLst/>
          </a:prstGeom>
          <a:noFill/>
          <a:ln w="13970">
            <a:solidFill>
              <a:srgbClr val="12726B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188720" y="5468112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25296" y="5468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[slot == null]  —  bãi đã đầy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520440" y="5705856"/>
            <a:ext cx="2286000" cy="0"/>
          </a:xfrm>
          <a:prstGeom prst="line">
            <a:avLst/>
          </a:prstGeom>
          <a:noFill/>
          <a:ln w="16510">
            <a:solidFill>
              <a:srgbClr val="B23A32"/>
            </a:solidFill>
            <a:prstDash val="dash"/>
            <a:headEnd type="arrow"/>
          </a:ln>
        </p:spPr>
      </p:sp>
      <p:sp>
        <p:nvSpPr>
          <p:cNvPr id="57" name="Text 55"/>
          <p:cNvSpPr/>
          <p:nvPr/>
        </p:nvSpPr>
        <p:spPr>
          <a:xfrm>
            <a:off x="3474720" y="5440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 parkingFullError()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0" y="6016752"/>
            <a:ext cx="2148840" cy="0"/>
          </a:xfrm>
          <a:prstGeom prst="line">
            <a:avLst/>
          </a:prstGeom>
          <a:noFill/>
          <a:ln w="16510">
            <a:solidFill>
              <a:srgbClr val="B23A32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1325880" y="57515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hiển thị “Bãi đã đầy” · barie GIỮ NGUYÊN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lại lời giải theo từng message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dưới đây là một mũi tên trên sơ đồ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411480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→ Đến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 trong barem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Khách → GateUI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Xe tiến vào cổng, camera nhận diện biển số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GateUI → ParkingService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requestEntry(licensePlate)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 tầng nghiệp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ParkingService → SlotRepository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findAvailableSlot()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Q2.5 – kiểm tra chỗ trống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SlotRepository ⇢ ParkingService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trả về slot hoặc null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quyết định rẽ nhánh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ParkingService → TicketRepository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save(new ParkingTicket(...))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Q2.6 – tạo 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TicketRepository ⇢ ParkingService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trả về ticket đã lưu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ParkingService → SlotRepository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updateStatus(slot, OCCUPIED)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Q2.6 – cập nhật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SlotRepository ⇢ ParkingService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xác nhận cập nhật thành công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ParkingService ⇢ GateUI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trả vé về tầng giao diện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GateUI → Khách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 vé và mở barie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Q2.8 – nhánh cho vào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ParkingService ⇢ GateUI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parkingFullError()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Q2.8 – nhánh từ chối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GateUI → Khách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hiển thị “Bãi đã đầy”, barie giữ nguyên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Q2.8 – nhánh từ chối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viết bảng này ra nháp TRƯỚC, rồi mới mở draw.io. Vẽ theo bảng thì không bao giờ sót message hay đảo thứ tự.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chấm Question 2 — 8 tiêu chí, 4.0 điểm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điểm thật của kỳ SU26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3667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40080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chấm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và thể hiện đúng kiến trúc (Layered hoặc Microservices) và dùng nhất quán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UI / Boundary rõ ràng (Camera / Gate UI)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Service / Controller xử lý nghiệp vụ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Repository layer và gọi repository methods đúng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Thể hiện kiểm tra parking slot availability (SlotRepository)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thao tác tạo ParkingTicket và cập nhật trạng thái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 dụng alt fragment – Slot available / Parking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7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Q2.8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Luồng mở cổng và từ chối truy cập được xử lý đúng theo từng nhánh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QUESTION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D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098280" y="1325880"/>
            <a:ext cx="2560320" cy="470916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81160" y="1444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rubric ra chiến thuật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81160" y="2029968"/>
            <a:ext cx="2194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2.0đ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để bố trí đúng bốn tầng lifeline (Q2.1–Q2.4). Vẽ đủ tầng trước đã.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1.1đ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alt fragment và hai nhánh xử lý (Q2.7, Q2.8). Đừng bao giờ bỏ khung alt.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0.9đ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hai nghiệp vụ lõi: kiểm tra chỗ trống, tạo vé và cập nhật slot (Q2.5, Q2.6).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thực tế + checklist trước khi nộp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lỗi bên trái trích từ nhận xét chấm bài kỳ SU26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 w="12700">
            <a:solidFill>
              <a:srgbClr val="E4B4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8132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264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activation bar cho 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của actor để trơn, không có thanh hoạt động. Đã bị ghi nhận và trừ điểm.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59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sửa: </a:t>
            </a:r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thanh cho MỌI lifeline, kể cả actor.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 w="12700">
            <a:solidFill>
              <a:srgbClr val="E4B4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08152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026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biểu diễn Object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tên lớp trần trụi thay vì dạng đối tượng, thiếu dấu hai chấm và gạch chân.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593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sửa: </a:t>
            </a:r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:ParkingService, có gạch chân.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 w="12700">
            <a:solidFill>
              <a:srgbClr val="E4B4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681728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6268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hàm không có “()”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ghi “calculateFee” khiến không rõ đó là lời gọi phương thức hay chỉ là ghi chú.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595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sửa: </a:t>
            </a:r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viết đủ: calculateFee().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298448"/>
            <a:ext cx="5303520" cy="4837176"/>
          </a:xfrm>
          <a:prstGeom prst="roundRect">
            <a:avLst>
              <a:gd name="adj" fmla="val 1512"/>
            </a:avLst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08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10 điểm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1828800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828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12864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bốn tầng: Actor, Boundary, Control, Repository?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258568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12864" y="22128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lifeline đều dạng đối tượng, có dấu hai chấm và gạch chân?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2688336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688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26426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lifeline đều có activation bar, kể cả actor?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118104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12864" y="30723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message đều có cặp ngoặc () và tham số?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547872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12864" y="3502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message khớp với phương thức đã khai ở Class Diagram?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977640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12864" y="3931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khung alt với đúng hai nhánh, ngăn bằng nét đứt?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4407408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407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12864" y="4361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nhánh có [guard] và hai guard loại trừ nhau?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0" y="4837176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837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12864" y="47914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bước kiểm tra chỗ trống qua SlotRepository?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5266944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12864" y="52212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bước tạo vé VÀ bước cập nhật trạng thái slot?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0" y="5696712"/>
            <a:ext cx="237744" cy="237744"/>
          </a:xfrm>
          <a:prstGeom prst="rect">
            <a:avLst/>
          </a:prstGeom>
          <a:solidFill>
            <a:srgbClr val="FFFFFF"/>
          </a:solidFill>
          <a:ln w="17780">
            <a:solidFill>
              <a:srgbClr val="1272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5696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7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12864" y="56509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từ chối nói rõ barie KHÔNG mở?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lại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điều mang về sau buổi học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756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bằng lời trước, vẽ sau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câu tiếng Việt có đánh số biến thành tám mũi tên. Đây là cách rẻ nhất để không sót bước và không đảo thứ tự.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538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3832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phản chiếu kiến trúc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721608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trái sang phải Actor → Boundary → Control → Repository chính là lát cắt ngang của kiến trúc phân tầng. 2.0/4.0 điểm nằm ở đây.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0017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48463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Rẽ nhánh phải nằm trong alt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184648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chữ “nếu… ngược lại…” trong đề đều phải hiện ra thành khung alt với hai guard loại trừ nhau, không phải hai sơ đồ riêng.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78308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13315C"/>
          </a:solidFill>
          <a:ln w="12700">
            <a:solidFill>
              <a:srgbClr val="2754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về nhà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lại sequence diagram Vehicle Entry từ đầu, không nhìn slide, trong 20 phút.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Vẽ sequence cho use case ngược lại: Vehicle Exit and Payment (chính là Question 3 sắp tới).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một khung opt cho tình huống khách có vé tháng nên được miễn phí.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3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từng message với Class Diagram Question 1: có phương thức nào bạn gọi mà chưa khai báo không?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56235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thêm: Gomaa – Software Modeling and Design, Chapter 9 &amp; 11 · Fowler – UML Distilled, Chapter 4.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Diagram - SWD392</dc:title>
  <dc:subject>PptxGenJS Presentation</dc:subject>
  <dc:creator>SWD392</dc:creator>
  <cp:lastModifiedBy>SWD392</cp:lastModifiedBy>
  <cp:revision>1</cp:revision>
  <dcterms:created xsi:type="dcterms:W3CDTF">2026-08-11T04:41:10Z</dcterms:created>
  <dcterms:modified xsi:type="dcterms:W3CDTF">2026-08-11T04:41:10Z</dcterms:modified>
</cp:coreProperties>
</file>